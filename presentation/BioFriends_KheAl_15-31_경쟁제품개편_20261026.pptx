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828b548cd0443c" /><Relationship Type="http://schemas.openxmlformats.org/officeDocument/2006/relationships/extended-properties" Target="/docProps/app.xml" Id="R2677fc5a8c2b498d" /><Relationship Type="http://schemas.openxmlformats.org/officeDocument/2006/relationships/officeDocument" Target="/ppt/presentation.xml" Id="R7aa13a1997a44d49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0a8f3550cb394a83"/>
  </p:sldMasterIdLst>
  <p:notesMasterIdLst>
    <p:notesMasterId xmlns:r="http://schemas.openxmlformats.org/officeDocument/2006/relationships" r:id="R3dd8caa724924de3"/>
  </p:notesMasterIdLst>
  <p:sldIdLst>
    <p:sldId xmlns:r="http://schemas.openxmlformats.org/officeDocument/2006/relationships" id="256" r:id="Re57a8f32735640ec"/>
    <p:sldId xmlns:r="http://schemas.openxmlformats.org/officeDocument/2006/relationships" id="1001" r:id="RcmpSlide20"/>
    <p:sldId xmlns:r="http://schemas.openxmlformats.org/officeDocument/2006/relationships" id="1002" r:id="RcmpSlide21"/>
    <p:sldId xmlns:r="http://schemas.openxmlformats.org/officeDocument/2006/relationships" id="1003" r:id="RcmpSlide22"/>
    <p:sldId xmlns:r="http://schemas.openxmlformats.org/officeDocument/2006/relationships" id="262" r:id="R81fd16b790e74183"/>
    <p:sldId xmlns:r="http://schemas.openxmlformats.org/officeDocument/2006/relationships" id="263" r:id="Re053beb8e07a43a9"/>
    <p:sldId xmlns:r="http://schemas.openxmlformats.org/officeDocument/2006/relationships" id="264" r:id="R536ce42326fa4bea"/>
    <p:sldId xmlns:r="http://schemas.openxmlformats.org/officeDocument/2006/relationships" id="265" r:id="R28d6a08e37d1463d"/>
    <p:sldId xmlns:r="http://schemas.openxmlformats.org/officeDocument/2006/relationships" id="266" r:id="Reae2b93753bb43d3"/>
    <p:sldId xmlns:r="http://schemas.openxmlformats.org/officeDocument/2006/relationships" id="267" r:id="R09602382e37b41c9"/>
    <p:sldId xmlns:r="http://schemas.openxmlformats.org/officeDocument/2006/relationships" id="268" r:id="Rbd7943b9226f448f"/>
    <p:sldId xmlns:r="http://schemas.openxmlformats.org/officeDocument/2006/relationships" id="269" r:id="R7b8c8cba3e214726"/>
    <p:sldId xmlns:r="http://schemas.openxmlformats.org/officeDocument/2006/relationships" id="270" r:id="R9c16422f5cf44a6d"/>
    <p:sldId xmlns:r="http://schemas.openxmlformats.org/officeDocument/2006/relationships" id="271" r:id="Ra1796bcd164b4d4d"/>
    <p:sldId xmlns:r="http://schemas.openxmlformats.org/officeDocument/2006/relationships" id="272" r:id="Ra5f7c90af4d044a4"/>
    <p:sldId xmlns:r="http://schemas.openxmlformats.org/officeDocument/2006/relationships" id="273" r:id="R1d72d2ca6e014c79"/>
    <p:sldId xmlns:r="http://schemas.openxmlformats.org/officeDocument/2006/relationships" id="274" r:id="R04af4e3de04e4372"/>
  </p:sldIdLst>
  <p:sldSz cx="12192000" cy="6858000"/>
  <p:notesSz cx="6858000" cy="9144000"/>
  <p:embeddedFontLst>
    <p:embeddedFont>
      <p:font typeface="210 옴니고딕 020"/>
      <p:regular xmlns:r="http://schemas.openxmlformats.org/officeDocument/2006/relationships" r:id="R1e5fffe09f3f49a4"/>
    </p:embeddedFont>
    <p:embeddedFont>
      <p:font typeface="210 옴니고딕 030"/>
      <p:regular xmlns:r="http://schemas.openxmlformats.org/officeDocument/2006/relationships" r:id="Ra8c2f2df4a90446f"/>
    </p:embeddedFont>
    <p:embeddedFont>
      <p:font typeface="210 옴니고딕 040"/>
      <p:regular xmlns:r="http://schemas.openxmlformats.org/officeDocument/2006/relationships" r:id="R02058ac2fcc144fc"/>
    </p:embeddedFont>
    <p:embeddedFont>
      <p:font typeface="210 옴니고딕 050"/>
      <p:regular xmlns:r="http://schemas.openxmlformats.org/officeDocument/2006/relationships" r:id="Rd0d00f9c35dc4f5b"/>
    </p:embeddedFont>
    <p:embeddedFont>
      <p:font typeface="210 OmniGothic 040"/>
      <p:regular xmlns:r="http://schemas.openxmlformats.org/officeDocument/2006/relationships" r:id="Ra73f5305c6084fd9"/>
    </p:embeddedFont>
    <p:embeddedFont>
      <p:font typeface="맑은 고딕"/>
      <p:regular xmlns:r="http://schemas.openxmlformats.org/officeDocument/2006/relationships" r:id="Ra1b10879fa654794"/>
      <p:bold xmlns:r="http://schemas.openxmlformats.org/officeDocument/2006/relationships" r:id="Rccb44b9ba71f4e35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?><Relationships xmlns="http://schemas.openxmlformats.org/package/2006/relationships"><Relationship Type="http://schemas.openxmlformats.org/officeDocument/2006/relationships/theme" Target="/ppt/theme/theme1.xml" Id="Rab05cc8ef4d24ef9"/><Relationship Type="http://schemas.openxmlformats.org/officeDocument/2006/relationships/slideMaster" Target="/ppt/slideMasters/slideMaster1.xml" Id="R0a8f3550cb394a83"/><Relationship Type="http://schemas.openxmlformats.org/officeDocument/2006/relationships/notesMaster" Target="/ppt/notesMasters/notesMaster1.xml" Id="R3dd8caa724924de3"/><Relationship Type="http://schemas.openxmlformats.org/officeDocument/2006/relationships/presProps" Target="/ppt/presProps.xml" Id="R25f782dde38e4b1f"/><Relationship Type="http://schemas.openxmlformats.org/officeDocument/2006/relationships/viewProps" Target="/ppt/viewProps.xml" Id="R462f0af5d0cf4a04"/><Relationship Type="http://schemas.openxmlformats.org/officeDocument/2006/relationships/tableStyles" Target="/ppt/tableStyles.xml" Id="Rb57d3c2298974ca8"/><Relationship Type="http://schemas.openxmlformats.org/officeDocument/2006/relationships/font" Target="/ppt/fonts/font.dat" Id="R1e5fffe09f3f49a4"/><Relationship Type="http://schemas.openxmlformats.org/officeDocument/2006/relationships/font" Target="/ppt/fonts/font2.dat" Id="Ra8c2f2df4a90446f"/><Relationship Type="http://schemas.openxmlformats.org/officeDocument/2006/relationships/font" Target="/ppt/fonts/font3.dat" Id="R02058ac2fcc144fc"/><Relationship Type="http://schemas.openxmlformats.org/officeDocument/2006/relationships/font" Target="/ppt/fonts/font4.dat" Id="Rd0d00f9c35dc4f5b"/><Relationship Type="http://schemas.openxmlformats.org/officeDocument/2006/relationships/font" Target="/ppt/fonts/font5.dat" Id="Ra73f5305c6084fd9"/><Relationship Type="http://schemas.openxmlformats.org/officeDocument/2006/relationships/font" Target="/ppt/fonts/font6.dat" Id="Ra1b10879fa654794"/><Relationship Type="http://schemas.openxmlformats.org/officeDocument/2006/relationships/font" Target="/ppt/fonts/font7.dat" Id="Rccb44b9ba71f4e35"/><Relationship Type="http://schemas.openxmlformats.org/officeDocument/2006/relationships/slide" Target="/ppt/slides/slide1.xml" Id="Re57a8f32735640ec"/><Relationship Type="http://schemas.openxmlformats.org/officeDocument/2006/relationships/slide" Target="/ppt/slides/slide7.xml" Id="R81fd16b790e74183"/><Relationship Type="http://schemas.openxmlformats.org/officeDocument/2006/relationships/slide" Target="/ppt/slides/slide8.xml" Id="Re053beb8e07a43a9"/><Relationship Type="http://schemas.openxmlformats.org/officeDocument/2006/relationships/slide" Target="/ppt/slides/slide9.xml" Id="R536ce42326fa4bea"/><Relationship Type="http://schemas.openxmlformats.org/officeDocument/2006/relationships/slide" Target="/ppt/slides/slide10.xml" Id="R28d6a08e37d1463d"/><Relationship Type="http://schemas.openxmlformats.org/officeDocument/2006/relationships/slide" Target="/ppt/slides/slide11.xml" Id="Reae2b93753bb43d3"/><Relationship Type="http://schemas.openxmlformats.org/officeDocument/2006/relationships/slide" Target="/ppt/slides/slide12.xml" Id="R09602382e37b41c9"/><Relationship Type="http://schemas.openxmlformats.org/officeDocument/2006/relationships/slide" Target="/ppt/slides/slide13.xml" Id="Rbd7943b9226f448f"/><Relationship Type="http://schemas.openxmlformats.org/officeDocument/2006/relationships/slide" Target="/ppt/slides/slide14.xml" Id="R7b8c8cba3e214726"/><Relationship Type="http://schemas.openxmlformats.org/officeDocument/2006/relationships/slide" Target="/ppt/slides/slide15.xml" Id="R9c16422f5cf44a6d"/><Relationship Type="http://schemas.openxmlformats.org/officeDocument/2006/relationships/slide" Target="/ppt/slides/slide16.xml" Id="Ra1796bcd164b4d4d"/><Relationship Type="http://schemas.openxmlformats.org/officeDocument/2006/relationships/slide" Target="/ppt/slides/slide17.xml" Id="Ra5f7c90af4d044a4"/><Relationship Type="http://schemas.openxmlformats.org/officeDocument/2006/relationships/slide" Target="/ppt/slides/slide18.xml" Id="R1d72d2ca6e014c79"/><Relationship Type="http://schemas.openxmlformats.org/officeDocument/2006/relationships/slide" Target="/ppt/slides/slide19.xml" Id="R04af4e3de04e4372"/><Relationship Type="http://schemas.openxmlformats.org/officeDocument/2006/relationships/slide" Target="/ppt/slides/slide20.xml" Id="RcmpSlide20"/><Relationship Type="http://schemas.openxmlformats.org/officeDocument/2006/relationships/slide" Target="/ppt/slides/slide21.xml" Id="RcmpSlide21"/><Relationship Type="http://schemas.openxmlformats.org/officeDocument/2006/relationships/slide" Target="/ppt/slides/slide22.xml" Id="RcmpSlide22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7cffc505ca47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3ea12ce84b4627" /><Relationship Type="http://schemas.openxmlformats.org/officeDocument/2006/relationships/notesMaster" Target="/ppt/notesMasters/notesMaster1.xml" Id="R709d2161f9294c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c7ac5cfb5e4684" /><Relationship Type="http://schemas.openxmlformats.org/officeDocument/2006/relationships/notesMaster" Target="/ppt/notesMasters/notesMaster1.xml" Id="R31ed607ba61b40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d9d7e80e084664" /><Relationship Type="http://schemas.openxmlformats.org/officeDocument/2006/relationships/notesMaster" Target="/ppt/notesMasters/notesMaster1.xml" Id="Re2f5f745ba7b4c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cb326167d3e47d5" /><Relationship Type="http://schemas.openxmlformats.org/officeDocument/2006/relationships/notesMaster" Target="/ppt/notesMasters/notesMaster1.xml" Id="R2a5d9ffe1d1746f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2bae38db6c4149" /><Relationship Type="http://schemas.openxmlformats.org/officeDocument/2006/relationships/notesMaster" Target="/ppt/notesMasters/notesMaster1.xml" Id="Rd057402dc494422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c2fe2e497d942a4" /><Relationship Type="http://schemas.openxmlformats.org/officeDocument/2006/relationships/notesMaster" Target="/ppt/notesMasters/notesMaster1.xml" Id="Rbe8ed13a9aea41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3460223b09540e5" /><Relationship Type="http://schemas.openxmlformats.org/officeDocument/2006/relationships/notesMaster" Target="/ppt/notesMasters/notesMaster1.xml" Id="Rbc95c058c0b6411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1f2fffea3464afd" /><Relationship Type="http://schemas.openxmlformats.org/officeDocument/2006/relationships/notesMaster" Target="/ppt/notesMasters/notesMaster1.xml" Id="R03e8089a64814dd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4bf839f57d24cb3" /><Relationship Type="http://schemas.openxmlformats.org/officeDocument/2006/relationships/notesMaster" Target="/ppt/notesMasters/notesMaster1.xml" Id="R6d4ed6f70d78425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d26facb367b42ea" /><Relationship Type="http://schemas.openxmlformats.org/officeDocument/2006/relationships/notesMaster" Target="/ppt/notesMasters/notesMaster1.xml" Id="Re33f74f06d9e41b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812d30011134895" /><Relationship Type="http://schemas.openxmlformats.org/officeDocument/2006/relationships/notesMaster" Target="/ppt/notesMasters/notesMaster1.xml" Id="Rbf40111243a84b9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b470114b4a942ab" /><Relationship Type="http://schemas.openxmlformats.org/officeDocument/2006/relationships/notesMaster" Target="/ppt/notesMasters/notesMaster1.xml" Id="R1c379ccf8c3c4d9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2bd0d8012a54b55" /><Relationship Type="http://schemas.openxmlformats.org/officeDocument/2006/relationships/notesMaster" Target="/ppt/notesMasters/notesMaster1.xml" Id="Rf9103b49d2d34bf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24786c26b24415b" /><Relationship Type="http://schemas.openxmlformats.org/officeDocument/2006/relationships/notesMaster" Target="/ppt/notesMasters/notesMaster1.xml" Id="R23a60e4c615242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06bef15d5c43e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eacb9b6def49f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149753e2a34af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cbf89f42534b79" /><Relationship Type="http://schemas.openxmlformats.org/officeDocument/2006/relationships/image" Target="/ppt/media/image.png" Id="R28245f65bd1c4fd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e1cdf2775747fd" /><Relationship Type="http://schemas.openxmlformats.org/officeDocument/2006/relationships/image" Target="/ppt/media/image.png" Id="R51c917966140421a" /></Relationships>
</file>

<file path=ppt/slideLayouts/slideLayout1.xml><?xml version="1.0" encoding="utf-8"?>
<p:sldLayout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85B8BF42-5368-4EFB-81C9-CF1D0E0624D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부제목 2">
            <a:extLst xmlns:a="http://schemas.openxmlformats.org/drawingml/2006/main">
              <a:ext uri="{FF2B5EF4-FFF2-40B4-BE49-F238E27FC236}">
                <a16:creationId xmlns:a16="http://schemas.microsoft.com/office/drawing/2014/main" id="{B4AFFA5F-EECD-4C6E-A1C3-B83E74C0B69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클릭하여 마스터 부제목 스타일 편집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19E64B08-9214-4817-AD1C-9F072A0B52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2C06F6D-E772-4DFB-BEF0-298330700462}" type="datetimeFigureOut">
              <a:t>2026. 8. 14.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6F0898DA-E206-477C-A334-319F9D5CD26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300E7416-5109-430E-89BC-7EC6A87517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7F1C42F-623A-4913-A961-0477D0E33F8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AA95E06C-B113-40E1-9AFB-0959FFBD3B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날짜 개체 틀 2">
            <a:extLst xmlns:a="http://schemas.openxmlformats.org/drawingml/2006/main">
              <a:ext uri="{FF2B5EF4-FFF2-40B4-BE49-F238E27FC236}">
                <a16:creationId xmlns:a16="http://schemas.microsoft.com/office/drawing/2014/main" id="{E1DDD817-27E8-49DE-A714-F489B1E823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2C06F6D-E772-4DFB-BEF0-298330700462}" type="datetimeFigureOut">
              <a:t>2026. 8. 14.</a:t>
            </a:fld>
            <a:endParaRPr/>
          </a:p>
        </p:txBody>
      </p:sp>
      <p:sp>
        <p:nvSpPr>
          <p:cNvPr id="4" name="바닥글 개체 틀 3">
            <a:extLst xmlns:a="http://schemas.openxmlformats.org/drawingml/2006/main">
              <a:ext uri="{FF2B5EF4-FFF2-40B4-BE49-F238E27FC236}">
                <a16:creationId xmlns:a16="http://schemas.microsoft.com/office/drawing/2014/main" id="{C41C116C-322C-4498-83A8-44F1639567F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슬라이드 번호 개체 틀 4">
            <a:extLst xmlns:a="http://schemas.openxmlformats.org/drawingml/2006/main">
              <a:ext uri="{FF2B5EF4-FFF2-40B4-BE49-F238E27FC236}">
                <a16:creationId xmlns:a16="http://schemas.microsoft.com/office/drawing/2014/main" id="{5AED3FDA-B5BB-4C61-9622-BE2AA6EBFF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7F1C42F-623A-4913-A961-0477D0E33F8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날짜 개체 틀 1">
            <a:extLst xmlns:a="http://schemas.openxmlformats.org/drawingml/2006/main">
              <a:ext uri="{FF2B5EF4-FFF2-40B4-BE49-F238E27FC236}">
                <a16:creationId xmlns:a16="http://schemas.microsoft.com/office/drawing/2014/main" id="{C133304A-4057-4776-9EBA-22FFE118D8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2C06F6D-E772-4DFB-BEF0-298330700462}" type="datetimeFigureOut">
              <a:t>2026. 8. 14.</a:t>
            </a:fld>
            <a:endParaRPr/>
          </a:p>
        </p:txBody>
      </p:sp>
      <p:sp>
        <p:nvSpPr>
          <p:cNvPr id="3" name="바닥글 개체 틀 2">
            <a:extLst xmlns:a="http://schemas.openxmlformats.org/drawingml/2006/main">
              <a:ext uri="{FF2B5EF4-FFF2-40B4-BE49-F238E27FC236}">
                <a16:creationId xmlns:a16="http://schemas.microsoft.com/office/drawing/2014/main" id="{9A4D3F9E-C939-47AF-9AA5-5C4A7D23DC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슬라이드 번호 개체 틀 3">
            <a:extLst xmlns:a="http://schemas.openxmlformats.org/drawingml/2006/main">
              <a:ext uri="{FF2B5EF4-FFF2-40B4-BE49-F238E27FC236}">
                <a16:creationId xmlns:a16="http://schemas.microsoft.com/office/drawing/2014/main" id="{5A0A439A-0671-4218-8FCF-741C61680A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7F1C42F-623A-4913-A961-0477D0E33F8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캡션 있는 콘텐츠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그림 8">
            <a:extLst xmlns:a="http://schemas.openxmlformats.org/drawingml/2006/main">
              <a:ext uri="{FF2B5EF4-FFF2-40B4-BE49-F238E27FC236}">
                <a16:creationId xmlns:a16="http://schemas.microsoft.com/office/drawing/2014/main" id="{89571B9D-300A-4E5B-9278-280573E949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245f65bd1c4f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6314245C-E569-4F2B-B956-0AEB209DF8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2C06F6D-E772-4DFB-BEF0-298330700462}" type="datetimeFigureOut">
              <a:t>2026. 8. 14.</a:t>
            </a:fld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3FD1FF13-7F19-4F65-9D7B-3094F99EF7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69A5DD03-3445-4020-B0CF-CE53E697F3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7F1C42F-623A-4913-A961-0477D0E33F8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749E2B7C-4C5B-484E-9620-93D8C27B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799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210 옴니고딕 030"/>
              <a:ea typeface="210 옴니고딕 030"/>
              <a:cs typeface="210 옴니고딕 030"/>
            </a:endParaRPr>
          </a:p>
        </p:txBody>
      </p:sp>
      <p:pic>
        <p:nvPicPr>
          <p:cNvPr id="7" name="그림 6">
            <a:extLst xmlns:a="http://schemas.openxmlformats.org/drawingml/2006/main">
              <a:ext uri="{FF2B5EF4-FFF2-40B4-BE49-F238E27FC236}">
                <a16:creationId xmlns:a16="http://schemas.microsoft.com/office/drawing/2014/main" id="{428B56AE-B9EB-49B4-BB1D-A959F7FAA6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1c917966140421a"/>
          <a:srcRect xmlns:a="http://schemas.openxmlformats.org/drawingml/2006/main" l="0" t="0" r="0" b="8266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1188720"/>
          </a:xfrm>
          <a:prstGeom xmlns:a="http://schemas.openxmlformats.org/drawingml/2006/main" prst="rect">
            <a:avLst/>
          </a:prstGeom>
        </p:spPr>
      </p:pic>
      <p:sp>
        <p:nvSpPr>
          <p:cNvPr id="3" name="날짜 개체 틀 2">
            <a:extLst xmlns:a="http://schemas.openxmlformats.org/drawingml/2006/main">
              <a:ext uri="{FF2B5EF4-FFF2-40B4-BE49-F238E27FC236}">
                <a16:creationId xmlns:a16="http://schemas.microsoft.com/office/drawing/2014/main" id="{F795ECB3-F11B-44BE-860F-64D67C0A6C9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2C06F6D-E772-4DFB-BEF0-298330700462}" type="datetimeFigureOut">
              <a:t>2026. 8. 14.</a:t>
            </a:fld>
            <a:endParaRPr/>
          </a:p>
        </p:txBody>
      </p:sp>
      <p:sp>
        <p:nvSpPr>
          <p:cNvPr id="4" name="바닥글 개체 틀 3">
            <a:extLst xmlns:a="http://schemas.openxmlformats.org/drawingml/2006/main">
              <a:ext uri="{FF2B5EF4-FFF2-40B4-BE49-F238E27FC236}">
                <a16:creationId xmlns:a16="http://schemas.microsoft.com/office/drawing/2014/main" id="{08CA864A-5E7B-4F62-801F-3FC8603B5D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슬라이드 번호 개체 틀 4">
            <a:extLst xmlns:a="http://schemas.openxmlformats.org/drawingml/2006/main">
              <a:ext uri="{FF2B5EF4-FFF2-40B4-BE49-F238E27FC236}">
                <a16:creationId xmlns:a16="http://schemas.microsoft.com/office/drawing/2014/main" id="{5D50F69C-2C75-4EC2-9C04-4448073CE8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7F1C42F-623A-4913-A961-0477D0E33F8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6a77750a844783" /><Relationship Type="http://schemas.openxmlformats.org/officeDocument/2006/relationships/slideLayout" Target="/ppt/slideLayouts/slideLayout1.xml" Id="Rb65fcf2517614d40" /><Relationship Type="http://schemas.openxmlformats.org/officeDocument/2006/relationships/slideLayout" Target="/ppt/slideLayouts/slideLayout2.xml" Id="R164c2b98706a4be6" /><Relationship Type="http://schemas.openxmlformats.org/officeDocument/2006/relationships/slideLayout" Target="/ppt/slideLayouts/slideLayout3.xml" Id="R130b559fdb554eba" /><Relationship Type="http://schemas.openxmlformats.org/officeDocument/2006/relationships/slideLayout" Target="/ppt/slideLayouts/slideLayout4.xml" Id="R06e57d3a57904d35" /><Relationship Type="http://schemas.openxmlformats.org/officeDocument/2006/relationships/slideLayout" Target="/ppt/slideLayouts/slideLayout5.xml" Id="Re06d688ae3054fc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개체 틀 1">
            <a:extLst xmlns:a="http://schemas.openxmlformats.org/drawingml/2006/main">
              <a:ext uri="{FF2B5EF4-FFF2-40B4-BE49-F238E27FC236}">
                <a16:creationId xmlns:a16="http://schemas.microsoft.com/office/drawing/2014/main" id="{8222AF8A-A0BF-4F6B-83E9-E7F716711D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0B8B36F0-131D-4D01-A3BB-F3B12446C5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D2D0A049-E795-4479-8A01-BA5595459D7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  <a:latin typeface="210 옴니고딕 030"/>
                <a:ea typeface="210 옴니고딕 030"/>
                <a:cs typeface="210 옴니고딕 030"/>
              </a:defRPr>
            </a:lvl1pPr>
          </a:lstStyle>
          <a:p xmlns:a="http://schemas.openxmlformats.org/drawingml/2006/main">
            <a:fld id="{02C06F6D-E772-4DFB-BEF0-298330700462}" type="datetimeFigureOut">
              <a:t>2026. 8. 14.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3EA61A66-73D4-40E6-8FCC-F2540C8CB7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  <a:latin typeface="210 옴니고딕 030"/>
                <a:ea typeface="210 옴니고딕 030"/>
                <a:cs typeface="210 옴니고딕 030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31A4710F-FF6A-4FA3-BE0B-4403C3E124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  <a:latin typeface="210 옴니고딕 030"/>
                <a:ea typeface="210 옴니고딕 030"/>
                <a:cs typeface="210 옴니고딕 030"/>
              </a:defRPr>
            </a:lvl1pPr>
          </a:lstStyle>
          <a:p xmlns:a="http://schemas.openxmlformats.org/drawingml/2006/main">
            <a:fld id="{57F1C42F-623A-4913-A961-0477D0E33F8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5fcf2517614d40"/>
    <p:sldLayoutId xmlns:r="http://schemas.openxmlformats.org/officeDocument/2006/relationships" id="2147483650" r:id="R164c2b98706a4be6"/>
    <p:sldLayoutId xmlns:r="http://schemas.openxmlformats.org/officeDocument/2006/relationships" id="2147483651" r:id="R130b559fdb554eba"/>
    <p:sldLayoutId xmlns:r="http://schemas.openxmlformats.org/officeDocument/2006/relationships" id="2147483652" r:id="R06e57d3a57904d35"/>
    <p:sldLayoutId xmlns:r="http://schemas.openxmlformats.org/officeDocument/2006/relationships" id="2147483653" r:id="Re06d688ae3054fc9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210 옴니고딕 030"/>
          <a:ea typeface="210 옴니고딕 030"/>
          <a:cs typeface="210 옴니고딕 030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210 옴니고딕 030"/>
          <a:ea typeface="210 옴니고딕 030"/>
          <a:cs typeface="210 옴니고딕 030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210 옴니고딕 030"/>
          <a:ea typeface="210 옴니고딕 030"/>
          <a:cs typeface="210 옴니고딕 030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210 옴니고딕 030"/>
          <a:ea typeface="210 옴니고딕 030"/>
          <a:cs typeface="210 옴니고딕 030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210 옴니고딕 030"/>
          <a:ea typeface="210 옴니고딕 030"/>
          <a:cs typeface="210 옴니고딕 030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210 옴니고딕 030"/>
          <a:ea typeface="210 옴니고딕 030"/>
          <a:cs typeface="210 옴니고딕 030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c576e6f3f2f4571" /><Relationship Type="http://schemas.openxmlformats.org/officeDocument/2006/relationships/image" Target="/ppt/media/image2.png" Id="R4c9c1d7dd79d462d" /><Relationship Type="http://schemas.openxmlformats.org/officeDocument/2006/relationships/hyperlink" Target="https://www.sec.gov/Archives/edgar/data/845982/000110465926028258/snn-20251231x20f.htm" TargetMode="External" Id="R513a64d045584af6" /><Relationship Type="http://schemas.openxmlformats.org/officeDocument/2006/relationships/hyperlink" Target="https://www.marketsandmarkets.com/ResearchInsight/wound-dressings-market.asp" TargetMode="External" Id="R346820f57bc94a91" /><Relationship Type="http://schemas.openxmlformats.org/officeDocument/2006/relationships/notesSlide" Target="/ppt/notesSlides/notesSlide1.xml" Id="Rdec32ed7cdd34c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9aa3db4fa3f47f5" /><Relationship Type="http://schemas.openxmlformats.org/officeDocument/2006/relationships/image" Target="/ppt/media/image16.png" Id="Rca8331a1cf4f4bdf" /><Relationship Type="http://schemas.openxmlformats.org/officeDocument/2006/relationships/hyperlink" Target="https://www.woundsource.com/" TargetMode="External" Id="Ra99ed19f4c0a45ee" /><Relationship Type="http://schemas.openxmlformats.org/officeDocument/2006/relationships/hyperlink" Target="https://genewel.com/kr/sub/products/woundcare.php" TargetMode="External" Id="R744da38078254237" /><Relationship Type="http://schemas.openxmlformats.org/officeDocument/2006/relationships/notesSlide" Target="/ppt/notesSlides/notesSlide7.xml" Id="R01ee5cec124941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7e318effc514df7" /><Relationship Type="http://schemas.openxmlformats.org/officeDocument/2006/relationships/image" Target="/ppt/media/image17.png" Id="Red746b35440049f6" /><Relationship Type="http://schemas.openxmlformats.org/officeDocument/2006/relationships/hyperlink" Target="https://pubmed.ncbi.nlm.nih.gov/24631248/" TargetMode="External" Id="R4198796fead34314" /><Relationship Type="http://schemas.openxmlformats.org/officeDocument/2006/relationships/hyperlink" Target="https://pubmed.ncbi.nlm.nih.gov/29107632/" TargetMode="External" Id="R920db8b740c5482a" /><Relationship Type="http://schemas.openxmlformats.org/officeDocument/2006/relationships/hyperlink" Target="https://onlinelibrary.wiley.com/doi/10.1155/2016/1803912" TargetMode="External" Id="Rb8aa9ab706ab4dc6" /><Relationship Type="http://schemas.openxmlformats.org/officeDocument/2006/relationships/notesSlide" Target="/ppt/notesSlides/notesSlide8.xml" Id="Rd41f523357114aa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9b5a56fe922409b" /><Relationship Type="http://schemas.openxmlformats.org/officeDocument/2006/relationships/image" Target="/ppt/media/image18.png" Id="Rb95841de52d3475b" /><Relationship Type="http://schemas.openxmlformats.org/officeDocument/2006/relationships/hyperlink" Target="https://journals.sagepub.com/doi/10.1177/15330338231222137" TargetMode="External" Id="Rffe0ac918b924d9c" /><Relationship Type="http://schemas.openxmlformats.org/officeDocument/2006/relationships/hyperlink" Target="https://pubmed.ncbi.nlm.nih.gov/39363952/" TargetMode="External" Id="R39134be1df544f77" /><Relationship Type="http://schemas.openxmlformats.org/officeDocument/2006/relationships/hyperlink" Target="https://clinicaltrials.gov/study/NCT03564795" TargetMode="External" Id="R01bcc1bd7e9d4764" /><Relationship Type="http://schemas.openxmlformats.org/officeDocument/2006/relationships/hyperlink" Target="https://onlinelibrary.wiley.com/doi/full/10.1111/iwj.70029" TargetMode="External" Id="R3e15fb6945544dd9" /><Relationship Type="http://schemas.openxmlformats.org/officeDocument/2006/relationships/notesSlide" Target="/ppt/notesSlides/notesSlide9.xml" Id="R2c19cb243fd44c7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42abee3b789470b" /><Relationship Type="http://schemas.openxmlformats.org/officeDocument/2006/relationships/image" Target="/ppt/media/image19.png" Id="R3e7d12436ebb42c5" /><Relationship Type="http://schemas.openxmlformats.org/officeDocument/2006/relationships/image" Target="/ppt/media/image20.png" Id="R361fd89719cc443b" /><Relationship Type="http://schemas.openxmlformats.org/officeDocument/2006/relationships/hyperlink" Target="https://www.accessdata.fda.gov/cdrh_docs/pdf16/K162759.pdf" TargetMode="External" Id="R7a814fa57c7742d8" /><Relationship Type="http://schemas.openxmlformats.org/officeDocument/2006/relationships/hyperlink" Target="https://pubmed.ncbi.nlm.nih.gov/29107632/" TargetMode="External" Id="R3310db44366e4ff1" /><Relationship Type="http://schemas.openxmlformats.org/officeDocument/2006/relationships/hyperlink" Target="https://www.biofriends.co.kr/" TargetMode="External" Id="R9851a20105ea4f7b" /><Relationship Type="http://schemas.openxmlformats.org/officeDocument/2006/relationships/notesSlide" Target="/ppt/notesSlides/notesSlide10.xml" Id="R777882ad4d774cc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cb4ae039ebd4879" /><Relationship Type="http://schemas.openxmlformats.org/officeDocument/2006/relationships/image" Target="/ppt/media/image21.png" Id="Rca3fc2d673e44c4e" /><Relationship Type="http://schemas.openxmlformats.org/officeDocument/2006/relationships/hyperlink" Target="https://www.law.go.kr/admRulInfoP.do?admRulSeq=2100000275656&amp;chrClsCd=010202&amp;urlMode=admRulRvsInfoR" TargetMode="External" Id="Rf70d1cb5e336406b" /><Relationship Type="http://schemas.openxmlformats.org/officeDocument/2006/relationships/hyperlink" Target="https://www.law.go.kr/LSW/lsInfoP.do?ancYnChk=0&amp;chrClsCd=010202&amp;efYd=20260701&amp;lsiSeq=287877&amp;urlMode=lsInfoP" TargetMode="External" Id="Re4b8a4799ead40fc" /><Relationship Type="http://schemas.openxmlformats.org/officeDocument/2006/relationships/notesSlide" Target="/ppt/notesSlides/notesSlide11.xml" Id="R3de766df1e5f409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f09dd48a4544b7d" /><Relationship Type="http://schemas.openxmlformats.org/officeDocument/2006/relationships/image" Target="/ppt/media/image22.png" Id="Reabd602aa6ee4d12" /><Relationship Type="http://schemas.openxmlformats.org/officeDocument/2006/relationships/hyperlink" Target="https://clinicaltrials.gov/study/NCT03564795" TargetMode="External" Id="R69bbdcd8c0824846" /><Relationship Type="http://schemas.openxmlformats.org/officeDocument/2006/relationships/hyperlink" Target="https://cdn.clinicaltrials.gov/large-docs/95/NCT03564795/Prot_SAP_001.pdf" TargetMode="External" Id="R7380b4c9e6f0457a" /><Relationship Type="http://schemas.openxmlformats.org/officeDocument/2006/relationships/notesSlide" Target="/ppt/notesSlides/notesSlide12.xml" Id="Re9c9e819aa9747d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c647a4cc9754987" /><Relationship Type="http://schemas.openxmlformats.org/officeDocument/2006/relationships/image" Target="/ppt/media/image23.png" Id="R44df51d0ac71468a" /><Relationship Type="http://schemas.openxmlformats.org/officeDocument/2006/relationships/hyperlink" Target="https://www.corvia-cro.com/" TargetMode="External" Id="R51b4b6b92c9e4ab7" /><Relationship Type="http://schemas.openxmlformats.org/officeDocument/2006/relationships/hyperlink" Target="https://research.cuanschutz.edu/cros/clinical-research-support-team" TargetMode="External" Id="Rac3b00377b7a4894" /><Relationship Type="http://schemas.openxmlformats.org/officeDocument/2006/relationships/hyperlink" Target="https://med.virginia.edu/clinicalresearch/fees/" TargetMode="External" Id="R2e321bafb3af43cc" /><Relationship Type="http://schemas.openxmlformats.org/officeDocument/2006/relationships/notesSlide" Target="/ppt/notesSlides/notesSlide13.xml" Id="R2fa2c4f2aa0b47c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e96f816aa964c90" /><Relationship Type="http://schemas.openxmlformats.org/officeDocument/2006/relationships/image" Target="/ppt/media/image24.png" Id="Rb627ac9d32e047be" /><Relationship Type="http://schemas.openxmlformats.org/officeDocument/2006/relationships/hyperlink" Target="https://www.corvia-cro.com/" TargetMode="External" Id="R295139b307e448aa" /><Relationship Type="http://schemas.openxmlformats.org/officeDocument/2006/relationships/hyperlink" Target="https://research.cuanschutz.edu/cros/clinical-research-support-team" TargetMode="External" Id="R30e68bae56fc4069" /><Relationship Type="http://schemas.openxmlformats.org/officeDocument/2006/relationships/hyperlink" Target="https://med.virginia.edu/clinicalresearch/fees/" TargetMode="External" Id="R8effe70ddee54870" /><Relationship Type="http://schemas.openxmlformats.org/officeDocument/2006/relationships/notesSlide" Target="/ppt/notesSlides/notesSlide14.xml" Id="Rce52404e68fa487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044510151554b03" /><Relationship Type="http://schemas.openxmlformats.org/officeDocument/2006/relationships/image" Target="/ppt/media/image25.png" Id="R753dee275af64425" /><Relationship Type="http://schemas.openxmlformats.org/officeDocument/2006/relationships/hyperlink" Target="https://irb.hallym.or.kr/hgirb/ptp004.jsp" TargetMode="External" Id="R0da2a8f895924d52" /><Relationship Type="http://schemas.openxmlformats.org/officeDocument/2006/relationships/hyperlink" Target="https://irb.hallym.or.kr/hgirb/ptp008.jsp" TargetMode="External" Id="R759806dec6514864" /><Relationship Type="http://schemas.openxmlformats.org/officeDocument/2006/relationships/hyperlink" Target="https://hrpp.snuh.org/hrpp/content.do?key=2608270001" TargetMode="External" Id="R2cf3c79f227e486d" /><Relationship Type="http://schemas.openxmlformats.org/officeDocument/2006/relationships/hyperlink" Target="https://ocr.yuhs.ac/HPC/Sinchon/IRB/IrbFee" TargetMode="External" Id="R870e4784dd4947b3" /><Relationship Type="http://schemas.openxmlformats.org/officeDocument/2006/relationships/notesSlide" Target="/ppt/notesSlides/notesSlide15.xml" Id="Rae930aa01ea94da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46e6b806d7249df" /><Relationship Type="http://schemas.openxmlformats.org/officeDocument/2006/relationships/image" Target="/ppt/media/image26.png" Id="R654c87bd92654a5f" /><Relationship Type="http://schemas.openxmlformats.org/officeDocument/2006/relationships/hyperlink" Target="https://irb.hallym.or.kr/hgirb/ptp008.jsp" TargetMode="External" Id="R9746d0bc2e37448b" /><Relationship Type="http://schemas.openxmlformats.org/officeDocument/2006/relationships/hyperlink" Target="https://kind.krx.co.kr/external/2026/05/14/000371/20260514000800/11013.htm" TargetMode="External" Id="R8e3757a0537a4997" /><Relationship Type="http://schemas.openxmlformats.org/officeDocument/2006/relationships/notesSlide" Target="/ppt/notesSlides/notesSlide16.xml" Id="R99c49491f67b412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06af4b399274176" /><Relationship Type="http://schemas.openxmlformats.org/officeDocument/2006/relationships/image" Target="/ppt/media/image27.png" Id="R708d1f15c2ed4be4" /><Relationship Type="http://schemas.openxmlformats.org/officeDocument/2006/relationships/hyperlink" Target="https://www.kmdf.org/official/view/id/4090" TargetMode="External" Id="Rf61ff81d405d434d" /><Relationship Type="http://schemas.openxmlformats.org/officeDocument/2006/relationships/hyperlink" Target="https://www.kmdf.org/official/view/id/4315" TargetMode="External" Id="Rb1d9463434c74988" /><Relationship Type="http://schemas.openxmlformats.org/officeDocument/2006/relationships/hyperlink" Target="https://www.khidi.or.kr/board/view?linkId=48938749&amp;menuId=MENU01108" TargetMode="External" Id="R6ee098cebbac408e" /><Relationship Type="http://schemas.openxmlformats.org/officeDocument/2006/relationships/notesSlide" Target="/ppt/notesSlides/notesSlide17.xml" Id="R263da95276d24df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1e6d35004264921" /><Relationship Type="http://schemas.openxmlformats.org/officeDocument/2006/relationships/image" Target="/ppt/media/image28.png" Id="Rc700071195684190" /><Relationship Type="http://schemas.openxmlformats.org/officeDocument/2006/relationships/hyperlink" Target="https://www.keranetics.com/aspn-pharmacies-becomes-primary-distributor-of-kerastat-cream/" TargetMode="External" Id="R87291405ca1846da" /><Relationship Type="http://schemas.openxmlformats.org/officeDocument/2006/relationships/hyperlink" Target="https://www.keranetics.com/thermal-burns/" TargetMode="External" Id="Ra5fb0906daee47e4" /><Relationship Type="http://schemas.openxmlformats.org/officeDocument/2006/relationships/hyperlink" Target="https://www.prnewswire.com/news-releases/progenacare-global-awarded-reconstructive-skin-grafting-products-agreement-with-premier-inc-302105901.html" TargetMode="External" Id="Rd1e8cf18dbf74df3" /><Relationship Type="http://schemas.openxmlformats.org/officeDocument/2006/relationships/hyperlink" Target="https://uihc.org/educational-resources/burn-patient-education-videos" TargetMode="External" Id="R7bf8d7fe297e4f55" /><Relationship Type="http://schemas.openxmlformats.org/officeDocument/2006/relationships/notesSlide" Target="/ppt/notesSlides/notesSlide18.xml" Id="Rc86d8d0067c1427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38907bc51274bb0" /><Relationship Type="http://schemas.openxmlformats.org/officeDocument/2006/relationships/image" Target="/ppt/media/image29.png" Id="R3f4222c56aef4430" /><Relationship Type="http://schemas.openxmlformats.org/officeDocument/2006/relationships/image" Target="/ppt/media/image30.png" Id="Rea0d0cefc7b949fe" /><Relationship Type="http://schemas.openxmlformats.org/officeDocument/2006/relationships/hyperlink" Target="https://govtribe.com/file/government-file/t0106-price-line-103-2024-combat-safeguard-medical-price-list-dot-xlsx-1" TargetMode="External" Id="R6a69ebcc805a41ae" /><Relationship Type="http://schemas.openxmlformats.org/officeDocument/2006/relationships/hyperlink" Target="https://clinicaltrials.gov/study/NCT05217160" TargetMode="External" Id="R75064ebfa98640b3" /><Relationship Type="http://schemas.openxmlformats.org/officeDocument/2006/relationships/hyperlink" Target="https://www.keranetics.com/products/kerastat-gel/" TargetMode="External" Id="R7fee4b1f6c1f4f46" /><Relationship Type="http://schemas.openxmlformats.org/officeDocument/2006/relationships/notesSlide" Target="/ppt/notesSlides/notesSlide19.xml" Id="R465f97216cf64d81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3.xml"/><Relationship Id="rId2" Type="http://schemas.openxmlformats.org/officeDocument/2006/relationships/image" Target="/ppt/media/image3.png"/><Relationship Id="rL1" Type="http://schemas.openxmlformats.org/officeDocument/2006/relationships/hyperlink" Target="https://dmed.co.kr/services/" TargetMode="External"/><Relationship Id="rL2" Type="http://schemas.openxmlformats.org/officeDocument/2006/relationships/hyperlink" Target="https://www.venturesquare.net/952837" TargetMode="External"/><Relationship Id="rL3" Type="http://schemas.openxmlformats.org/officeDocument/2006/relationships/hyperlink" Target="https://genewel.com/kr/sub/products/prod.php?idx=7&amp;mode=view&amp;s_align=0&amp;s_cate=101011" TargetMode="External"/><Relationship Id="rL4" Type="http://schemas.openxmlformats.org/officeDocument/2006/relationships/hyperlink" Target="https://www.onemedison.com/bbs/board.php?bo_table=product&amp;wr_id=29" TargetMode="External"/><Relationship Id="rL5" Type="http://schemas.openxmlformats.org/officeDocument/2006/relationships/hyperlink" Target="https://wonbiogen.co.kr/kor/product/detail.html?f_uid=1" TargetMode="External"/><Relationship Id="rL6" Type="http://schemas.openxmlformats.org/officeDocument/2006/relationships/hyperlink" Target="https://m.dailypharm.com/user/news/232410" TargetMode="External"/><Relationship Id="rL7" Type="http://schemas.openxmlformats.org/officeDocument/2006/relationships/hyperlink" Target="https://www.wonbiogen.co.kr/kor/product/detail.html?f_ref=3&amp;f_uid=78" TargetMode="External"/><Relationship Id="rL8" Type="http://schemas.openxmlformats.org/officeDocument/2006/relationships/hyperlink" Target="https://dailypharm.com/user/news/22779" TargetMode="External"/><Relationship Id="rL9" Type="http://schemas.openxmlformats.org/officeDocument/2006/relationships/hyperlink" Target="https://dailypharm.com/user/news/51814" TargetMode="External"/><Relationship Id="rL10" Type="http://schemas.openxmlformats.org/officeDocument/2006/relationships/hyperlink" Target="https://medigatenews.com/news/840685051" TargetMode="Externa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3.xml"/><Relationship Id="rId2" Type="http://schemas.openxmlformats.org/officeDocument/2006/relationships/image" Target="/ppt/media/image3.png"/><Relationship Id="rL1" Type="http://schemas.openxmlformats.org/officeDocument/2006/relationships/hyperlink" Target="https://www.nhsgrampian.org/globalassets/foidocument/foi-public-documents1---all-documents/WCF_IntrasiteGel.pdf" TargetMode="External"/><Relationship Id="rL2" Type="http://schemas.openxmlformats.org/officeDocument/2006/relationships/hyperlink" Target="https://prod-multisite-us.coloplast.com/coloplast/wound-care/purilon-gel" TargetMode="External"/><Relationship Id="rL3" Type="http://schemas.openxmlformats.org/officeDocument/2006/relationships/hyperlink" Target="https://www.solventum.com/en-nz/home/f/b5005265144/" TargetMode="External"/><Relationship Id="rL4" Type="http://schemas.openxmlformats.org/officeDocument/2006/relationships/hyperlink" Target="https://www.accessdata.fda.gov/cdrh_docs/pdf18/K182010.pdf" TargetMode="External"/><Relationship Id="rL5" Type="http://schemas.openxmlformats.org/officeDocument/2006/relationships/hyperlink" Target="https://accessgudid.nlm.nih.gov/devices/00850072068879" TargetMode="External"/><Relationship Id="rL6" Type="http://schemas.openxmlformats.org/officeDocument/2006/relationships/hyperlink" Target="https://www.solventum.com/en-us/home/f/b5005265077/" TargetMode="External"/><Relationship Id="rL7" Type="http://schemas.openxmlformats.org/officeDocument/2006/relationships/hyperlink" Target="https://510k.innolitics.com/device/K073251" TargetMode="External"/><Relationship Id="rL8" Type="http://schemas.openxmlformats.org/officeDocument/2006/relationships/hyperlink" Target="https://pmc.ncbi.nlm.nih.gov/articles/PMC5533852/" TargetMode="External"/><Relationship Id="rL9" Type="http://schemas.openxmlformats.org/officeDocument/2006/relationships/hyperlink" Target="https://www.lohmann-rauscher.com/en/products/wound-care/modern-wound-care/suprasorb-a/" TargetMode="External"/><Relationship Id="rL10" Type="http://schemas.openxmlformats.org/officeDocument/2006/relationships/hyperlink" Target="https://www.molnlycke.com/en-gb/products/wound-care/antimicrobial-dressings/mepilex-ag/" TargetMode="External"/><Relationship Id="rL11" Type="http://schemas.openxmlformats.org/officeDocument/2006/relationships/hyperlink" Target="https://www.convatec.com/advanced-wound-care/aquacel-family-of-dressings/" TargetMode="External"/><Relationship Id="rL12" Type="http://schemas.openxmlformats.org/officeDocument/2006/relationships/hyperlink" Target="https://www.smith-nephew.com/en/news/2018/11/27/20181127-study-demonstrates-acticoat-helps-achieve-better-clinical-outcomes" TargetMode="Externa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3.xml"/><Relationship Id="rId2" Type="http://schemas.openxmlformats.org/officeDocument/2006/relationships/image" Target="/ppt/media/image3.png"/><Relationship Id="rI1" Type="http://schemas.openxmlformats.org/officeDocument/2006/relationships/image" Target="/ppt/media/cmp_kerastat_gel.png"/><Relationship Id="rI2" Type="http://schemas.openxmlformats.org/officeDocument/2006/relationships/image" Target="/ppt/media/image6.jpeg"/><Relationship Id="rI4" Type="http://schemas.openxmlformats.org/officeDocument/2006/relationships/image" Target="/ppt/media/cmp_price_benchmark.png"/><Relationship Id="rI5" Type="http://schemas.openxmlformats.org/officeDocument/2006/relationships/image" Target="/ppt/media/cmp_kheal_product.png"/><Relationship Id="rL1" Type="http://schemas.openxmlformats.org/officeDocument/2006/relationships/hyperlink" Target="https://www.accessdata.fda.gov/cdrh_docs/pdf16/K162759.pdf" TargetMode="External"/><Relationship Id="rL2" Type="http://schemas.openxmlformats.org/officeDocument/2006/relationships/hyperlink" Target="https://www.accessdata.fda.gov/cdrh_docs/pdf19/K192386.pdf" TargetMode="External"/><Relationship Id="rL3" Type="http://schemas.openxmlformats.org/officeDocument/2006/relationships/hyperlink" Target="https://clinicaltrials.gov/study/NCT03564795" TargetMode="External"/><Relationship Id="rL4" Type="http://schemas.openxmlformats.org/officeDocument/2006/relationships/hyperlink" Target="https://journals.sagepub.com/doi/10.1177/15330338231222137" TargetMode="External"/><Relationship Id="rL5" Type="http://schemas.openxmlformats.org/officeDocument/2006/relationships/hyperlink" Target="https://www.keranetics.com/aspn-pharmacies-becomes-primary-distributor-of-kerastat-cream/" TargetMode="External"/><Relationship Id="rL6" Type="http://schemas.openxmlformats.org/officeDocument/2006/relationships/hyperlink" Target="https://patents.google.com/patent/US6270793B1/en" TargetMode="External"/><Relationship Id="rL7" Type="http://schemas.openxmlformats.org/officeDocument/2006/relationships/hyperlink" Target="https://easyrx.com/medications/kerastat-keratin/" TargetMode="External"/><Relationship Id="rL8" Type="http://schemas.openxmlformats.org/officeDocument/2006/relationships/hyperlink" Target="https://www.firstindustrialsupplies.com/kerastat-gel-5ml-tube-38-175/" TargetMode="Externa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6A244E36-549B-4550-B65D-D5D583FBA4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9c1d7dd79d46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EB955CA-C5F6-4B31-9742-B7C55179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0352"/>
            <a:ext cx="1101852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글로벌 경쟁구도와 제품 역할</a:t>
            </a:r>
            <a:endParaRPr sz="23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C87763B1-60A8-44EC-8094-F040D1EF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14984"/>
            <a:ext cx="10927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기업 점유율과 개별 제품의 역할을 분리해 경쟁강도를 해석</a:t>
            </a:r>
            <a:endParaRPr sz="1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3271E49F-9E76-4870-8D3C-299D087D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864" y="6547104"/>
            <a:ext cx="274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15</a:t>
            </a:r>
            <a:endParaRPr sz="75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112B3CB0-88AB-43C9-883B-BE1CC3A2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5623560" cy="4718304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>
              <a:alpha val="98000"/>
            </a:srgbClr>
          </a:solidFill>
          <a:ln xmlns:a="http://schemas.openxmlformats.org/drawingml/2006/main" w="10160">
            <a:solidFill>
              <a:srgbClr val="D9DEDC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01A13B4C-C23B-4CCC-83E1-34583636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554480"/>
            <a:ext cx="5120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Advanced Wound Management 시장점유율</a:t>
            </a:r>
            <a:endParaRPr sz="12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190B197C-5316-41CA-9E25-BB86AB48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847088"/>
            <a:ext cx="51206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2025년 기업 추정치 · 시장규모 $13.1B</a:t>
            </a:r>
            <a:endParaRPr sz="84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C5E5DE1-A306-4092-89B1-8AABF95C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40280"/>
            <a:ext cx="14173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Smith+Nephew</a:t>
            </a:r>
            <a:endParaRPr sz="9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F16E8CC8-77F7-4AEB-9E1F-8C1BE34C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58568"/>
            <a:ext cx="27432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F0EF"/>
          </a:solidFill>
          <a:ln xmlns:a="http://schemas.openxmlformats.org/drawingml/2006/main" w="12700">
            <a:solidFill>
              <a:srgbClr val="EDF0EF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A6E56C9-3C89-4CEE-B4DB-7259BD5B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58568"/>
            <a:ext cx="64008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3E68"/>
          </a:solidFill>
          <a:ln xmlns:a="http://schemas.openxmlformats.org/drawingml/2006/main" w="12700">
            <a:solidFill>
              <a:srgbClr val="1C3E68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64CF343-8649-4ED8-9DFE-175C49E1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352" y="2249424"/>
            <a:ext cx="6583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1C3E68"/>
                </a:solidFill>
                <a:latin typeface="NanumSquare"/>
                <a:ea typeface="NanumSquare"/>
                <a:cs typeface="NanumSquare"/>
              </a:rPr>
              <a:t>14%</a:t>
            </a:r>
            <a:endParaRPr sz="9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C0B01AB-C395-4C78-A4E8-5788D916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862072"/>
            <a:ext cx="14173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Solventum</a:t>
            </a:r>
            <a:endParaRPr sz="9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83772359-0A83-472C-977B-74F1C75A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80360"/>
            <a:ext cx="27432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F0EF"/>
          </a:solidFill>
          <a:ln xmlns:a="http://schemas.openxmlformats.org/drawingml/2006/main" w="12700">
            <a:solidFill>
              <a:srgbClr val="EDF0EF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AF5C0EF0-26A3-400B-A10B-8C918856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80360"/>
            <a:ext cx="64008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6B52"/>
          </a:solidFill>
          <a:ln xmlns:a="http://schemas.openxmlformats.org/drawingml/2006/main" w="12700">
            <a:solidFill>
              <a:srgbClr val="1D6B52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1B977092-E77D-42AC-B542-E17F1AF9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352" y="2871216"/>
            <a:ext cx="6583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14%</a:t>
            </a:r>
            <a:endParaRPr sz="9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43FAC8BC-C3A7-4D04-B11B-1D220F22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83864"/>
            <a:ext cx="14173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Mölnlycke</a:t>
            </a:r>
            <a:endParaRPr sz="9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A8C89A39-AA3F-40F5-A1DF-C44C1224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02152"/>
            <a:ext cx="27432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F0EF"/>
          </a:solidFill>
          <a:ln xmlns:a="http://schemas.openxmlformats.org/drawingml/2006/main" w="12700">
            <a:solidFill>
              <a:srgbClr val="EDF0EF"/>
            </a:solidFill>
            <a:prstDash val="solid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5CA3674C-A9E7-4E97-A237-04A159A0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02152"/>
            <a:ext cx="4572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8A6F"/>
          </a:solidFill>
          <a:ln xmlns:a="http://schemas.openxmlformats.org/drawingml/2006/main" w="12700">
            <a:solidFill>
              <a:srgbClr val="2F8A6F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7BF399BC-9275-4D9D-8530-2E3DF701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352" y="3493008"/>
            <a:ext cx="6583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2F8A6F"/>
                </a:solidFill>
                <a:latin typeface="NanumSquare"/>
                <a:ea typeface="NanumSquare"/>
                <a:cs typeface="NanumSquare"/>
              </a:rPr>
              <a:t>10%</a:t>
            </a:r>
            <a:endParaRPr sz="9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1A4F84CE-A58B-4B66-B93E-F0FD86EE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105656"/>
            <a:ext cx="14173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ConvaTec</a:t>
            </a:r>
            <a:endParaRPr sz="90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19D06956-BC9E-4671-B093-2AAA4C50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23944"/>
            <a:ext cx="27432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F0EF"/>
          </a:solidFill>
          <a:ln xmlns:a="http://schemas.openxmlformats.org/drawingml/2006/main" w="12700">
            <a:solidFill>
              <a:srgbClr val="EDF0EF"/>
            </a:solidFill>
            <a:prstDash val="solid"/>
          </a:ln>
        </p:spPr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06AFB927-DFB3-4D22-A3FD-ADBCC76D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23944"/>
            <a:ext cx="27432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F5AA2"/>
          </a:solidFill>
          <a:ln xmlns:a="http://schemas.openxmlformats.org/drawingml/2006/main" w="12700">
            <a:solidFill>
              <a:srgbClr val="7F5AA2"/>
            </a:solidFill>
            <a:prstDash val="solid"/>
          </a:ln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B21825C6-0A25-4C6E-88F7-93996690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352" y="4114800"/>
            <a:ext cx="6583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7F5AA2"/>
                </a:solidFill>
                <a:latin typeface="NanumSquare"/>
                <a:ea typeface="NanumSquare"/>
                <a:cs typeface="NanumSquare"/>
              </a:rPr>
              <a:t>6%</a:t>
            </a:r>
            <a:endParaRPr sz="9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4571B131-70E3-47C4-97D2-6DED5FAB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727448"/>
            <a:ext cx="14173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기타</a:t>
            </a:r>
            <a:endParaRPr sz="9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1F37B9DE-FE3C-4EB1-871F-1FFD8081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45736"/>
            <a:ext cx="27432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F0EF"/>
          </a:solidFill>
          <a:ln xmlns:a="http://schemas.openxmlformats.org/drawingml/2006/main" w="12700">
            <a:solidFill>
              <a:srgbClr val="EDF0EF"/>
            </a:solidFill>
            <a:prstDash val="solid"/>
          </a:ln>
        </p:spPr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C45B0FDE-3500-4959-8802-930A44FC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45736"/>
            <a:ext cx="256032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AEB6B2"/>
          </a:solidFill>
          <a:ln xmlns:a="http://schemas.openxmlformats.org/drawingml/2006/main" w="12700">
            <a:solidFill>
              <a:srgbClr val="AEB6B2"/>
            </a:solidFill>
            <a:prstDash val="solid"/>
          </a:ln>
        </p:spPr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8084230-5A85-47D2-8D5D-FFED4663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352" y="4736592"/>
            <a:ext cx="6583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AEB6B2"/>
                </a:solidFill>
                <a:latin typeface="NanumSquare"/>
                <a:ea typeface="NanumSquare"/>
                <a:cs typeface="NanumSquare"/>
              </a:rPr>
              <a:t>56%</a:t>
            </a:r>
            <a:endParaRPr sz="90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8F0D244C-49B3-4568-A1CD-A56C2FAB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532120"/>
            <a:ext cx="507492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C"/>
          </a:solidFill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80" b="1">
                <a:solidFill>
                  <a:srgbClr val="B84A4A"/>
                </a:solidFill>
                <a:latin typeface="NanumSquare"/>
                <a:ea typeface="NanumSquare"/>
                <a:cs typeface="NanumSquare"/>
              </a:rPr>
              <a:t>주의: 회사 전체 Advanced Wound Management 점유율이며, Mepilex·AQUACEL·KeraStat 등 개별 제품 점유율은 아님.</a:t>
            </a:r>
            <a:endParaRPr sz="78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70557DEA-7A3E-4D44-BC42-D16A6007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1353312"/>
            <a:ext cx="5394960" cy="4718304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>
              <a:alpha val="98000"/>
            </a:srgbClr>
          </a:solidFill>
          <a:ln xmlns:a="http://schemas.openxmlformats.org/drawingml/2006/main" w="10160">
            <a:solidFill>
              <a:srgbClr val="D9DEDC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B2280FAB-CEA6-4D51-8746-471BE803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554480"/>
            <a:ext cx="49194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창상피복재는 역할이 다르다</a:t>
            </a:r>
            <a:endParaRPr sz="120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F7DA3422-4CA1-4035-AA4D-6C623CC2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057400"/>
            <a:ext cx="160020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52"/>
          </a:solidFill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수분 공급·습윤 유지</a:t>
            </a:r>
            <a:endParaRPr sz="920"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771C359-0E01-418D-BD7F-E5777615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057400"/>
            <a:ext cx="160020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6350">
            <a:solidFill>
              <a:srgbClr val="1D6B52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7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하이드로겔 · 도포형 겔</a:t>
            </a:r>
            <a:endParaRPr sz="870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195CD592-1A4F-4CC9-BFF8-D7046EF1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2057400"/>
            <a:ext cx="141732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7"/>
          </a:solidFill>
          <a:ln xmlns:a="http://schemas.openxmlformats.org/drawingml/2006/main" w="6350">
            <a:solidFill>
              <a:srgbClr val="E3E7E5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건조·저삼출 창상</a:t>
            </a:r>
            <a:endParaRPr sz="85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35D34E0E-249E-4F33-A801-F70B39F6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862072"/>
            <a:ext cx="160020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E68"/>
          </a:solidFill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흡수·수분 균형</a:t>
            </a:r>
            <a:endParaRPr sz="920"/>
          </a:p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4F39F977-9FF8-48C3-8E14-F32479DD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862072"/>
            <a:ext cx="160020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6350">
            <a:solidFill>
              <a:srgbClr val="1C3E68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7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폼 · 알지네이트 · 하이드로파이버</a:t>
            </a:r>
            <a:endParaRPr sz="87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2FB93A53-0B83-4FD2-8EC4-AFC26467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2862072"/>
            <a:ext cx="141732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7"/>
          </a:solidFill>
          <a:ln xmlns:a="http://schemas.openxmlformats.org/drawingml/2006/main" w="6350">
            <a:solidFill>
              <a:srgbClr val="E3E7E5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중·고삼출 창상</a:t>
            </a:r>
            <a:endParaRPr sz="85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59FD812D-DBD0-43F2-88B9-F5CF7633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666744"/>
            <a:ext cx="160020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4A"/>
          </a:solidFill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감염·바이오필름 관리</a:t>
            </a:r>
            <a:endParaRPr sz="920"/>
          </a:p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B7CE7EF2-2BD5-454F-8DE6-821A28B8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666744"/>
            <a:ext cx="160020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C"/>
          </a:solidFill>
          <a:ln xmlns:a="http://schemas.openxmlformats.org/drawingml/2006/main" w="6350">
            <a:solidFill>
              <a:srgbClr val="B84A4A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7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은·항균 드레싱</a:t>
            </a:r>
            <a:endParaRPr sz="870"/>
          </a:p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E2F933A6-8774-41CE-BBA2-F1C0A272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3666744"/>
            <a:ext cx="141732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7"/>
          </a:solidFill>
          <a:ln xmlns:a="http://schemas.openxmlformats.org/drawingml/2006/main" w="6350">
            <a:solidFill>
              <a:srgbClr val="E3E7E5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감염 위험·세균부담</a:t>
            </a:r>
            <a:endParaRPr sz="850"/>
          </a:p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04E0269F-A592-40DF-9ECD-ED7BFA92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471416"/>
            <a:ext cx="160020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5AA2"/>
          </a:solidFill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생체재료 매트릭스</a:t>
            </a:r>
            <a:endParaRPr sz="920"/>
          </a:p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5A80379D-F847-4C34-B08E-B1D44729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471416"/>
            <a:ext cx="160020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F5"/>
          </a:solidFill>
          <a:ln xmlns:a="http://schemas.openxmlformats.org/drawingml/2006/main" w="6350">
            <a:solidFill>
              <a:srgbClr val="7F5AA2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7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콜라겐 · 케라틴 매트릭스</a:t>
            </a:r>
            <a:endParaRPr sz="870"/>
          </a:p>
        </p:txBody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FF40635B-F412-4A41-BB13-29B5CD96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4471416"/>
            <a:ext cx="141732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7"/>
          </a:solidFill>
          <a:ln xmlns:a="http://schemas.openxmlformats.org/drawingml/2006/main" w="6350">
            <a:solidFill>
              <a:srgbClr val="E3E7E5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복합·만성 창상</a:t>
            </a:r>
            <a:endParaRPr sz="850"/>
          </a:p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4BE308A9-3272-4592-9452-3755E3E1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5413248"/>
            <a:ext cx="14173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KheAl의 목표영역</a:t>
            </a:r>
            <a:endParaRPr sz="920"/>
          </a:p>
        </p:txBody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260B872D-D762-4660-89ED-BBE23470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5340096"/>
            <a:ext cx="350215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7620">
            <a:solidFill>
              <a:srgbClr val="BCD3CA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청결한 부분층 창상 · 저~중등도 삼출 · 불규칙 부위에 도포하는 복합 습윤겔</a:t>
            </a:r>
            <a:endParaRPr sz="900"/>
          </a:p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F7D33EF4-42B4-4ACE-80D2-6CADE217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28232"/>
            <a:ext cx="1071676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10" b="1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출처: </a:t>
            </a:r>
            <a:r>
              <a:rPr sz="71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xmlns:r="http://schemas.openxmlformats.org/officeDocument/2006/relationships" r:id="R513a64d045584af6"/>
              </a:rPr>
              <a:t>Smith+Nephew 2025 Annual Report (SEC)</a:t>
            </a:r>
            <a:r>
              <a:rPr sz="71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sz="71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xmlns:r="http://schemas.openxmlformats.org/officeDocument/2006/relationships" r:id="R346820f57bc94a91"/>
              </a:rPr>
              <a:t>MarketsandMarkets — Market Overview</a:t>
            </a:r>
            <a:endParaRPr sz="710"/>
          </a:p>
        </p:txBody>
      </p:sp>
    </p:spTree>
    <p:extLst>
      <p:ext uri="{BB962C8B-B14F-4D97-AF65-F5344CB8AC3E}">
        <p14:creationId xmlns:p14="http://schemas.microsoft.com/office/powerpoint/2010/main" val="293718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0E93CCE8-88E1-48B4-AA1C-48DB17DF9D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8331a1cf4f4b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5A72436-58C6-42ED-820F-9E157B41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0352"/>
            <a:ext cx="1101852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제품군별 역할과 KheAl의 목표 사용영역</a:t>
            </a:r>
            <a:endParaRPr sz="23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27DDD757-8CC0-4C1B-A7C0-BD82841E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14984"/>
            <a:ext cx="10927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KheAl은 모든 창상피복재를 대체하는 제품이 아니라 명확한 사용영역을 선택해야 함</a:t>
            </a:r>
            <a:endParaRPr sz="1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1858AB3-1EF6-4DF1-8605-00A94A47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864" y="6547104"/>
            <a:ext cx="274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19</a:t>
            </a:r>
            <a:endParaRPr sz="75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5DBC28AB-4B2B-4ED6-BBC9-568A02C9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89888"/>
            <a:ext cx="11183112" cy="4315968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>
              <a:alpha val="98000"/>
            </a:srgbClr>
          </a:solidFill>
          <a:ln xmlns:a="http://schemas.openxmlformats.org/drawingml/2006/main" w="10160">
            <a:solidFill>
              <a:srgbClr val="D9DEDC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18223A0-C12B-4884-8701-571BB2A3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00784"/>
            <a:ext cx="17373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52"/>
          </a:solidFill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수분 공급·보호</a:t>
            </a:r>
            <a:endParaRPr sz="10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9916944-5321-40E8-B96B-84ABF593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048" y="1700784"/>
            <a:ext cx="468172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6350">
            <a:solidFill>
              <a:srgbClr val="1D6B52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KeraStat Gel · Nu-Gel · 메디폼 H</a:t>
            </a:r>
            <a:endParaRPr sz="9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A3F319B-91E9-483B-8E05-F5C44BED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68" y="1700784"/>
            <a:ext cx="202996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7"/>
          </a:solidFill>
          <a:ln xmlns:a="http://schemas.openxmlformats.org/drawingml/2006/main" w="6350">
            <a:solidFill>
              <a:srgbClr val="E2E6E4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건조~저삼출 창상</a:t>
            </a:r>
            <a:endParaRPr sz="9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3A15229-C1F6-42C6-8D3D-EB3F1671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216" y="1700784"/>
            <a:ext cx="157276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1D6B52"/>
            </a:solidFill>
          </a:ln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비교·보완</a:t>
            </a:r>
            <a:endParaRPr sz="9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AE14C3BF-4358-4795-AB44-1B94FCCA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42032"/>
            <a:ext cx="17373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A6F"/>
          </a:solidFill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수분 균형·도포</a:t>
            </a:r>
            <a:endParaRPr sz="10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DE503BC-594D-4603-BFDB-783B9776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048" y="2542032"/>
            <a:ext cx="468172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1ED"/>
          </a:solidFill>
          <a:ln xmlns:a="http://schemas.openxmlformats.org/drawingml/2006/main" w="6350">
            <a:solidFill>
              <a:srgbClr val="2F8A6F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KheAl 목표영역 · JUVENCOLL · 일부 복합겔</a:t>
            </a:r>
            <a:endParaRPr sz="9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149A4E1-337A-4CC5-A7CF-82DD21C8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68" y="2542032"/>
            <a:ext cx="202996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7"/>
          </a:solidFill>
          <a:ln xmlns:a="http://schemas.openxmlformats.org/drawingml/2006/main" w="6350">
            <a:solidFill>
              <a:srgbClr val="E2E6E4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저~중등도 삼출 · 불규칙 부위</a:t>
            </a:r>
            <a:endParaRPr sz="9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27EA598C-E42A-4A9D-A87D-DDB23178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216" y="2542032"/>
            <a:ext cx="157276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52"/>
          </a:solidFill>
          <a:ln xmlns:a="http://schemas.openxmlformats.org/drawingml/2006/main" w="8890">
            <a:solidFill>
              <a:srgbClr val="2F8A6F"/>
            </a:solidFill>
          </a:ln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직접 목표</a:t>
            </a:r>
            <a:endParaRPr sz="9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10417746-75E1-46A0-BEF1-BAADF58D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83280"/>
            <a:ext cx="17373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E68"/>
          </a:solidFill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흡수·겔 형성</a:t>
            </a:r>
            <a:endParaRPr sz="10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D8AF6E9E-0144-4966-B186-A81310FC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048" y="3383280"/>
            <a:ext cx="468172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6350">
            <a:solidFill>
              <a:srgbClr val="1C3E68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폼 · Suprasorb A · Fibracol</a:t>
            </a:r>
            <a:endParaRPr sz="95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C0F389A3-350A-413E-94BA-8080BD13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68" y="3383280"/>
            <a:ext cx="202996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7"/>
          </a:solidFill>
          <a:ln xmlns:a="http://schemas.openxmlformats.org/drawingml/2006/main" w="6350">
            <a:solidFill>
              <a:srgbClr val="E2E6E4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중~고삼출 창상</a:t>
            </a:r>
            <a:endParaRPr sz="9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91240FF7-D434-4496-8BBB-75343530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216" y="3383280"/>
            <a:ext cx="157276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1C3E68"/>
            </a:solidFill>
          </a:ln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1C3E68"/>
                </a:solidFill>
                <a:latin typeface="NanumSquare"/>
                <a:ea typeface="NanumSquare"/>
                <a:cs typeface="NanumSquare"/>
              </a:rPr>
              <a:t>비교·보완</a:t>
            </a:r>
            <a:endParaRPr sz="9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B2FE2D64-653C-4BF3-A8E7-1F9E2568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24528"/>
            <a:ext cx="17373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4A"/>
          </a:solidFill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항균·바이오필름</a:t>
            </a:r>
            <a:endParaRPr sz="10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916FA465-23CE-4719-B45F-5AF9F17F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048" y="4224528"/>
            <a:ext cx="468172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C"/>
          </a:solidFill>
          <a:ln xmlns:a="http://schemas.openxmlformats.org/drawingml/2006/main" w="6350">
            <a:solidFill>
              <a:srgbClr val="B84A4A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Mepilex Ag · AQUACEL Ag+</a:t>
            </a:r>
            <a:endParaRPr sz="95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F3DDBD38-120C-420F-BCF4-76967656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68" y="4224528"/>
            <a:ext cx="202996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7"/>
          </a:solidFill>
          <a:ln xmlns:a="http://schemas.openxmlformats.org/drawingml/2006/main" w="6350">
            <a:solidFill>
              <a:srgbClr val="E2E6E4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감염 또는 감염 위험 창상</a:t>
            </a:r>
            <a:endParaRPr sz="9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E62750B-88AF-4985-A379-1EF493AB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216" y="4224528"/>
            <a:ext cx="157276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B84A4A"/>
            </a:solidFill>
          </a:ln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B84A4A"/>
                </a:solidFill>
                <a:latin typeface="NanumSquare"/>
                <a:ea typeface="NanumSquare"/>
                <a:cs typeface="NanumSquare"/>
              </a:rPr>
              <a:t>비교·보완</a:t>
            </a:r>
            <a:endParaRPr sz="9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30BF68AC-0E8C-477E-8BE9-DA7F4600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184648"/>
            <a:ext cx="1280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권장 초기 적응증</a:t>
            </a:r>
            <a:endParaRPr sz="95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4C7A53EA-9D28-4BF8-AB48-05A88F55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5093208"/>
            <a:ext cx="501091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7620">
            <a:solidFill>
              <a:srgbClr val="BCD2C9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감염이 조절된 성인 부분층 화상 · 저~중등도 삼출 · 불규칙 부위</a:t>
            </a:r>
            <a:endParaRPr sz="102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C3B995B-A8D6-47A7-BDAC-910F1500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5184648"/>
            <a:ext cx="17007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C3E68"/>
                </a:solidFill>
                <a:latin typeface="NanumSquare"/>
                <a:ea typeface="NanumSquare"/>
                <a:cs typeface="NanumSquare"/>
              </a:rPr>
              <a:t>임상에서 확인할 대체가치</a:t>
            </a:r>
            <a:endParaRPr sz="95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A9CD632D-7F40-4E19-8DC9-C24C0435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696" y="5093208"/>
            <a:ext cx="226771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7620">
            <a:solidFill>
              <a:srgbClr val="C6D4E3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7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재상피화 · 통증 · 교체횟수 · 처치시간 · 2차 드레싱 사용량</a:t>
            </a:r>
            <a:endParaRPr sz="87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99FE1161-4649-456C-9F27-E616A502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28232"/>
            <a:ext cx="1071676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10" b="1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출처: </a:t>
            </a:r>
            <a:r>
              <a:rPr sz="71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xmlns:r="http://schemas.openxmlformats.org/officeDocument/2006/relationships" r:id="Ra99ed19f4c0a45ee"/>
              </a:rPr>
              <a:t>WoundSource — Dressing Selection Overview</a:t>
            </a:r>
            <a:r>
              <a:rPr sz="71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sz="71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xmlns:r="http://schemas.openxmlformats.org/officeDocument/2006/relationships" r:id="R744da38078254237"/>
              </a:rPr>
              <a:t>제네웰·원바이오젠·Solventum·KeraNetics 제품자료</a:t>
            </a:r>
            <a:endParaRPr sz="710"/>
          </a:p>
        </p:txBody>
      </p:sp>
    </p:spTree>
    <p:extLst>
      <p:ext uri="{BB962C8B-B14F-4D97-AF65-F5344CB8AC3E}">
        <p14:creationId xmlns:p14="http://schemas.microsoft.com/office/powerpoint/2010/main" val="83915422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7F302860-A3D0-4776-849A-FC25478C46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746b35440049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D7FE8BB5-BC67-4D15-BD88-C3030815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0352"/>
            <a:ext cx="1101852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인모 유래 케라틴의 생물학적 활성 근거</a:t>
            </a:r>
            <a:endParaRPr sz="23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3AA2010-6437-4919-B6C7-859469FE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14984"/>
            <a:ext cx="10927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단순 물리적 보호를 넘어선 가능성은 세포·동물시험에서 관찰되었으나 조건과 제형에 따라 달라짐</a:t>
            </a:r>
            <a:endParaRPr sz="1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DD252B0-EAD7-45C4-983E-9E50D524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864" y="6547104"/>
            <a:ext cx="274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20</a:t>
            </a:r>
            <a:endParaRPr sz="75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B5BA1CA-08C7-4F5E-A201-055244CA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89888"/>
            <a:ext cx="3611880" cy="1965960"/>
          </a:xfrm>
          <a:prstGeom xmlns:a="http://schemas.openxmlformats.org/drawingml/2006/main" prst="roundRect">
            <a:avLst>
              <a:gd name="adj" fmla="val 7442"/>
            </a:avLst>
          </a:prstGeom>
          <a:solidFill xmlns:a="http://schemas.openxmlformats.org/drawingml/2006/main">
            <a:srgbClr val="FFFFFF">
              <a:alpha val="98000"/>
            </a:srgbClr>
          </a:solidFill>
          <a:ln xmlns:a="http://schemas.openxmlformats.org/drawingml/2006/main" w="10160">
            <a:solidFill>
              <a:srgbClr val="D9DEDC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CC0D2BF-B835-4F51-BC1F-B5D41C7A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536192"/>
            <a:ext cx="328269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4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열손상 세포 보호</a:t>
            </a:r>
            <a:endParaRPr sz="94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EB512DB-AFA2-4C35-8A07-21B58F49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892808"/>
            <a:ext cx="3282696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IN VITRO</a:t>
            </a:r>
            <a:endParaRPr sz="23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D880C7C-E8A8-43E5-94D6-27930F7E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468880"/>
            <a:ext cx="3282696" cy="7406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γ-keratose가 열 스트레스 후 섬유아세포 생존과 세포사멸 관련 유전자 발현에 영향을 보임</a:t>
            </a:r>
            <a:endParaRPr sz="8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2382FA2-CB7C-4357-B90D-507D1A79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536" y="1389888"/>
            <a:ext cx="3611880" cy="1965960"/>
          </a:xfrm>
          <a:prstGeom xmlns:a="http://schemas.openxmlformats.org/drawingml/2006/main" prst="roundRect">
            <a:avLst>
              <a:gd name="adj" fmla="val 7442"/>
            </a:avLst>
          </a:prstGeom>
          <a:solidFill xmlns:a="http://schemas.openxmlformats.org/drawingml/2006/main">
            <a:srgbClr val="FFFFFF">
              <a:alpha val="98000"/>
            </a:srgbClr>
          </a:solidFill>
          <a:ln xmlns:a="http://schemas.openxmlformats.org/drawingml/2006/main" w="10160">
            <a:solidFill>
              <a:srgbClr val="D9DEDC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54914BA-5181-42E5-A0C1-C74E3D66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128" y="1536192"/>
            <a:ext cx="328269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4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면역반응 조절</a:t>
            </a:r>
            <a:endParaRPr sz="94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A2D2FC16-E2E1-4A04-9BF9-98CA67A9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128" y="1892808"/>
            <a:ext cx="3282696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7F5AA2"/>
                </a:solidFill>
                <a:latin typeface="NanumSquare"/>
                <a:ea typeface="NanumSquare"/>
                <a:cs typeface="NanumSquare"/>
              </a:rPr>
              <a:t>M2c / CD163</a:t>
            </a:r>
            <a:endParaRPr sz="23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BF043B6E-4A9D-416F-9D7F-B7942BC1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128" y="2468880"/>
            <a:ext cx="3282696" cy="7406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특정 저분자 케라틴 분획·표면 고정 조건에서 항염증성 대식세포 표현형 관련 반응 관찰</a:t>
            </a:r>
            <a:endParaRPr sz="8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9F0E441C-B8E6-4BC3-BD0F-7AE7F01A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1389888"/>
            <a:ext cx="3611880" cy="1965960"/>
          </a:xfrm>
          <a:prstGeom xmlns:a="http://schemas.openxmlformats.org/drawingml/2006/main" prst="roundRect">
            <a:avLst>
              <a:gd name="adj" fmla="val 7442"/>
            </a:avLst>
          </a:prstGeom>
          <a:solidFill xmlns:a="http://schemas.openxmlformats.org/drawingml/2006/main">
            <a:srgbClr val="FFFFFF">
              <a:alpha val="98000"/>
            </a:srgbClr>
          </a:solidFill>
          <a:ln xmlns:a="http://schemas.openxmlformats.org/drawingml/2006/main" w="10160">
            <a:solidFill>
              <a:srgbClr val="D9DEDC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19620B7-7177-4F5A-8F8B-0312F4A3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8744" y="1536192"/>
            <a:ext cx="328269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4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돼지 심부 부분층 화상</a:t>
            </a:r>
            <a:endParaRPr sz="94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3038913-F78F-4449-8483-601FB822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8744" y="1892808"/>
            <a:ext cx="3282696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1C3E68"/>
                </a:solidFill>
                <a:latin typeface="NanumSquare"/>
                <a:ea typeface="NanumSquare"/>
                <a:cs typeface="NanumSquare"/>
              </a:rPr>
              <a:t>25.0일</a:t>
            </a:r>
            <a:endParaRPr sz="23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001518F-5459-4FB0-9C5B-AB642279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8744" y="2468880"/>
            <a:ext cx="3282696" cy="7406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케라틴 겔 예상 폐쇄기간 25.0일 vs SSD 34.6일; 콜라겐 겔 24.2일로 케라틴 독자 우월성은 미확정</a:t>
            </a:r>
            <a:endParaRPr sz="8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D6840D31-B9DE-43CE-BADA-E52CEEAB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611880"/>
            <a:ext cx="11183112" cy="2240280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FFFFFF">
              <a:alpha val="98000"/>
            </a:srgbClr>
          </a:solidFill>
          <a:ln xmlns:a="http://schemas.openxmlformats.org/drawingml/2006/main" w="10160">
            <a:solidFill>
              <a:srgbClr val="D9DEDC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04FD33DE-8596-4ABD-A334-E0A44180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822192"/>
            <a:ext cx="1371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B84A4A"/>
                </a:solidFill>
                <a:latin typeface="NanumSquare"/>
                <a:ea typeface="NanumSquare"/>
                <a:cs typeface="NanumSquare"/>
              </a:rPr>
              <a:t>해석의 경계</a:t>
            </a:r>
            <a:endParaRPr sz="11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5326193A-7725-4B51-8A96-1043B038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297680"/>
            <a:ext cx="333756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0"/>
          </a:solidFill>
          <a:ln xmlns:a="http://schemas.openxmlformats.org/drawingml/2006/main" w="6350">
            <a:solidFill>
              <a:srgbClr val="DDE2E0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4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소재 연구 ≠ KeraStat 완제품 효과</a:t>
            </a:r>
            <a:endParaRPr sz="94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AEE3C40D-A1EE-49B0-8077-6ACB864D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782312"/>
            <a:ext cx="3337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분획·분자량·농도·가교·멸균 조건이 다름</a:t>
            </a:r>
            <a:endParaRPr sz="84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4130D3B0-0C17-4798-8DE7-EF38D04B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297680"/>
            <a:ext cx="333756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0"/>
          </a:solidFill>
          <a:ln xmlns:a="http://schemas.openxmlformats.org/drawingml/2006/main" w="6350">
            <a:solidFill>
              <a:srgbClr val="DDE2E0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4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동물결과 ≠ 사람 치료효과</a:t>
            </a:r>
            <a:endParaRPr sz="94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5F62D08C-1215-4EC2-AB49-C927322D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782312"/>
            <a:ext cx="3337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인체 확증임상이 별도로 필요</a:t>
            </a:r>
            <a:endParaRPr sz="84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74C03F8-4E2D-488F-B2B1-C682B20B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4297680"/>
            <a:ext cx="333756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C"/>
          </a:solidFill>
          <a:ln xmlns:a="http://schemas.openxmlformats.org/drawingml/2006/main" w="6350">
            <a:solidFill>
              <a:srgbClr val="E0B7B7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4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FDA clearance ≠ 약리효과 승인</a:t>
            </a:r>
            <a:endParaRPr sz="94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DBEDC302-C85F-48DE-8C5E-C324DF8B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4782312"/>
            <a:ext cx="3337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KeraStat의 인정된 기본 작용은 보호·흡수·습윤환경</a:t>
            </a:r>
            <a:endParaRPr sz="84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F35D9D1-C73D-422A-ACD2-0C5CA9F8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28232"/>
            <a:ext cx="1071676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10" b="1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출처: </a:t>
            </a:r>
            <a:r>
              <a:rPr sz="71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xmlns:r="http://schemas.openxmlformats.org/officeDocument/2006/relationships" r:id="R4198796fead34314"/>
              </a:rPr>
              <a:t>Poranki et al. — Thermal Stress &amp; Gamma Keratose</a:t>
            </a:r>
            <a:r>
              <a:rPr sz="71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sz="71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xmlns:r="http://schemas.openxmlformats.org/officeDocument/2006/relationships" r:id="R920db8b740c5482a"/>
              </a:rPr>
              <a:t>Waters et al. — Macrophage Phenotype</a:t>
            </a:r>
            <a:r>
              <a:rPr sz="71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sz="71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xmlns:r="http://schemas.openxmlformats.org/officeDocument/2006/relationships" r:id="Rb8aa9ab706ab4dc6"/>
              </a:rPr>
              <a:t>Poranki et al. — Swine Burn Model</a:t>
            </a:r>
            <a:endParaRPr sz="710"/>
          </a:p>
        </p:txBody>
      </p:sp>
    </p:spTree>
    <p:extLst>
      <p:ext uri="{BB962C8B-B14F-4D97-AF65-F5344CB8AC3E}">
        <p14:creationId xmlns:p14="http://schemas.microsoft.com/office/powerpoint/2010/main" val="150864968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FE59C308-FF6E-4157-949F-3381286C59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5841de52d347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26E3127-FA4B-4BDB-BF2C-0DBE8BA7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0352"/>
            <a:ext cx="1101852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사람 대상 케라틴 제품 유효성 근거</a:t>
            </a:r>
            <a:endParaRPr sz="23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F100B5C-2BEF-479D-B3D5-B265F90E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14984"/>
            <a:ext cx="10927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초기 신호는 있으나 KeraStat의 치료 우월성은 아직 확증되지 않음</a:t>
            </a:r>
            <a:endParaRPr sz="1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6B77A05-3913-4821-AB50-35FBFA43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864" y="6547104"/>
            <a:ext cx="274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21</a:t>
            </a:r>
            <a:endParaRPr sz="75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43D1B4F7-8B27-433E-ACA4-06059929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89888"/>
            <a:ext cx="2743200" cy="448056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>
              <a:alpha val="98000"/>
            </a:srgbClr>
          </a:solidFill>
          <a:ln xmlns:a="http://schemas.openxmlformats.org/drawingml/2006/main" w="10160">
            <a:solidFill>
              <a:srgbClr val="D9DEDC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763379E-D72B-4BFF-9685-CC252184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1591056"/>
            <a:ext cx="2450592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KeraStat Cream</a:t>
            </a:r>
            <a:endParaRPr sz="1100"/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유방암 방사선피부염</a:t>
            </a:r>
            <a:endParaRPr sz="11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8CFCA79-3993-4B57-863E-DF426023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2441448"/>
            <a:ext cx="245059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30.8% vs 54.5%</a:t>
            </a:r>
            <a:endParaRPr sz="2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2AAB201-DFE0-4450-A273-1AA2756D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3236976"/>
            <a:ext cx="2304288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1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Grade 2 피부염</a:t>
            </a:r>
            <a:endParaRPr sz="910"/>
          </a:p>
          <a:p xmlns:a="http://schemas.openxmlformats.org/drawingml/2006/main">
            <a:pPr marL="0" indent="0" algn="ctr">
              <a:buNone/>
            </a:pPr>
            <a:r>
              <a:rPr sz="91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KeraStat vs 표준관리</a:t>
            </a:r>
            <a:endParaRPr sz="91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056D23A-A9A4-448E-90E1-F0C04F16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178808"/>
            <a:ext cx="2340864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6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24명 · p=0.408</a:t>
            </a:r>
            <a:endParaRPr sz="860"/>
          </a:p>
          <a:p xmlns:a="http://schemas.openxmlformats.org/drawingml/2006/main">
            <a:pPr marL="0" indent="0" algn="ctr">
              <a:buNone/>
            </a:pPr>
            <a:r>
              <a:rPr sz="86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개선 방향은 있으나 통계적 유의성 없음</a:t>
            </a:r>
            <a:endParaRPr sz="86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E2A6B9AD-2FB1-435E-8221-0C4DC200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389888"/>
            <a:ext cx="2743200" cy="448056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>
              <a:alpha val="98000"/>
            </a:srgbClr>
          </a:solidFill>
          <a:ln xmlns:a="http://schemas.openxmlformats.org/drawingml/2006/main" w="10160">
            <a:solidFill>
              <a:srgbClr val="D9DEDC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59EBA741-F41B-4934-85A3-1A4F50A9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584" y="1591056"/>
            <a:ext cx="2450592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KeraStat Cream</a:t>
            </a:r>
            <a:endParaRPr sz="1100"/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두경부 방사선피부염</a:t>
            </a:r>
            <a:endParaRPr sz="11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BD38AA49-006A-45F6-A374-97E04C10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584" y="2441448"/>
            <a:ext cx="245059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C3E68"/>
                </a:solidFill>
                <a:latin typeface="NanumSquare"/>
                <a:ea typeface="NanumSquare"/>
                <a:cs typeface="NanumSquare"/>
              </a:rPr>
              <a:t>차이 미확인</a:t>
            </a:r>
            <a:endParaRPr sz="20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05AF7BA-8877-41AA-A674-C0627374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736" y="3236976"/>
            <a:ext cx="2304288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1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무작위 개방형 예비시험</a:t>
            </a:r>
            <a:endParaRPr sz="91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8AF81C9B-AC8E-4185-BC02-B3A2273C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4178808"/>
            <a:ext cx="2340864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6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24명</a:t>
            </a:r>
            <a:endParaRPr sz="860"/>
          </a:p>
          <a:p xmlns:a="http://schemas.openxmlformats.org/drawingml/2006/main">
            <a:pPr marL="0" indent="0" algn="ctr">
              <a:buNone/>
            </a:pPr>
            <a:r>
              <a:rPr sz="86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군 간 방사선피부염 차이 확인되지 않음</a:t>
            </a:r>
            <a:endParaRPr sz="86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698CFFC8-0EAC-41F7-8579-6CACD7F4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389888"/>
            <a:ext cx="2743200" cy="448056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>
              <a:alpha val="98000"/>
            </a:srgbClr>
          </a:solidFill>
          <a:ln xmlns:a="http://schemas.openxmlformats.org/drawingml/2006/main" w="10160">
            <a:solidFill>
              <a:srgbClr val="D9DEDC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0F8A3847-60DE-4D48-908C-FDF121A8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1591056"/>
            <a:ext cx="2450592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KeraStat Gel</a:t>
            </a:r>
            <a:endParaRPr sz="1100"/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부분층 화상</a:t>
            </a:r>
            <a:endParaRPr sz="11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A0F1D81-7CF4-4440-996F-AE7B3695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441448"/>
            <a:ext cx="245059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B84A4A"/>
                </a:solidFill>
                <a:latin typeface="NanumSquare"/>
                <a:ea typeface="NanumSquare"/>
                <a:cs typeface="NanumSquare"/>
              </a:rPr>
              <a:t>30 → 14명</a:t>
            </a:r>
            <a:endParaRPr sz="20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294131BB-A4F5-42C2-A0A4-D6C22D82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096" y="3236976"/>
            <a:ext cx="2304288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C"/>
          </a:solidFill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1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계획 대비 실제 등록</a:t>
            </a:r>
            <a:endParaRPr sz="91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17C91EDF-3E84-40AD-87F0-CE95EE4C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4178808"/>
            <a:ext cx="2340864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6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모집부진으로 종료</a:t>
            </a:r>
            <a:endParaRPr sz="860"/>
          </a:p>
          <a:p xmlns:a="http://schemas.openxmlformats.org/drawingml/2006/main">
            <a:pPr marL="0" indent="0" algn="ctr">
              <a:buNone/>
            </a:pPr>
            <a:r>
              <a:rPr sz="86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유효성 판단을 위한 표본 부족</a:t>
            </a:r>
            <a:endParaRPr sz="86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F038BB07-B60E-479F-8596-F288A8A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389888"/>
            <a:ext cx="2542032" cy="4480560"/>
          </a:xfrm>
          <a:prstGeom xmlns:a="http://schemas.openxmlformats.org/drawingml/2006/main" prst="roundRect">
            <a:avLst>
              <a:gd name="adj" fmla="val 5755"/>
            </a:avLst>
          </a:prstGeom>
          <a:solidFill xmlns:a="http://schemas.openxmlformats.org/drawingml/2006/main">
            <a:srgbClr val="FFFFFF">
              <a:alpha val="98000"/>
            </a:srgbClr>
          </a:solidFill>
          <a:ln xmlns:a="http://schemas.openxmlformats.org/drawingml/2006/main" w="10160">
            <a:solidFill>
              <a:srgbClr val="D9DEDC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D714039-4831-4178-A2F0-18B28717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1591056"/>
            <a:ext cx="2249424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ProgenaMatrix</a:t>
            </a:r>
            <a:endParaRPr sz="1100"/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당뇨병성 족부궤양</a:t>
            </a:r>
            <a:endParaRPr sz="11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F6819F94-5DAC-4868-9779-2E396381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2441448"/>
            <a:ext cx="2249424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7F5AA2"/>
                </a:solidFill>
                <a:latin typeface="NanumSquare"/>
                <a:ea typeface="NanumSquare"/>
                <a:cs typeface="NanumSquare"/>
              </a:rPr>
              <a:t>77% / 69%</a:t>
            </a:r>
            <a:endParaRPr sz="20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39BC70C-73A7-46D6-885E-06FF052C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456" y="3236976"/>
            <a:ext cx="210312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F5"/>
          </a:solidFill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1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주 1회 / 격주 적용</a:t>
            </a:r>
            <a:endParaRPr sz="910"/>
          </a:p>
          <a:p xmlns:a="http://schemas.openxmlformats.org/drawingml/2006/main">
            <a:pPr marL="0" indent="0" algn="ctr">
              <a:buNone/>
            </a:pPr>
            <a:r>
              <a:rPr sz="91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12주 내 치유</a:t>
            </a:r>
            <a:endParaRPr sz="91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FFFE1A1F-A04F-4DFF-B4E7-1F7A0B03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5168" y="4178808"/>
            <a:ext cx="2139696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6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26명</a:t>
            </a:r>
            <a:endParaRPr sz="860"/>
          </a:p>
          <a:p xmlns:a="http://schemas.openxmlformats.org/drawingml/2006/main">
            <a:pPr marL="0" indent="0" algn="ctr">
              <a:buNone/>
            </a:pPr>
            <a:r>
              <a:rPr sz="86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표준치료 단독 대조군 없음</a:t>
            </a:r>
            <a:endParaRPr sz="86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7CBAE8D7-AB00-40A9-9356-035C7644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980176"/>
            <a:ext cx="1060704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KheAl 임상 기회: 동일 적응증의 충분한 표본·명확한 대조군·사전 정의된 재상피화 평가로 확증 근거를 확보</a:t>
            </a:r>
            <a:endParaRPr sz="93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10A8D714-5796-4F4E-9C39-45B27B79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28232"/>
            <a:ext cx="1071676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10" b="1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출처: </a:t>
            </a:r>
            <a:r>
              <a:rPr sz="71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xmlns:r="http://schemas.openxmlformats.org/officeDocument/2006/relationships" r:id="Rffe0ac918b924d9c"/>
              </a:rPr>
              <a:t>Breast RD Pilot (SAGE)</a:t>
            </a:r>
            <a:r>
              <a:rPr sz="71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sz="71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xmlns:r="http://schemas.openxmlformats.org/officeDocument/2006/relationships" r:id="R39134be1df544f77"/>
              </a:rPr>
              <a:t>Head &amp; Neck RD Pilot (PubMed)</a:t>
            </a:r>
            <a:r>
              <a:rPr sz="71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sz="71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xmlns:r="http://schemas.openxmlformats.org/officeDocument/2006/relationships" r:id="R01bcc1bd7e9d4764"/>
              </a:rPr>
              <a:t>KeraStat Burn Trial NCT03564795</a:t>
            </a:r>
            <a:r>
              <a:rPr sz="71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sz="71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xmlns:r="http://schemas.openxmlformats.org/officeDocument/2006/relationships" r:id="R3e15fb6945544dd9"/>
              </a:rPr>
              <a:t>ProgenaMatrix DFU Trial</a:t>
            </a:r>
            <a:endParaRPr sz="710"/>
          </a:p>
        </p:txBody>
      </p:sp>
    </p:spTree>
    <p:extLst>
      <p:ext uri="{BB962C8B-B14F-4D97-AF65-F5344CB8AC3E}">
        <p14:creationId xmlns:p14="http://schemas.microsoft.com/office/powerpoint/2010/main" val="109005924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C2BDB6A9-0FA2-47CE-9BA4-D8D6FBC9D6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7d12436ebb42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8ADC5833-2F79-4D4D-8DE7-45FD246D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0352"/>
            <a:ext cx="1101852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KheAl에서 입증해야 할 케라틴의 기여</a:t>
            </a:r>
            <a:endParaRPr sz="23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CFDDB2F-26A1-4EBA-9041-0B12C84D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14984"/>
            <a:ext cx="10927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물리적 성능·완제품 임상효과·케라틴 고유 기여를 단계적으로 분리 검증</a:t>
            </a:r>
            <a:endParaRPr sz="1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DBB88C5-D4D7-4205-B81E-EF2F542A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864" y="6547104"/>
            <a:ext cx="274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22</a:t>
            </a:r>
            <a:endParaRPr sz="750"/>
          </a:p>
        </p:txBody>
      </p:sp>
      <p:pic>
        <p:nvPicPr>
          <p:cNvPr id="6" name="Image 1">
            <a:extLst xmlns:a="http://schemas.openxmlformats.org/drawingml/2006/main">
              <a:ext uri="{FF2B5EF4-FFF2-40B4-BE49-F238E27FC236}">
                <a16:creationId xmlns:a16="http://schemas.microsoft.com/office/drawing/2014/main" id="{68D53BAD-E03C-4A78-A2CD-2C71D6B413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1fd89719cc44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860" y="1554480"/>
            <a:ext cx="2682240" cy="2011680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D46B6DE6-3809-4E54-A601-A040332C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3703320"/>
            <a:ext cx="205740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52"/>
          </a:solidFill>
          <a:ln xmlns:a="http://schemas.openxmlformats.org/drawingml/2006/main">
            <a:solidFill>
              <a:srgbClr val="1D6B52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KheAl 완제품</a:t>
            </a:r>
            <a:endParaRPr sz="10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B882C332-5DD3-4EA3-95A7-C03DC4E9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133088"/>
            <a:ext cx="2651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Keratin + Alginate + HA</a:t>
            </a:r>
            <a:endParaRPr sz="10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A505A289-8A84-4D7F-839C-F2EE5474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9432"/>
            <a:ext cx="288036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C"/>
          </a:solidFill>
          <a:ln xmlns:a="http://schemas.openxmlformats.org/drawingml/2006/main" w="6350">
            <a:solidFill>
              <a:srgbClr val="E1BABA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80" b="1">
                <a:solidFill>
                  <a:srgbClr val="B84A4A"/>
                </a:solidFill>
                <a:latin typeface="NanumSquare"/>
                <a:ea typeface="NanumSquare"/>
                <a:cs typeface="NanumSquare"/>
              </a:rPr>
              <a:t>임상시험은 완제품 성능을 평가하지만</a:t>
            </a:r>
            <a:endParaRPr sz="880"/>
          </a:p>
          <a:p xmlns:a="http://schemas.openxmlformats.org/drawingml/2006/main">
            <a:pPr marL="0" indent="0" algn="ctr">
              <a:buNone/>
            </a:pPr>
            <a:r>
              <a:rPr sz="880" b="1">
                <a:solidFill>
                  <a:srgbClr val="B84A4A"/>
                </a:solidFill>
                <a:latin typeface="NanumSquare"/>
                <a:ea typeface="NanumSquare"/>
                <a:cs typeface="NanumSquare"/>
              </a:rPr>
              <a:t>케라틴만의 기여를 자동으로 분리하지 못함</a:t>
            </a:r>
            <a:endParaRPr sz="88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8BE82A2A-4BC0-44A5-A57C-5B73C1B6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1481328"/>
            <a:ext cx="7680960" cy="960120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FFFFFF">
              <a:alpha val="98000"/>
            </a:srgbClr>
          </a:solidFill>
          <a:ln xmlns:a="http://schemas.openxmlformats.org/drawingml/2006/main" w="10160">
            <a:solidFill>
              <a:srgbClr val="D9DEDC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ED1AB25F-37A2-4B02-85C1-AC33683B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709928"/>
            <a:ext cx="43891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52"/>
          </a:solidFill>
          <a:ln xmlns:a="http://schemas.openxmlformats.org/drawingml/2006/main">
            <a:solidFill>
              <a:srgbClr val="1D6B52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</a:t>
            </a:r>
            <a:endParaRPr sz="12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F43AEA7D-690F-42AC-8590-2A79F321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609344"/>
            <a:ext cx="1600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3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원료·제조 후 특성</a:t>
            </a:r>
            <a:endParaRPr sz="103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336852F6-7625-4772-B23B-6D00FBC8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572768"/>
            <a:ext cx="3502152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케라틴 분획·분자량·추출공정과 멸균·보관 후 특성이 유지되는가?</a:t>
            </a:r>
            <a:endParaRPr sz="88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BCEEDF6B-7952-4F4A-8F97-A7166623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248" y="1609344"/>
            <a:ext cx="1417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원료 특성분석·최종제품 비교</a:t>
            </a:r>
            <a:endParaRPr sz="800"/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938C167D-9704-406F-A191-A44FDFFE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2615184"/>
            <a:ext cx="7680960" cy="960120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FFFFFF">
              <a:alpha val="98000"/>
            </a:srgbClr>
          </a:solidFill>
          <a:ln xmlns:a="http://schemas.openxmlformats.org/drawingml/2006/main" w="10160">
            <a:solidFill>
              <a:srgbClr val="D9DEDC"/>
            </a:solidFill>
            <a:prstDash val="solid"/>
          </a:ln>
        </p:spPr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6E5B4044-1C32-4202-A3D6-021DD6E3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2843784"/>
            <a:ext cx="43891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5AA2"/>
          </a:solidFill>
          <a:ln xmlns:a="http://schemas.openxmlformats.org/drawingml/2006/main">
            <a:solidFill>
              <a:srgbClr val="7F5AA2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</a:t>
            </a:r>
            <a:endParaRPr sz="12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0D6D96DD-A823-4DCE-8D70-FDB002B6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743200"/>
            <a:ext cx="1600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3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케라틴 기여도</a:t>
            </a:r>
            <a:endParaRPr sz="103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43166EE6-21B4-4711-A861-DBBF3473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706624"/>
            <a:ext cx="3502152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KheAl이 Alginate+HA 대조조성보다 추가 세포·면역반응을 보이는가?</a:t>
            </a:r>
            <a:endParaRPr sz="88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62D9DE65-D4AC-4496-AA17-B999055E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248" y="2743200"/>
            <a:ext cx="1417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F5"/>
          </a:solidFill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7F5AA2"/>
                </a:solidFill>
                <a:latin typeface="NanumSquare"/>
                <a:ea typeface="NanumSquare"/>
                <a:cs typeface="NanumSquare"/>
              </a:rPr>
              <a:t>KheAl vs KA/HA vs Keratin 단독</a:t>
            </a:r>
            <a:endParaRPr sz="80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95086BDE-E15D-4EE4-9591-EEA4992F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3749040"/>
            <a:ext cx="7680960" cy="960120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FFFFFF">
              <a:alpha val="98000"/>
            </a:srgbClr>
          </a:solidFill>
          <a:ln xmlns:a="http://schemas.openxmlformats.org/drawingml/2006/main" w="10160">
            <a:solidFill>
              <a:srgbClr val="D9DEDC"/>
            </a:solidFill>
            <a:prstDash val="solid"/>
          </a:ln>
        </p:spPr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2E6719A6-5106-46C0-AB6D-7195D155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3977640"/>
            <a:ext cx="43891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E68"/>
          </a:solidFill>
          <a:ln xmlns:a="http://schemas.openxmlformats.org/drawingml/2006/main">
            <a:solidFill>
              <a:srgbClr val="1C3E68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3</a:t>
            </a:r>
            <a:endParaRPr sz="12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C87E2984-8A61-4AEF-B163-B2383775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877056"/>
            <a:ext cx="1600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3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물리적 사용편익</a:t>
            </a:r>
            <a:endParaRPr sz="103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5704C208-74B2-4FF3-951E-2019685E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840480"/>
            <a:ext cx="3502152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흡수·수분유지·도포·잔류·제거·2차 드레싱 사용에서 개선되는가?</a:t>
            </a:r>
            <a:endParaRPr sz="880"/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162BD80D-FD84-4BE1-89F1-BBB087CB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248" y="3877056"/>
            <a:ext cx="1417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1C3E68"/>
                </a:solidFill>
                <a:latin typeface="NanumSquare"/>
                <a:ea typeface="NanumSquare"/>
                <a:cs typeface="NanumSquare"/>
              </a:rPr>
              <a:t>벤치·사용적합성 비교</a:t>
            </a:r>
            <a:endParaRPr sz="800"/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A3362CFE-B074-4B11-A17F-01F52459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4882896"/>
            <a:ext cx="7680960" cy="960120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FFFFFF">
              <a:alpha val="98000"/>
            </a:srgbClr>
          </a:solidFill>
          <a:ln xmlns:a="http://schemas.openxmlformats.org/drawingml/2006/main" w="10160">
            <a:solidFill>
              <a:srgbClr val="D9DEDC"/>
            </a:solidFill>
            <a:prstDash val="solid"/>
          </a:ln>
        </p:spPr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A319096D-B254-4EE5-92CD-1E481773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5111496"/>
            <a:ext cx="43891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B2B"/>
          </a:solidFill>
          <a:ln xmlns:a="http://schemas.openxmlformats.org/drawingml/2006/main">
            <a:solidFill>
              <a:srgbClr val="D98B2B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4</a:t>
            </a:r>
            <a:endParaRPr sz="1200"/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58FDDDC8-03C9-4001-94BC-9ACE2B19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5010912"/>
            <a:ext cx="1600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3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임상 편익</a:t>
            </a:r>
            <a:endParaRPr sz="1030"/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78B298E9-FD6F-4182-845D-3617D678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974336"/>
            <a:ext cx="3502152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재상피화·통증·교체횟수·처치시간·총 사용량에서 차이가 있는가?</a:t>
            </a:r>
            <a:endParaRPr sz="88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88F32DB4-D18B-4214-9442-7E001272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248" y="5010912"/>
            <a:ext cx="1417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DE"/>
          </a:solidFill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D98B2B"/>
                </a:solidFill>
                <a:latin typeface="NanumSquare"/>
                <a:ea typeface="NanumSquare"/>
                <a:cs typeface="NanumSquare"/>
              </a:rPr>
              <a:t>성인 부분층 화상 비교임상</a:t>
            </a:r>
            <a:endParaRPr sz="800"/>
          </a:p>
        </p:txBody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E7A4670-54AB-4443-9802-07ED93A8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035040"/>
            <a:ext cx="7360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권장 주장 순서: 보호·습윤환경(물리적 기능) → 사용편익 → 임상적 성능 → 케라틴의 생물학적 기여</a:t>
            </a:r>
            <a:endParaRPr sz="900"/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DBF76598-2C25-4E8D-BEE5-532FDC1E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28232"/>
            <a:ext cx="1071676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10" b="1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출처: </a:t>
            </a:r>
            <a:r>
              <a:rPr sz="71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xmlns:r="http://schemas.openxmlformats.org/officeDocument/2006/relationships" r:id="R7a814fa57c7742d8"/>
              </a:rPr>
              <a:t>FDA KeraStat K162759</a:t>
            </a:r>
            <a:r>
              <a:rPr sz="71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sz="71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xmlns:r="http://schemas.openxmlformats.org/officeDocument/2006/relationships" r:id="R3310db44366e4ff1"/>
              </a:rPr>
              <a:t>Keratin Macrophage Study</a:t>
            </a:r>
            <a:r>
              <a:rPr sz="71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sz="71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xmlns:r="http://schemas.openxmlformats.org/officeDocument/2006/relationships" r:id="R9851a20105ea4f7b"/>
              </a:rPr>
              <a:t>BioFriends KheAl 제품자료</a:t>
            </a:r>
            <a:endParaRPr sz="710"/>
          </a:p>
        </p:txBody>
      </p:sp>
    </p:spTree>
    <p:extLst>
      <p:ext uri="{BB962C8B-B14F-4D97-AF65-F5344CB8AC3E}">
        <p14:creationId xmlns:p14="http://schemas.microsoft.com/office/powerpoint/2010/main" val="6429916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405E11F9-CBEA-4AA4-AFA0-B7E20624B2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3fc2d673e44c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72C8F49-9069-49B3-A54F-02DA99D5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0352"/>
            <a:ext cx="1101852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국내 4등급 인허가·임상 진입 경로</a:t>
            </a:r>
            <a:endParaRPr sz="23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2825957-2C24-4E5A-85C6-ADF7BED6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14984"/>
            <a:ext cx="10927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흡수성 여부와 사용목적을 고정한 뒤 품질·비임상·GMP·임상을 병렬 준비</a:t>
            </a:r>
            <a:endParaRPr sz="1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3EBCDB1F-E6B8-4880-8AC5-36934C27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864" y="6547104"/>
            <a:ext cx="274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23</a:t>
            </a:r>
            <a:endParaRPr sz="75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9DA465E5-6C7A-4545-B0C1-24B45C5D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19072"/>
            <a:ext cx="1874520" cy="2011680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>
              <a:alpha val="98000"/>
            </a:srgbClr>
          </a:solidFill>
          <a:ln xmlns:a="http://schemas.openxmlformats.org/drawingml/2006/main" w="10160">
            <a:solidFill>
              <a:srgbClr val="D9DEDC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90BF7B9-A9DA-4EC4-B32C-09D211E1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883664"/>
            <a:ext cx="420624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52"/>
          </a:solidFill>
          <a:ln xmlns:a="http://schemas.openxmlformats.org/drawingml/2006/main">
            <a:solidFill>
              <a:srgbClr val="1D6B52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</a:t>
            </a:r>
            <a:endParaRPr sz="12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3D947C9-57AA-4A77-AAE6-4624CA85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450592"/>
            <a:ext cx="1581912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품목·사용목적 확정</a:t>
            </a:r>
            <a:endParaRPr sz="102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13DF8FA-08AA-42B6-AB23-F9595257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944368"/>
            <a:ext cx="158191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B07070.07/08 검토</a:t>
            </a:r>
            <a:endParaRPr sz="820"/>
          </a:p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흡수·분해·사용기간 확정</a:t>
            </a:r>
            <a:endParaRPr sz="82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3E87D955-FBD0-41DD-AB2C-94C0E245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032" y="1719072"/>
            <a:ext cx="1874520" cy="2011680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>
              <a:alpha val="98000"/>
            </a:srgbClr>
          </a:solidFill>
          <a:ln xmlns:a="http://schemas.openxmlformats.org/drawingml/2006/main" w="10160">
            <a:solidFill>
              <a:srgbClr val="D9DEDC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1823AFD6-120E-42D9-8AE3-A5B83CC3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8336" y="1883664"/>
            <a:ext cx="420624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A6F"/>
          </a:solidFill>
          <a:ln xmlns:a="http://schemas.openxmlformats.org/drawingml/2006/main">
            <a:solidFill>
              <a:srgbClr val="2F8A6F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</a:t>
            </a:r>
            <a:endParaRPr sz="12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BF8F950-D97D-4D93-A8B2-6962CDB4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8336" y="2450592"/>
            <a:ext cx="1581912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근거자료 Gap 분석</a:t>
            </a:r>
            <a:endParaRPr sz="102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0BB767E-F12E-42A6-B2BA-26203627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8336" y="2944368"/>
            <a:ext cx="158191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성능·생물학적 안전성</a:t>
            </a:r>
            <a:endParaRPr sz="820"/>
          </a:p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멸균·포장·안정성</a:t>
            </a:r>
            <a:endParaRPr sz="82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9A7D3B3E-BF51-49AD-AB65-DCBCB05C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24" y="1719072"/>
            <a:ext cx="1874520" cy="2011680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>
              <a:alpha val="98000"/>
            </a:srgbClr>
          </a:solidFill>
          <a:ln xmlns:a="http://schemas.openxmlformats.org/drawingml/2006/main" w="10160">
            <a:solidFill>
              <a:srgbClr val="D9DEDC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219E457F-C82B-40B2-906D-6CD30EB4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1883664"/>
            <a:ext cx="420624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E68"/>
          </a:solidFill>
          <a:ln xmlns:a="http://schemas.openxmlformats.org/drawingml/2006/main">
            <a:solidFill>
              <a:srgbClr val="1C3E68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3</a:t>
            </a:r>
            <a:endParaRPr sz="12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992CA4D-96DE-4F04-98A5-2FDA3476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2450592"/>
            <a:ext cx="1581912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임상시험계획</a:t>
            </a:r>
            <a:endParaRPr sz="102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E57A46E5-C249-438D-AB0F-5626CFFC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2944368"/>
            <a:ext cx="158191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대조군·평가변수·표본수</a:t>
            </a:r>
            <a:endParaRPr sz="820"/>
          </a:p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기관·예산 확정</a:t>
            </a:r>
            <a:endParaRPr sz="82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272EE1CD-E10C-499C-BDED-D43A6F3A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816" y="1719072"/>
            <a:ext cx="1874520" cy="2011680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>
              <a:alpha val="98000"/>
            </a:srgbClr>
          </a:solidFill>
          <a:ln xmlns:a="http://schemas.openxmlformats.org/drawingml/2006/main" w="10160">
            <a:solidFill>
              <a:srgbClr val="D9DEDC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A14F2A4-7FA7-4F47-9A8D-E317BB12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883664"/>
            <a:ext cx="420624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5AA2"/>
          </a:solidFill>
          <a:ln xmlns:a="http://schemas.openxmlformats.org/drawingml/2006/main">
            <a:solidFill>
              <a:srgbClr val="7F5AA2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4</a:t>
            </a:r>
            <a:endParaRPr sz="12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51D926B-0D31-4CEF-A13E-5E7735FB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450592"/>
            <a:ext cx="1581912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MFDS·IRB 승인</a:t>
            </a:r>
            <a:endParaRPr sz="102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42621E25-1D86-4271-A4AC-795E386F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944368"/>
            <a:ext cx="158191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임상시험계획 승인</a:t>
            </a:r>
            <a:endParaRPr sz="820"/>
          </a:p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IRB·보험·계약</a:t>
            </a:r>
            <a:endParaRPr sz="82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78A3E3C4-F8B0-476D-894E-37111157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208" y="1719072"/>
            <a:ext cx="1874520" cy="2011680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>
              <a:alpha val="98000"/>
            </a:srgbClr>
          </a:solidFill>
          <a:ln xmlns:a="http://schemas.openxmlformats.org/drawingml/2006/main" w="10160">
            <a:solidFill>
              <a:srgbClr val="D9DEDC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EF0F3284-76B1-4B5C-A95E-52B1A9BF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512" y="1883664"/>
            <a:ext cx="420624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B2B"/>
          </a:solidFill>
          <a:ln xmlns:a="http://schemas.openxmlformats.org/drawingml/2006/main">
            <a:solidFill>
              <a:srgbClr val="D98B2B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5</a:t>
            </a:r>
            <a:endParaRPr sz="12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FEB46FB5-4359-4786-9CBD-C8E3DA7B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512" y="2450592"/>
            <a:ext cx="1581912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임상 수행·분석</a:t>
            </a:r>
            <a:endParaRPr sz="102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5710612C-0EE6-4C10-8E79-8BF38364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512" y="2944368"/>
            <a:ext cx="158191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등록·추적·데이터확정</a:t>
            </a:r>
            <a:endParaRPr sz="820"/>
          </a:p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통계·최종보고서</a:t>
            </a:r>
            <a:endParaRPr sz="82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E55369C2-96B4-42C6-AB2C-C156AC50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719072"/>
            <a:ext cx="1143000" cy="2011680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FFFFF">
              <a:alpha val="98000"/>
            </a:srgbClr>
          </a:solidFill>
          <a:ln xmlns:a="http://schemas.openxmlformats.org/drawingml/2006/main" w="10160">
            <a:solidFill>
              <a:srgbClr val="D9DEDC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303AD3C3-A21D-49B5-8DF4-4F13CC09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1904" y="1883664"/>
            <a:ext cx="420624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4A"/>
          </a:solidFill>
          <a:ln xmlns:a="http://schemas.openxmlformats.org/drawingml/2006/main">
            <a:solidFill>
              <a:srgbClr val="B84A4A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6</a:t>
            </a:r>
            <a:endParaRPr sz="12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DEB67216-541F-4342-8D6A-0E969268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1904" y="2450592"/>
            <a:ext cx="850392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허가</a:t>
            </a:r>
            <a:endParaRPr sz="102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58625342-08E9-49E3-B2C7-E731E6EA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1904" y="2944368"/>
            <a:ext cx="85039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기술문서</a:t>
            </a:r>
            <a:endParaRPr sz="820"/>
          </a:p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GMP</a:t>
            </a:r>
            <a:endParaRPr sz="820"/>
          </a:p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품목허가</a:t>
            </a:r>
            <a:endParaRPr sz="82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5156FD86-F290-4C91-974A-AFB83B22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304" y="2706624"/>
            <a:ext cx="91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DB5AB"/>
            </a:solidFill>
            <a:prstDash val="solid"/>
            <a:tailEnd type="triangle"/>
          </a:ln>
        </p:spPr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1910F865-7357-422E-B882-CEF5F7FE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696" y="2706624"/>
            <a:ext cx="91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DB5AB"/>
            </a:solidFill>
            <a:prstDash val="solid"/>
            <a:tailEnd type="triangle"/>
          </a:ln>
        </p:spPr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8FE1098B-49D9-4775-953F-4B187D34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706624"/>
            <a:ext cx="91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DB5AB"/>
            </a:solidFill>
            <a:prstDash val="solid"/>
            <a:tailEnd type="triangle"/>
          </a:ln>
        </p:spPr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79E8CE3F-CFE0-4873-8CEE-629F0FE2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706624"/>
            <a:ext cx="91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DB5AB"/>
            </a:solidFill>
            <a:prstDash val="solid"/>
            <a:tailEnd type="triangle"/>
          </a:ln>
        </p:spPr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9E9B054F-D6E8-472E-B35A-D11C66E6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2706624"/>
            <a:ext cx="91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DB5AB"/>
            </a:solidFill>
            <a:prstDash val="solid"/>
            <a:tailEnd type="triangle"/>
          </a:ln>
        </p:spPr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B7BA6B2D-8D6C-4CAC-90BB-3D6CEA4E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59936"/>
            <a:ext cx="11109960" cy="1618488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EAF3EF">
              <a:alpha val="98000"/>
            </a:srgbClr>
          </a:solidFill>
          <a:ln xmlns:a="http://schemas.openxmlformats.org/drawingml/2006/main" w="10160">
            <a:solidFill>
              <a:srgbClr val="BCD2C9"/>
            </a:solidFill>
            <a:prstDash val="solid"/>
          </a:ln>
        </p:spPr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E21DE084-A0ED-4D93-A136-925CA430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79392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병렬 준비가 필요한 세 축</a:t>
            </a:r>
            <a:endParaRPr sz="110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BCA13910-FC32-4582-8A45-CD2F0B5C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064" y="4251960"/>
            <a:ext cx="233172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52"/>
          </a:solidFill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품질·GMP</a:t>
            </a:r>
            <a:endParaRPr sz="105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6C0251F8-30A1-4EF3-AEA0-D2FE931F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064" y="4690872"/>
            <a:ext cx="233172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5000"/>
            </a:srgbClr>
          </a:solidFill>
          <a:ln xmlns:a="http://schemas.openxmlformats.org/drawingml/2006/main" w="6350">
            <a:solidFill>
              <a:srgbClr val="1D6B52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제조공정·원료관리·멸균·포장·안정성</a:t>
            </a:r>
            <a:endParaRPr sz="820"/>
          </a:p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DC863BE2-3FC1-47AF-BAF5-C0B72D51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4251960"/>
            <a:ext cx="233172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E68"/>
          </a:solidFill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비임상·성능</a:t>
            </a:r>
            <a:endParaRPr sz="1050"/>
          </a:p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AAFFB04F-BC86-4D8C-910D-B4F58C96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4690872"/>
            <a:ext cx="233172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5000"/>
            </a:srgbClr>
          </a:solidFill>
          <a:ln xmlns:a="http://schemas.openxmlformats.org/drawingml/2006/main" w="6350">
            <a:solidFill>
              <a:srgbClr val="1C3E68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생물학적 안전성·흡수·수분·도포성·사용적합성</a:t>
            </a:r>
            <a:endParaRPr sz="820"/>
          </a:p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A3230131-67CB-47EF-8684-5B81CEE4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056" y="4251960"/>
            <a:ext cx="233172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5AA2"/>
          </a:solidFill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임상·규제</a:t>
            </a:r>
            <a:endParaRPr sz="1050"/>
          </a:p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4A200CA3-3B17-40DD-9F63-8F09A244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056" y="4690872"/>
            <a:ext cx="233172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5000"/>
            </a:srgbClr>
          </a:solidFill>
          <a:ln xmlns:a="http://schemas.openxmlformats.org/drawingml/2006/main" w="6350">
            <a:solidFill>
              <a:srgbClr val="7F5AA2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MFDS 계획승인·IRB·시험기관·대조군·통계</a:t>
            </a:r>
            <a:endParaRPr sz="820"/>
          </a:p>
        </p:txBody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A38EF004-C1F4-4103-A2B7-81BCDC23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870448"/>
            <a:ext cx="10424160" cy="3017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C"/>
          </a:solidFill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B84A4A"/>
                </a:solidFill>
                <a:latin typeface="NanumSquare"/>
                <a:ea typeface="NanumSquare"/>
                <a:cs typeface="NanumSquare"/>
              </a:rPr>
              <a:t>현재 목표는 4등급 생체유래 창상피복재. 최종 품목분류와 임상자료 요구수준은 흡수성·신규성·동등성 자료로 확인.</a:t>
            </a:r>
            <a:endParaRPr sz="900"/>
          </a:p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86802E1D-CC37-482E-BC62-DCC14CFC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28232"/>
            <a:ext cx="1071676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10" b="1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출처: </a:t>
            </a:r>
            <a:r>
              <a:rPr sz="71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xmlns:r="http://schemas.openxmlformats.org/officeDocument/2006/relationships" r:id="Rf70d1cb5e336406b"/>
              </a:rPr>
              <a:t>의료기기 품목 및 품목별 등급 규정 (2026-18호)</a:t>
            </a:r>
            <a:r>
              <a:rPr sz="71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sz="71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xmlns:r="http://schemas.openxmlformats.org/officeDocument/2006/relationships" r:id="Re4b8a4799ead40fc"/>
              </a:rPr>
              <a:t>의료기기법 시행규칙</a:t>
            </a:r>
            <a:endParaRPr sz="710"/>
          </a:p>
        </p:txBody>
      </p:sp>
    </p:spTree>
    <p:extLst>
      <p:ext uri="{BB962C8B-B14F-4D97-AF65-F5344CB8AC3E}">
        <p14:creationId xmlns:p14="http://schemas.microsoft.com/office/powerpoint/2010/main" val="143868240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EB051FCB-ADF3-470F-8F1E-95A2516CB1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bd602aa6ee4d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4801B03B-D73D-4BC7-A968-18804651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0352"/>
            <a:ext cx="1101852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국내 허가용 임상시험 설계안</a:t>
            </a:r>
            <a:endParaRPr sz="23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857205DF-62C4-4D8A-92B0-41014FA3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14984"/>
            <a:ext cx="10927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60명은 예산 시나리오이며 통계적 표본수는 프로토콜 확정 후 산출</a:t>
            </a:r>
            <a:endParaRPr sz="1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4826A9C-EE28-4AB8-AD46-F831B74F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864" y="6547104"/>
            <a:ext cx="274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24</a:t>
            </a:r>
            <a:endParaRPr sz="75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B7888229-585A-4318-8588-3E55414C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89888"/>
            <a:ext cx="3611880" cy="201168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>
              <a:alpha val="98000"/>
            </a:srgbClr>
          </a:solidFill>
          <a:ln xmlns:a="http://schemas.openxmlformats.org/drawingml/2006/main" w="10160">
            <a:solidFill>
              <a:srgbClr val="D9DEDC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44FCAF95-73A4-4FC2-894B-4F5EB11B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72768"/>
            <a:ext cx="31546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52"/>
          </a:solidFill>
          <a:ln xmlns:a="http://schemas.openxmlformats.org/drawingml/2006/main">
            <a:solidFill>
              <a:srgbClr val="1D6B52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대상 환자</a:t>
            </a:r>
            <a:endParaRPr sz="10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67039ED-A4C4-4596-9915-D681DDF0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03120"/>
            <a:ext cx="315468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성인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감염이 조절된 부분층 화상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3도 화상·활동성 감염 제외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AEF5FE0-97F0-4455-A8FC-14F766B3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98648"/>
            <a:ext cx="3154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9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초기 적응증을 좁혀 모집·평가 변동을 줄임</a:t>
            </a:r>
            <a:endParaRPr sz="79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373F519-9257-41E7-872A-9C44C2AD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536" y="1389888"/>
            <a:ext cx="3611880" cy="201168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>
              <a:alpha val="98000"/>
            </a:srgbClr>
          </a:solidFill>
          <a:ln xmlns:a="http://schemas.openxmlformats.org/drawingml/2006/main" w="10160">
            <a:solidFill>
              <a:srgbClr val="D9DEDC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0531815-7B51-4BAC-8D96-DF7E57E8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1572768"/>
            <a:ext cx="31546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E68"/>
          </a:solidFill>
          <a:ln xmlns:a="http://schemas.openxmlformats.org/drawingml/2006/main">
            <a:solidFill>
              <a:srgbClr val="1C3E68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시험 구조</a:t>
            </a:r>
            <a:endParaRPr sz="10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6096C31A-ECB6-4714-974D-071F3D0D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2103120"/>
            <a:ext cx="315468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2기관 · 무작위 · 활성대조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총 60명 목표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기관별 모집가능성 사전조사</a:t>
            </a:r>
            <a:endParaRPr sz="10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AC62E8C-75AF-48E1-A23F-0D1D7FD5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2898648"/>
            <a:ext cx="3154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9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대조군은 비항균 표준 습윤드레싱 또는 기관 표준처치로 확정</a:t>
            </a:r>
            <a:endParaRPr sz="79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FEF5782-2491-4D92-B405-5611E67E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1389888"/>
            <a:ext cx="3611880" cy="201168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>
              <a:alpha val="98000"/>
            </a:srgbClr>
          </a:solidFill>
          <a:ln xmlns:a="http://schemas.openxmlformats.org/drawingml/2006/main" w="10160">
            <a:solidFill>
              <a:srgbClr val="D9DEDC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E88A4CF-8010-401A-A8D3-0F2D02FC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1572768"/>
            <a:ext cx="31546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5AA2"/>
          </a:solidFill>
          <a:ln xmlns:a="http://schemas.openxmlformats.org/drawingml/2006/main">
            <a:solidFill>
              <a:srgbClr val="7F5AA2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방문 일정</a:t>
            </a:r>
            <a:endParaRPr sz="10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B7F6BE4-2DD5-45FC-98FE-F1C2B554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2103120"/>
            <a:ext cx="315468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Screening / Day 1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Day 7 / Day 14 / Day 21 또는 치유</a:t>
            </a:r>
            <a:endParaRPr sz="10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F4795B68-1E42-489D-8159-E2F3C9FA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2898648"/>
            <a:ext cx="3154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9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장기 흉터평가를 추가하면 비용·기간이 별도 증가</a:t>
            </a:r>
            <a:endParaRPr sz="79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3619A0A7-0CDB-43CA-B04B-B806E35D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639312"/>
            <a:ext cx="11183112" cy="2176272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FFFFFF">
              <a:alpha val="98000"/>
            </a:srgbClr>
          </a:solidFill>
          <a:ln xmlns:a="http://schemas.openxmlformats.org/drawingml/2006/main" w="10160">
            <a:solidFill>
              <a:srgbClr val="D9DEDC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50985F9-48E7-4A0F-9826-099702B3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858768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평가변수</a:t>
            </a:r>
            <a:endParaRPr sz="11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493A2CE4-B45C-4B4C-B815-C7B97428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3794760"/>
            <a:ext cx="56692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52"/>
          </a:solidFill>
          <a:ln xmlns:a="http://schemas.openxmlformats.org/drawingml/2006/main">
            <a:solidFill>
              <a:srgbClr val="1D6B52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1차</a:t>
            </a:r>
            <a:endParaRPr sz="9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9C7BF62C-B019-4709-B260-E157ABC0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4224528"/>
            <a:ext cx="208483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6"/>
          </a:solidFill>
          <a:ln xmlns:a="http://schemas.openxmlformats.org/drawingml/2006/main" w="6350">
            <a:solidFill>
              <a:srgbClr val="E0E5E3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4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완전 재상피화까지의 시간</a:t>
            </a:r>
            <a:endParaRPr sz="94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2269E2E8-A7BD-4711-BAC6-8AE96B3B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4754880"/>
            <a:ext cx="208483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또는 사전 지정 시점의 완전 치유율</a:t>
            </a:r>
            <a:endParaRPr sz="8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80319617-8CF2-4A98-B5CF-C9A7DE83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56692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E68"/>
          </a:solidFill>
          <a:ln xmlns:a="http://schemas.openxmlformats.org/drawingml/2006/main">
            <a:solidFill>
              <a:srgbClr val="1C3E68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2차</a:t>
            </a:r>
            <a:endParaRPr sz="9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A1D0525-1001-44A5-A605-66A16F47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4224528"/>
            <a:ext cx="208483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6"/>
          </a:solidFill>
          <a:ln xmlns:a="http://schemas.openxmlformats.org/drawingml/2006/main" w="6350">
            <a:solidFill>
              <a:srgbClr val="E0E5E3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4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교체 시 통증·교체횟수</a:t>
            </a:r>
            <a:endParaRPr sz="94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46EC296D-646E-4EAF-B403-437E2011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4754880"/>
            <a:ext cx="208483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처치시간·사용량·2차 드레싱</a:t>
            </a:r>
            <a:endParaRPr sz="8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F225091B-FE0F-48BB-A857-4784CDE6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794760"/>
            <a:ext cx="56692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4A"/>
          </a:solidFill>
          <a:ln xmlns:a="http://schemas.openxmlformats.org/drawingml/2006/main">
            <a:solidFill>
              <a:srgbClr val="B84A4A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안전성</a:t>
            </a:r>
            <a:endParaRPr sz="9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6FA79FFE-59B1-4F0B-AB44-8A618BD8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4224528"/>
            <a:ext cx="208483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6"/>
          </a:solidFill>
          <a:ln xmlns:a="http://schemas.openxmlformats.org/drawingml/2006/main" w="6350">
            <a:solidFill>
              <a:srgbClr val="E0E5E3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4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국소 이상반응·감염</a:t>
            </a:r>
            <a:endParaRPr sz="94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73131A45-6189-40A4-80C6-C62EDBA1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4754880"/>
            <a:ext cx="208483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추가 처치·중도중단·중대한 이상사례</a:t>
            </a:r>
            <a:endParaRPr sz="80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0645974C-FFC6-47AE-BF0A-CBED5487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94760"/>
            <a:ext cx="566928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B2B"/>
          </a:solidFill>
          <a:ln xmlns:a="http://schemas.openxmlformats.org/drawingml/2006/main">
            <a:solidFill>
              <a:srgbClr val="D98B2B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경제성</a:t>
            </a:r>
            <a:endParaRPr sz="90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FC8382E9-CC60-4C44-8B04-864786EE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24528"/>
            <a:ext cx="208483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6"/>
          </a:solidFill>
          <a:ln xmlns:a="http://schemas.openxmlformats.org/drawingml/2006/main" w="6350">
            <a:solidFill>
              <a:srgbClr val="E0E5E3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4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환자당 총 처치비</a:t>
            </a:r>
            <a:endParaRPr sz="94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C047E8D8-42EB-4A58-B22A-F9BD09F4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754880"/>
            <a:ext cx="208483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제품+2차 드레싱+인력+폐기량</a:t>
            </a:r>
            <a:endParaRPr sz="80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2FDB49CF-6F92-43F9-A94E-C3376028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31536"/>
            <a:ext cx="1049731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C"/>
          </a:solidFill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80" b="1">
                <a:solidFill>
                  <a:srgbClr val="B84A4A"/>
                </a:solidFill>
                <a:latin typeface="NanumSquare"/>
                <a:ea typeface="NanumSquare"/>
                <a:cs typeface="NanumSquare"/>
              </a:rPr>
              <a:t>KeraStat 화상시험 교훈: 계획 30명 중 14명 등록 후 모집부진으로 종료 → 계약 전 환자수 검증과 예비 feasibility 단계 필요</a:t>
            </a:r>
            <a:endParaRPr sz="880"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D44ECCBE-18DB-4C59-8EDC-1A4ADEE8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28232"/>
            <a:ext cx="1071676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10" b="1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출처: </a:t>
            </a:r>
            <a:r>
              <a:rPr sz="71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xmlns:r="http://schemas.openxmlformats.org/officeDocument/2006/relationships" r:id="R69bbdcd8c0824846"/>
              </a:rPr>
              <a:t>ClinicalTrials.gov NCT03564795</a:t>
            </a:r>
            <a:r>
              <a:rPr sz="71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sz="71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xmlns:r="http://schemas.openxmlformats.org/officeDocument/2006/relationships" r:id="R7380b4c9e6f0457a"/>
              </a:rPr>
              <a:t>KeraStat Burn Protocol</a:t>
            </a:r>
            <a:endParaRPr sz="710"/>
          </a:p>
        </p:txBody>
      </p:sp>
    </p:spTree>
    <p:extLst>
      <p:ext uri="{BB962C8B-B14F-4D97-AF65-F5344CB8AC3E}">
        <p14:creationId xmlns:p14="http://schemas.microsoft.com/office/powerpoint/2010/main" val="20003433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4614E3A7-091B-44AC-9236-9EAAB2C437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df51d0ac7146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72573429-C7E2-41BC-99A1-180C0F8A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0352"/>
            <a:ext cx="1101852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국가별 임상비용 비교</a:t>
            </a:r>
            <a:endParaRPr sz="23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D689113-513C-44CB-9701-928B1C1C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14984"/>
            <a:ext cx="10927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멕시코는 실제 견적, 한국·미국은 계획모델 — 규모와 포함범위가 달라 가격순위로 해석하지 않음</a:t>
            </a:r>
            <a:endParaRPr sz="1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03D29FC-C2FE-4490-A7C8-D03D7F47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864" y="6547104"/>
            <a:ext cx="274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25</a:t>
            </a:r>
            <a:endParaRPr sz="75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F65EA2D2-0D66-4F82-92E1-96DD30A8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44752"/>
            <a:ext cx="3429000" cy="4434840"/>
          </a:xfrm>
          <a:prstGeom xmlns:a="http://schemas.openxmlformats.org/drawingml/2006/main" prst="roundRect">
            <a:avLst>
              <a:gd name="adj" fmla="val 4267"/>
            </a:avLst>
          </a:prstGeom>
          <a:solidFill xmlns:a="http://schemas.openxmlformats.org/drawingml/2006/main">
            <a:srgbClr val="FFFFFF">
              <a:alpha val="98000"/>
            </a:srgbClr>
          </a:solidFill>
          <a:ln xmlns:a="http://schemas.openxmlformats.org/drawingml/2006/main" w="10160">
            <a:solidFill>
              <a:srgbClr val="D9DEDC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EA4E8A6-F4BA-49E9-84F3-30E58E4D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664208"/>
            <a:ext cx="2916936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52"/>
          </a:solidFill>
          <a:ln xmlns:a="http://schemas.openxmlformats.org/drawingml/2006/main">
            <a:solidFill>
              <a:srgbClr val="1D6B52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멕시코</a:t>
            </a:r>
            <a:endParaRPr sz="11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D6BD261-932A-430F-9346-26F32ECA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12848"/>
            <a:ext cx="2971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2.31억원</a:t>
            </a:r>
            <a:endParaRPr sz="24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595F1D56-766E-4ADA-A637-87B46CB7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4096661"/>
            <a:ext cx="1143000" cy="493627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6B52"/>
          </a:solidFill>
          <a:ln xmlns:a="http://schemas.openxmlformats.org/drawingml/2006/main" w="12700">
            <a:solidFill>
              <a:srgbClr val="1D6B52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FE784B2-B044-48C3-991C-EC412A46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91456"/>
            <a:ext cx="288036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8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40명 · 1기관 · 5회 방문</a:t>
            </a:r>
            <a:endParaRPr sz="880"/>
          </a:p>
          <a:p xmlns:a="http://schemas.openxmlformats.org/drawingml/2006/main">
            <a:pPr marL="0" indent="0" algn="ctr">
              <a:buNone/>
            </a:pPr>
            <a:r>
              <a:rPr sz="88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CORVIA 제공견적에서 제품등록비 제외</a:t>
            </a:r>
            <a:endParaRPr sz="88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8F2B017-BBD7-4A5E-A0FC-CEFBB436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404104"/>
            <a:ext cx="291693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60">
                <a:solidFill>
                  <a:srgbClr val="B84A4A"/>
                </a:solidFill>
                <a:latin typeface="NanumSquare"/>
                <a:ea typeface="NanumSquare"/>
                <a:cs typeface="NanumSquare"/>
              </a:rPr>
              <a:t>VAT·위원회비·모니터 출장비 별도</a:t>
            </a:r>
            <a:endParaRPr sz="76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78AA9A42-79FF-4093-ACD1-8F48D202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76" y="1444752"/>
            <a:ext cx="3429000" cy="4434840"/>
          </a:xfrm>
          <a:prstGeom xmlns:a="http://schemas.openxmlformats.org/drawingml/2006/main" prst="roundRect">
            <a:avLst>
              <a:gd name="adj" fmla="val 4267"/>
            </a:avLst>
          </a:prstGeom>
          <a:solidFill xmlns:a="http://schemas.openxmlformats.org/drawingml/2006/main">
            <a:srgbClr val="FFFFFF">
              <a:alpha val="98000"/>
            </a:srgbClr>
          </a:solidFill>
          <a:ln xmlns:a="http://schemas.openxmlformats.org/drawingml/2006/main" w="10160">
            <a:solidFill>
              <a:srgbClr val="D9DED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A1A7665-31E9-43B7-9460-4B1DAEDC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1664208"/>
            <a:ext cx="2916936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E68"/>
          </a:solidFill>
          <a:ln xmlns:a="http://schemas.openxmlformats.org/drawingml/2006/main">
            <a:solidFill>
              <a:srgbClr val="1C3E68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한국</a:t>
            </a:r>
            <a:endParaRPr sz="11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BEDF4651-9171-4717-AC43-D6F6AA86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576" y="2212848"/>
            <a:ext cx="2971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C3E68"/>
                </a:solidFill>
                <a:latin typeface="NanumSquare"/>
                <a:ea typeface="NanumSquare"/>
                <a:cs typeface="NanumSquare"/>
              </a:rPr>
              <a:t>5.00억원</a:t>
            </a:r>
            <a:endParaRPr sz="24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5FB21759-22F9-4067-A270-6E47DACE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976" y="3521831"/>
            <a:ext cx="1143000" cy="1068457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3E68"/>
          </a:solidFill>
          <a:ln xmlns:a="http://schemas.openxmlformats.org/drawingml/2006/main" w="12700">
            <a:solidFill>
              <a:srgbClr val="1C3E68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7D5B529-9402-4BA3-B790-6EDBCD7F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296" y="4791456"/>
            <a:ext cx="288036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8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60명 · 2기관 · 5회 방문</a:t>
            </a:r>
            <a:endParaRPr sz="880"/>
          </a:p>
          <a:p xmlns:a="http://schemas.openxmlformats.org/drawingml/2006/main">
            <a:pPr marL="0" indent="0" algn="ctr">
              <a:buNone/>
            </a:pPr>
            <a:r>
              <a:rPr sz="88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국내 임상 완료 목표 예산안</a:t>
            </a:r>
            <a:endParaRPr sz="88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45976D01-11A2-445D-B0AF-A78042C2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5404104"/>
            <a:ext cx="291693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60">
                <a:solidFill>
                  <a:srgbClr val="B84A4A"/>
                </a:solidFill>
                <a:latin typeface="NanumSquare"/>
                <a:ea typeface="NanumSquare"/>
                <a:cs typeface="NanumSquare"/>
              </a:rPr>
              <a:t>공식 IRB·간접비 + 업무량 계획모델</a:t>
            </a:r>
            <a:endParaRPr sz="76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BB3BE0E0-6412-4620-82C4-24C5C7F3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444752"/>
            <a:ext cx="3429000" cy="4434840"/>
          </a:xfrm>
          <a:prstGeom xmlns:a="http://schemas.openxmlformats.org/drawingml/2006/main" prst="roundRect">
            <a:avLst>
              <a:gd name="adj" fmla="val 4267"/>
            </a:avLst>
          </a:prstGeom>
          <a:solidFill xmlns:a="http://schemas.openxmlformats.org/drawingml/2006/main">
            <a:srgbClr val="FFFFFF">
              <a:alpha val="98000"/>
            </a:srgbClr>
          </a:solidFill>
          <a:ln xmlns:a="http://schemas.openxmlformats.org/drawingml/2006/main" w="10160">
            <a:solidFill>
              <a:srgbClr val="D9DEDC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1D8B1969-7CD5-4794-9AD3-5E97C64F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1664208"/>
            <a:ext cx="2916936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5AA2"/>
          </a:solidFill>
          <a:ln xmlns:a="http://schemas.openxmlformats.org/drawingml/2006/main">
            <a:solidFill>
              <a:srgbClr val="7F5AA2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미국</a:t>
            </a:r>
            <a:endParaRPr sz="11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BE9AA55F-11E7-4A7D-8EB1-3C27B647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212848"/>
            <a:ext cx="2971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7F5AA2"/>
                </a:solidFill>
                <a:latin typeface="NanumSquare"/>
                <a:ea typeface="NanumSquare"/>
                <a:cs typeface="NanumSquare"/>
              </a:rPr>
              <a:t>7.36억원</a:t>
            </a:r>
            <a:endParaRPr sz="240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EBD63310-0168-4207-836E-8B12E33E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872" y="3017520"/>
            <a:ext cx="1143000" cy="15727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F5AA2"/>
          </a:solidFill>
          <a:ln xmlns:a="http://schemas.openxmlformats.org/drawingml/2006/main" w="12700">
            <a:solidFill>
              <a:srgbClr val="7F5AA2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E7E03EA5-D3D1-407E-AC2B-D7129625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4791456"/>
            <a:ext cx="288036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8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60명 · 2기관 · 5회 방문</a:t>
            </a:r>
            <a:endParaRPr sz="880"/>
          </a:p>
          <a:p xmlns:a="http://schemas.openxmlformats.org/drawingml/2006/main">
            <a:pPr marL="0" indent="0" algn="ctr">
              <a:buNone/>
            </a:pPr>
            <a:r>
              <a:rPr sz="88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공개 연구지원 단가 기반 모델</a:t>
            </a:r>
            <a:endParaRPr sz="88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503A7FBF-83F4-4342-9979-01016EB2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5404104"/>
            <a:ext cx="291693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60">
                <a:solidFill>
                  <a:srgbClr val="B84A4A"/>
                </a:solidFill>
                <a:latin typeface="NanumSquare"/>
                <a:ea typeface="NanumSquare"/>
                <a:cs typeface="NanumSquare"/>
              </a:rPr>
              <a:t>15% 예비비 포함 · FDA 제출비 제외</a:t>
            </a:r>
            <a:endParaRPr sz="76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B762BA01-6731-45FD-8A71-24A9AD2D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053328"/>
            <a:ext cx="1055217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C"/>
          </a:solidFill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B84A4A"/>
                </a:solidFill>
                <a:latin typeface="NanumSquare"/>
                <a:ea typeface="NanumSquare"/>
                <a:cs typeface="NanumSquare"/>
              </a:rPr>
              <a:t>직접 비교가 아닌 “예산계획 참고”: 멕시코 인원·기관 수가 더 작고, 한국·미국은 동일 가정이지만 확정 견적이 아님</a:t>
            </a:r>
            <a:endParaRPr sz="9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E8C20C9B-E897-4777-A64D-D6E1FD64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28232"/>
            <a:ext cx="1071676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10" b="1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출처: </a:t>
            </a:r>
            <a:r>
              <a:rPr sz="71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xmlns:r="http://schemas.openxmlformats.org/officeDocument/2006/relationships" r:id="R51b4b6b92c9e4ab7"/>
              </a:rPr>
              <a:t>CORVIA COR-COT-25-013 (회사 제공견적)</a:t>
            </a:r>
            <a:r>
              <a:rPr sz="71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sz="71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xmlns:r="http://schemas.openxmlformats.org/officeDocument/2006/relationships" r:id="Rac3b00377b7a4894"/>
              </a:rPr>
              <a:t>Colorado Anschutz 연구지원 단가</a:t>
            </a:r>
            <a:r>
              <a:rPr sz="71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sz="71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xmlns:r="http://schemas.openxmlformats.org/officeDocument/2006/relationships" r:id="R2e321bafb3af43cc"/>
              </a:rPr>
              <a:t>University of Virginia Clinical Research Fees</a:t>
            </a:r>
            <a:endParaRPr sz="710"/>
          </a:p>
        </p:txBody>
      </p:sp>
    </p:spTree>
    <p:extLst>
      <p:ext uri="{BB962C8B-B14F-4D97-AF65-F5344CB8AC3E}">
        <p14:creationId xmlns:p14="http://schemas.microsoft.com/office/powerpoint/2010/main" val="122868810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BB158601-DD60-41CC-AD1B-BDF31C48C0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27ac9d32e047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8A58994F-9712-4F77-BB9D-872D0671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0352"/>
            <a:ext cx="1101852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해외 임상비용 상세 — 견적과 공개단가 모델</a:t>
            </a:r>
            <a:endParaRPr sz="23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DF18934-C0C3-4D7D-A209-84BFDB65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14984"/>
            <a:ext cx="10927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멕시코는 40명·1기관 실제 제안서, 미국은 60명·2기관·5회 방문 공개단가 기반 계획모델</a:t>
            </a:r>
            <a:endParaRPr sz="1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CB213A3-B609-4B7D-90F4-91BCC969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864" y="6547104"/>
            <a:ext cx="274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26</a:t>
            </a:r>
            <a:endParaRPr sz="75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AB8C334B-8D2C-455B-82C4-A13A60B6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89888"/>
            <a:ext cx="5394960" cy="4553712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FFFFFF">
              <a:alpha val="98000"/>
            </a:srgbClr>
          </a:solidFill>
          <a:ln xmlns:a="http://schemas.openxmlformats.org/drawingml/2006/main" w="10160">
            <a:solidFill>
              <a:srgbClr val="D9DEDC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D1A74FB-FA7E-499D-8050-36107151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600200"/>
            <a:ext cx="28346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멕시코 CORVIA 제공견적</a:t>
            </a:r>
            <a:endParaRPr sz="12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DC47C67-F0F5-4756-B955-9C3697F7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572768"/>
            <a:ext cx="1353312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52"/>
          </a:solidFill>
          <a:ln xmlns:a="http://schemas.openxmlformats.org/drawingml/2006/main">
            <a:solidFill>
              <a:srgbClr val="1D6B52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40명 · 1기관</a:t>
            </a:r>
            <a:endParaRPr sz="9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F2D53CB-7C39-448D-A2E5-14FD8960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84832"/>
            <a:ext cx="12070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기관 연구비</a:t>
            </a:r>
            <a:endParaRPr sz="88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7FB4939-8A52-4F15-90AC-BD668B65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2084832"/>
            <a:ext cx="196596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F0EF"/>
          </a:solidFill>
          <a:ln xmlns:a="http://schemas.openxmlformats.org/drawingml/2006/main" w="12700">
            <a:solidFill>
              <a:srgbClr val="EDF0EF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E21BD839-7419-4EF8-8CC5-5BB88999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2084832"/>
            <a:ext cx="1816547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6B52"/>
          </a:solidFill>
          <a:ln xmlns:a="http://schemas.openxmlformats.org/drawingml/2006/main" w="12700">
            <a:solidFill>
              <a:srgbClr val="1D6B52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5C7AB3DE-5E31-471C-9D53-923F767B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2" y="2084832"/>
            <a:ext cx="5669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1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$73.9k</a:t>
            </a:r>
            <a:endParaRPr sz="81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9340E11-AAB9-4CC2-9327-BB465131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084832"/>
            <a:ext cx="69494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1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1.03억원</a:t>
            </a:r>
            <a:endParaRPr sz="81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0A316A5D-D02D-43DE-8C3F-7A26B8F0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51760"/>
            <a:ext cx="12070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규제·PM</a:t>
            </a:r>
            <a:endParaRPr sz="88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1E096930-D043-40DA-8A5C-2D42F2AA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2651760"/>
            <a:ext cx="196596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F0EF"/>
          </a:solidFill>
          <a:ln xmlns:a="http://schemas.openxmlformats.org/drawingml/2006/main" w="12700">
            <a:solidFill>
              <a:srgbClr val="EDF0EF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0422B785-28C6-4AFE-95A0-9CCD47E5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2651760"/>
            <a:ext cx="1280823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8A6F"/>
          </a:solidFill>
          <a:ln xmlns:a="http://schemas.openxmlformats.org/drawingml/2006/main" w="12700">
            <a:solidFill>
              <a:srgbClr val="2F8A6F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46E3E7B-20B8-4C6F-BF30-D465A104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2" y="2651760"/>
            <a:ext cx="5669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10" b="1">
                <a:solidFill>
                  <a:srgbClr val="2F8A6F"/>
                </a:solidFill>
                <a:latin typeface="NanumSquare"/>
                <a:ea typeface="NanumSquare"/>
                <a:cs typeface="NanumSquare"/>
              </a:rPr>
              <a:t>$52.1k</a:t>
            </a:r>
            <a:endParaRPr sz="81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B1711F3-3D3C-4C1A-B030-B1600EE3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651760"/>
            <a:ext cx="69494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1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0.73억원</a:t>
            </a:r>
            <a:endParaRPr sz="81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933E8C0A-0FD6-495A-A38E-88A596A9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218688"/>
            <a:ext cx="12070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DB·보고·종료</a:t>
            </a:r>
            <a:endParaRPr sz="88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27608FA2-D787-4842-9B01-4EBF4C48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3218688"/>
            <a:ext cx="196596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F0EF"/>
          </a:solidFill>
          <a:ln xmlns:a="http://schemas.openxmlformats.org/drawingml/2006/main" w="12700">
            <a:solidFill>
              <a:srgbClr val="EDF0EF"/>
            </a:solidFill>
            <a:prstDash val="solid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7822417C-8041-421C-A1D9-1F992C3E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3218688"/>
            <a:ext cx="490261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3E68"/>
          </a:solidFill>
          <a:ln xmlns:a="http://schemas.openxmlformats.org/drawingml/2006/main" w="12700">
            <a:solidFill>
              <a:srgbClr val="1C3E68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B3299EC0-BEE4-4CD4-9CD4-4E0C3052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2" y="3218688"/>
            <a:ext cx="5669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10" b="1">
                <a:solidFill>
                  <a:srgbClr val="1C3E68"/>
                </a:solidFill>
                <a:latin typeface="NanumSquare"/>
                <a:ea typeface="NanumSquare"/>
                <a:cs typeface="NanumSquare"/>
              </a:rPr>
              <a:t>$20.0k</a:t>
            </a:r>
            <a:endParaRPr sz="81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D97B8319-9D9B-4692-A1E7-A99BB4FF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18688"/>
            <a:ext cx="69494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1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0.28억원</a:t>
            </a:r>
            <a:endParaRPr sz="81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6165D46C-46CC-4AEC-A90F-8955C1B5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85616"/>
            <a:ext cx="12070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모니터링</a:t>
            </a:r>
            <a:endParaRPr sz="88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CA7D6348-47E1-4FEB-850C-7127F39A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3785616"/>
            <a:ext cx="196596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F0EF"/>
          </a:solidFill>
          <a:ln xmlns:a="http://schemas.openxmlformats.org/drawingml/2006/main" w="12700">
            <a:solidFill>
              <a:srgbClr val="EDF0EF"/>
            </a:solidFill>
            <a:prstDash val="solid"/>
          </a:ln>
        </p:spPr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B522D61-F824-4AA0-B5A9-057506B9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3785616"/>
            <a:ext cx="475025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F5AA2"/>
          </a:solidFill>
          <a:ln xmlns:a="http://schemas.openxmlformats.org/drawingml/2006/main" w="12700">
            <a:solidFill>
              <a:srgbClr val="7F5AA2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C55BA6D4-21E5-4E97-88E1-7A59264C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2" y="3785616"/>
            <a:ext cx="5669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10" b="1">
                <a:solidFill>
                  <a:srgbClr val="7F5AA2"/>
                </a:solidFill>
                <a:latin typeface="NanumSquare"/>
                <a:ea typeface="NanumSquare"/>
                <a:cs typeface="NanumSquare"/>
              </a:rPr>
              <a:t>$19.3k</a:t>
            </a:r>
            <a:endParaRPr sz="81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1E9E1B8F-94CD-4EF0-9429-D6FC448E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785616"/>
            <a:ext cx="69494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1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0.27억원</a:t>
            </a:r>
            <a:endParaRPr sz="81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29440F2B-4550-4FF8-871A-F4BC2FCE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517136"/>
            <a:ext cx="4864608" cy="841248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3EF">
              <a:alpha val="98000"/>
            </a:srgbClr>
          </a:solidFill>
          <a:ln xmlns:a="http://schemas.openxmlformats.org/drawingml/2006/main" w="10160">
            <a:solidFill>
              <a:srgbClr val="BFD4CB"/>
            </a:solidFill>
            <a:prstDash val="solid"/>
          </a:ln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0280D4B4-D577-4E21-8C8E-6642C121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681728"/>
            <a:ext cx="129844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$165.3k</a:t>
            </a:r>
            <a:endParaRPr sz="17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CCB23605-AD03-48D8-9863-3C9A1CB5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64" y="4681728"/>
            <a:ext cx="142646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약 2.31억원</a:t>
            </a:r>
            <a:endParaRPr sz="150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07D555E0-E247-48C0-951E-F1DC9B58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768" y="4617720"/>
            <a:ext cx="15544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60" b="1">
                <a:solidFill>
                  <a:srgbClr val="B84A4A"/>
                </a:solidFill>
                <a:latin typeface="NanumSquare"/>
                <a:ea typeface="NanumSquare"/>
                <a:cs typeface="NanumSquare"/>
              </a:rPr>
              <a:t>제품등록비 제외</a:t>
            </a:r>
            <a:endParaRPr sz="760"/>
          </a:p>
          <a:p xmlns:a="http://schemas.openxmlformats.org/drawingml/2006/main">
            <a:pPr marL="0" indent="0" algn="ctr">
              <a:buNone/>
            </a:pPr>
            <a:r>
              <a:rPr sz="760" b="1">
                <a:solidFill>
                  <a:srgbClr val="B84A4A"/>
                </a:solidFill>
                <a:latin typeface="NanumSquare"/>
                <a:ea typeface="NanumSquare"/>
                <a:cs typeface="NanumSquare"/>
              </a:rPr>
              <a:t>VAT·위원회비·출장비 별도</a:t>
            </a:r>
            <a:endParaRPr sz="76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4B8C18D8-7A23-4820-8EF1-AA38F481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904" y="1389888"/>
            <a:ext cx="5596128" cy="4553712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FFFFFF">
              <a:alpha val="98000"/>
            </a:srgbClr>
          </a:solidFill>
          <a:ln xmlns:a="http://schemas.openxmlformats.org/drawingml/2006/main" w="10160">
            <a:solidFill>
              <a:srgbClr val="D9DEDC"/>
            </a:solidFill>
            <a:prstDash val="solid"/>
          </a:ln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7C9F95C6-5196-45B5-84C3-56FB5666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600200"/>
            <a:ext cx="309067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7F5AA2"/>
                </a:solidFill>
                <a:latin typeface="NanumSquare"/>
                <a:ea typeface="NanumSquare"/>
                <a:cs typeface="NanumSquare"/>
              </a:rPr>
              <a:t>미국 공개단가 기반 8단계 모델</a:t>
            </a:r>
            <a:endParaRPr sz="120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CC94E551-FEC8-4930-9DD1-5BB1EBFB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6688" y="1572768"/>
            <a:ext cx="128016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5AA2"/>
          </a:solidFill>
          <a:ln xmlns:a="http://schemas.openxmlformats.org/drawingml/2006/main">
            <a:solidFill>
              <a:srgbClr val="7F5AA2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60명 · 2기관</a:t>
            </a:r>
            <a:endParaRPr sz="920"/>
          </a:p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09F6F5E5-F98B-4780-B8A2-0FD78CEE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05740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52"/>
          </a:solidFill>
          <a:ln xmlns:a="http://schemas.openxmlformats.org/drawingml/2006/main">
            <a:solidFill>
              <a:srgbClr val="1D6B52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</a:t>
            </a:r>
            <a:endParaRPr sz="95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93061C0F-1412-404B-8750-AEEAC054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2057400"/>
            <a:ext cx="115214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설계·통계</a:t>
            </a:r>
            <a:endParaRPr sz="77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E159FDEE-C265-46F8-BA78-6B12BD2C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848" y="2057400"/>
            <a:ext cx="548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70" b="1">
                <a:solidFill>
                  <a:srgbClr val="7F5AA2"/>
                </a:solidFill>
                <a:latin typeface="NanumSquare"/>
                <a:ea typeface="NanumSquare"/>
                <a:cs typeface="NanumSquare"/>
              </a:rPr>
              <a:t>$37.0k</a:t>
            </a:r>
            <a:endParaRPr sz="770"/>
          </a:p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58D7F8DF-E6B5-4D4F-B1D9-F20BB145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776" y="205740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2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0.52억</a:t>
            </a:r>
            <a:endParaRPr sz="720"/>
          </a:p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68F20749-1FF4-4EC6-829C-CCBD7E03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62432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52"/>
          </a:solidFill>
          <a:ln xmlns:a="http://schemas.openxmlformats.org/drawingml/2006/main">
            <a:solidFill>
              <a:srgbClr val="1D6B52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</a:t>
            </a:r>
            <a:endParaRPr sz="950"/>
          </a:p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184037DE-DC9E-4764-B00E-241C4CBC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2624328"/>
            <a:ext cx="115214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기관 타당성</a:t>
            </a:r>
            <a:endParaRPr sz="770"/>
          </a:p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962B3E63-3720-46DE-BEAA-24C3823C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848" y="2624328"/>
            <a:ext cx="548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70" b="1">
                <a:solidFill>
                  <a:srgbClr val="7F5AA2"/>
                </a:solidFill>
                <a:latin typeface="NanumSquare"/>
                <a:ea typeface="NanumSquare"/>
                <a:cs typeface="NanumSquare"/>
              </a:rPr>
              <a:t>$4.4k</a:t>
            </a:r>
            <a:endParaRPr sz="770"/>
          </a:p>
        </p:txBody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28FDBC69-A431-4AEA-8B11-B8A05500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776" y="26243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2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0.06억</a:t>
            </a:r>
            <a:endParaRPr sz="720"/>
          </a:p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2A8EFFD6-B618-41BD-B88D-7E08992A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19125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52"/>
          </a:solidFill>
          <a:ln xmlns:a="http://schemas.openxmlformats.org/drawingml/2006/main">
            <a:solidFill>
              <a:srgbClr val="1D6B52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3</a:t>
            </a:r>
            <a:endParaRPr sz="950"/>
          </a:p>
        </p:txBody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794EB55D-167B-42C0-96B7-3100B191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3191256"/>
            <a:ext cx="115214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IRB·규제·계약</a:t>
            </a:r>
            <a:endParaRPr sz="770"/>
          </a:p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4D731662-DD06-4CD4-99AC-5C13D8DC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848" y="3191256"/>
            <a:ext cx="548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70" b="1">
                <a:solidFill>
                  <a:srgbClr val="7F5AA2"/>
                </a:solidFill>
                <a:latin typeface="NanumSquare"/>
                <a:ea typeface="NanumSquare"/>
                <a:cs typeface="NanumSquare"/>
              </a:rPr>
              <a:t>$19.8k</a:t>
            </a:r>
            <a:endParaRPr sz="770"/>
          </a:p>
        </p:txBody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E5CE45EE-0125-4643-88CA-9358780A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776" y="319125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2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0.28억</a:t>
            </a:r>
            <a:endParaRPr sz="720"/>
          </a:p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B4CF040D-22BC-49DB-9AE2-C499D31D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7581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52"/>
          </a:solidFill>
          <a:ln xmlns:a="http://schemas.openxmlformats.org/drawingml/2006/main">
            <a:solidFill>
              <a:srgbClr val="1D6B52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4</a:t>
            </a:r>
            <a:endParaRPr sz="950"/>
          </a:p>
        </p:txBody>
      </p:sp>
      <p:sp>
        <p:nvSpPr>
          <p:cNvPr id="49" name="Text 46">
            <a:extLst xmlns:a="http://schemas.openxmlformats.org/drawingml/2006/main">
              <a:ext uri="{FF2B5EF4-FFF2-40B4-BE49-F238E27FC236}">
                <a16:creationId xmlns:a16="http://schemas.microsoft.com/office/drawing/2014/main" id="{5589747B-B68B-4DB3-8CFD-1127C04E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3758184"/>
            <a:ext cx="115214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개시·보험·EDC</a:t>
            </a:r>
            <a:endParaRPr sz="770"/>
          </a:p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B2630311-4880-4926-AD20-686ED1B1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848" y="3758184"/>
            <a:ext cx="548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70" b="1">
                <a:solidFill>
                  <a:srgbClr val="7F5AA2"/>
                </a:solidFill>
                <a:latin typeface="NanumSquare"/>
                <a:ea typeface="NanumSquare"/>
                <a:cs typeface="NanumSquare"/>
              </a:rPr>
              <a:t>$29.0k</a:t>
            </a:r>
            <a:endParaRPr sz="770"/>
          </a:p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187B9262-BE3F-4436-AD99-5AAF5C29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776" y="3758184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2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0.41억</a:t>
            </a:r>
            <a:endParaRPr sz="720"/>
          </a:p>
        </p:txBody>
      </p:sp>
      <p:sp>
        <p:nvSpPr>
          <p:cNvPr id="52" name="Text 49">
            <a:extLst xmlns:a="http://schemas.openxmlformats.org/drawingml/2006/main">
              <a:ext uri="{FF2B5EF4-FFF2-40B4-BE49-F238E27FC236}">
                <a16:creationId xmlns:a16="http://schemas.microsoft.com/office/drawing/2014/main" id="{B9F68AFE-7497-48D3-BFC9-A0ED06AA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205740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E68"/>
          </a:solidFill>
          <a:ln xmlns:a="http://schemas.openxmlformats.org/drawingml/2006/main">
            <a:solidFill>
              <a:srgbClr val="1C3E68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5</a:t>
            </a:r>
            <a:endParaRPr sz="950"/>
          </a:p>
        </p:txBody>
      </p:sp>
      <p:sp>
        <p:nvSpPr>
          <p:cNvPr id="53" name="Text 50">
            <a:extLst xmlns:a="http://schemas.openxmlformats.org/drawingml/2006/main">
              <a:ext uri="{FF2B5EF4-FFF2-40B4-BE49-F238E27FC236}">
                <a16:creationId xmlns:a16="http://schemas.microsoft.com/office/drawing/2014/main" id="{3FE6FB7B-1AB7-4A18-B4B0-B211A0ED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2057400"/>
            <a:ext cx="115214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대상자 방문·처치</a:t>
            </a:r>
            <a:endParaRPr sz="770"/>
          </a:p>
        </p:txBody>
      </p:sp>
      <p:sp>
        <p:nvSpPr>
          <p:cNvPr id="54" name="Text 51">
            <a:extLst xmlns:a="http://schemas.openxmlformats.org/drawingml/2006/main">
              <a:ext uri="{FF2B5EF4-FFF2-40B4-BE49-F238E27FC236}">
                <a16:creationId xmlns:a16="http://schemas.microsoft.com/office/drawing/2014/main" id="{2C33159B-DAC8-4760-9BC8-F6B26EEA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016" y="2057400"/>
            <a:ext cx="548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70" b="1">
                <a:solidFill>
                  <a:srgbClr val="7F5AA2"/>
                </a:solidFill>
                <a:latin typeface="NanumSquare"/>
                <a:ea typeface="NanumSquare"/>
                <a:cs typeface="NanumSquare"/>
              </a:rPr>
              <a:t>$205.2k</a:t>
            </a:r>
            <a:endParaRPr sz="770"/>
          </a:p>
        </p:txBody>
      </p:sp>
      <p:sp>
        <p:nvSpPr>
          <p:cNvPr id="55" name="Text 52">
            <a:extLst xmlns:a="http://schemas.openxmlformats.org/drawingml/2006/main">
              <a:ext uri="{FF2B5EF4-FFF2-40B4-BE49-F238E27FC236}">
                <a16:creationId xmlns:a16="http://schemas.microsoft.com/office/drawing/2014/main" id="{226E358E-C81F-44C7-A284-A5C19A8F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1944" y="205740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2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2.87억</a:t>
            </a:r>
            <a:endParaRPr sz="720"/>
          </a:p>
        </p:txBody>
      </p:sp>
      <p:sp>
        <p:nvSpPr>
          <p:cNvPr id="56" name="Text 53">
            <a:extLst xmlns:a="http://schemas.openxmlformats.org/drawingml/2006/main">
              <a:ext uri="{FF2B5EF4-FFF2-40B4-BE49-F238E27FC236}">
                <a16:creationId xmlns:a16="http://schemas.microsoft.com/office/drawing/2014/main" id="{2363CD20-D8CC-4C53-9572-2D28E69B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262432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E68"/>
          </a:solidFill>
          <a:ln xmlns:a="http://schemas.openxmlformats.org/drawingml/2006/main">
            <a:solidFill>
              <a:srgbClr val="1C3E68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6</a:t>
            </a:r>
            <a:endParaRPr sz="950"/>
          </a:p>
        </p:txBody>
      </p:sp>
      <p:sp>
        <p:nvSpPr>
          <p:cNvPr id="57" name="Text 54">
            <a:extLst xmlns:a="http://schemas.openxmlformats.org/drawingml/2006/main">
              <a:ext uri="{FF2B5EF4-FFF2-40B4-BE49-F238E27FC236}">
                <a16:creationId xmlns:a16="http://schemas.microsoft.com/office/drawing/2014/main" id="{A6B34FC4-4214-4866-A103-EA990A44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2624328"/>
            <a:ext cx="115214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기관 간접비</a:t>
            </a:r>
            <a:endParaRPr sz="770"/>
          </a:p>
        </p:txBody>
      </p:sp>
      <p:sp>
        <p:nvSpPr>
          <p:cNvPr id="58" name="Text 55">
            <a:extLst xmlns:a="http://schemas.openxmlformats.org/drawingml/2006/main">
              <a:ext uri="{FF2B5EF4-FFF2-40B4-BE49-F238E27FC236}">
                <a16:creationId xmlns:a16="http://schemas.microsoft.com/office/drawing/2014/main" id="{8B391C31-FD14-410D-B95A-9EE8F364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016" y="2624328"/>
            <a:ext cx="548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70" b="1">
                <a:solidFill>
                  <a:srgbClr val="7F5AA2"/>
                </a:solidFill>
                <a:latin typeface="NanumSquare"/>
                <a:ea typeface="NanumSquare"/>
                <a:cs typeface="NanumSquare"/>
              </a:rPr>
              <a:t>$57.5k</a:t>
            </a:r>
            <a:endParaRPr sz="770"/>
          </a:p>
        </p:txBody>
      </p:sp>
      <p:sp>
        <p:nvSpPr>
          <p:cNvPr id="59" name="Text 56">
            <a:extLst xmlns:a="http://schemas.openxmlformats.org/drawingml/2006/main">
              <a:ext uri="{FF2B5EF4-FFF2-40B4-BE49-F238E27FC236}">
                <a16:creationId xmlns:a16="http://schemas.microsoft.com/office/drawing/2014/main" id="{47DEAA84-5A5E-4E67-A82F-749F1409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1944" y="26243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2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0.81억</a:t>
            </a:r>
            <a:endParaRPr sz="720"/>
          </a:p>
        </p:txBody>
      </p:sp>
      <p:sp>
        <p:nvSpPr>
          <p:cNvPr id="60" name="Text 57">
            <a:extLst xmlns:a="http://schemas.openxmlformats.org/drawingml/2006/main">
              <a:ext uri="{FF2B5EF4-FFF2-40B4-BE49-F238E27FC236}">
                <a16:creationId xmlns:a16="http://schemas.microsoft.com/office/drawing/2014/main" id="{7654B697-0C1A-4289-8809-872A9726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319125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E68"/>
          </a:solidFill>
          <a:ln xmlns:a="http://schemas.openxmlformats.org/drawingml/2006/main">
            <a:solidFill>
              <a:srgbClr val="1C3E68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7</a:t>
            </a:r>
            <a:endParaRPr sz="950"/>
          </a:p>
        </p:txBody>
      </p:sp>
      <p:sp>
        <p:nvSpPr>
          <p:cNvPr id="61" name="Text 58">
            <a:extLst xmlns:a="http://schemas.openxmlformats.org/drawingml/2006/main">
              <a:ext uri="{FF2B5EF4-FFF2-40B4-BE49-F238E27FC236}">
                <a16:creationId xmlns:a16="http://schemas.microsoft.com/office/drawing/2014/main" id="{67555141-DFBB-4D43-9FFB-78CF771E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191256"/>
            <a:ext cx="115214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모니터링·안전성</a:t>
            </a:r>
            <a:endParaRPr sz="770"/>
          </a:p>
        </p:txBody>
      </p:sp>
      <p:sp>
        <p:nvSpPr>
          <p:cNvPr id="62" name="Text 59">
            <a:extLst xmlns:a="http://schemas.openxmlformats.org/drawingml/2006/main">
              <a:ext uri="{FF2B5EF4-FFF2-40B4-BE49-F238E27FC236}">
                <a16:creationId xmlns:a16="http://schemas.microsoft.com/office/drawing/2014/main" id="{C729B160-BF6F-4BE6-BBFA-1F18FA9B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016" y="3191256"/>
            <a:ext cx="548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70" b="1">
                <a:solidFill>
                  <a:srgbClr val="7F5AA2"/>
                </a:solidFill>
                <a:latin typeface="NanumSquare"/>
                <a:ea typeface="NanumSquare"/>
                <a:cs typeface="NanumSquare"/>
              </a:rPr>
              <a:t>$56.4k</a:t>
            </a:r>
            <a:endParaRPr sz="770"/>
          </a:p>
        </p:txBody>
      </p:sp>
      <p:sp>
        <p:nvSpPr>
          <p:cNvPr id="63" name="Text 60">
            <a:extLst xmlns:a="http://schemas.openxmlformats.org/drawingml/2006/main">
              <a:ext uri="{FF2B5EF4-FFF2-40B4-BE49-F238E27FC236}">
                <a16:creationId xmlns:a16="http://schemas.microsoft.com/office/drawing/2014/main" id="{227C8113-F6AE-40CE-A09A-D9587F91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1944" y="319125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2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0.79억</a:t>
            </a:r>
            <a:endParaRPr sz="720"/>
          </a:p>
        </p:txBody>
      </p:sp>
      <p:sp>
        <p:nvSpPr>
          <p:cNvPr id="64" name="Text 61">
            <a:extLst xmlns:a="http://schemas.openxmlformats.org/drawingml/2006/main">
              <a:ext uri="{FF2B5EF4-FFF2-40B4-BE49-F238E27FC236}">
                <a16:creationId xmlns:a16="http://schemas.microsoft.com/office/drawing/2014/main" id="{052CB81E-7422-4016-BCA3-378EA753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37581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E68"/>
          </a:solidFill>
          <a:ln xmlns:a="http://schemas.openxmlformats.org/drawingml/2006/main">
            <a:solidFill>
              <a:srgbClr val="1C3E68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8</a:t>
            </a:r>
            <a:endParaRPr sz="950"/>
          </a:p>
        </p:txBody>
      </p:sp>
      <p:sp>
        <p:nvSpPr>
          <p:cNvPr id="65" name="Text 62">
            <a:extLst xmlns:a="http://schemas.openxmlformats.org/drawingml/2006/main">
              <a:ext uri="{FF2B5EF4-FFF2-40B4-BE49-F238E27FC236}">
                <a16:creationId xmlns:a16="http://schemas.microsoft.com/office/drawing/2014/main" id="{C5849048-2C23-4E47-ACE0-067FBC05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758184"/>
            <a:ext cx="115214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분석·보고·종료</a:t>
            </a:r>
            <a:endParaRPr sz="770"/>
          </a:p>
        </p:txBody>
      </p:sp>
      <p:sp>
        <p:nvSpPr>
          <p:cNvPr id="66" name="Text 63">
            <a:extLst xmlns:a="http://schemas.openxmlformats.org/drawingml/2006/main">
              <a:ext uri="{FF2B5EF4-FFF2-40B4-BE49-F238E27FC236}">
                <a16:creationId xmlns:a16="http://schemas.microsoft.com/office/drawing/2014/main" id="{69412568-D221-4B28-BC61-3DCE72CF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016" y="3758184"/>
            <a:ext cx="548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70" b="1">
                <a:solidFill>
                  <a:srgbClr val="7F5AA2"/>
                </a:solidFill>
                <a:latin typeface="NanumSquare"/>
                <a:ea typeface="NanumSquare"/>
                <a:cs typeface="NanumSquare"/>
              </a:rPr>
              <a:t>$48.0k</a:t>
            </a:r>
            <a:endParaRPr sz="770"/>
          </a:p>
        </p:txBody>
      </p:sp>
      <p:sp>
        <p:nvSpPr>
          <p:cNvPr id="67" name="Text 64">
            <a:extLst xmlns:a="http://schemas.openxmlformats.org/drawingml/2006/main">
              <a:ext uri="{FF2B5EF4-FFF2-40B4-BE49-F238E27FC236}">
                <a16:creationId xmlns:a16="http://schemas.microsoft.com/office/drawing/2014/main" id="{30C12A2D-5FAA-46A4-BBCC-97E2E731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1944" y="3758184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2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0.67억</a:t>
            </a:r>
            <a:endParaRPr sz="720"/>
          </a:p>
        </p:txBody>
      </p:sp>
      <p:sp>
        <p:nvSpPr>
          <p:cNvPr id="68" name="Shape 65">
            <a:extLst xmlns:a="http://schemas.openxmlformats.org/drawingml/2006/main">
              <a:ext uri="{FF2B5EF4-FFF2-40B4-BE49-F238E27FC236}">
                <a16:creationId xmlns:a16="http://schemas.microsoft.com/office/drawing/2014/main" id="{E65C9E74-3486-499B-9139-58B9C260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4517136"/>
            <a:ext cx="5029200" cy="841248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1EDF5">
              <a:alpha val="98000"/>
            </a:srgbClr>
          </a:solidFill>
          <a:ln xmlns:a="http://schemas.openxmlformats.org/drawingml/2006/main" w="10160">
            <a:solidFill>
              <a:srgbClr val="D4C5E1"/>
            </a:solidFill>
            <a:prstDash val="solid"/>
          </a:ln>
        </p:spPr>
      </p:sp>
      <p:sp>
        <p:nvSpPr>
          <p:cNvPr id="69" name="Text 66">
            <a:extLst xmlns:a="http://schemas.openxmlformats.org/drawingml/2006/main">
              <a:ext uri="{FF2B5EF4-FFF2-40B4-BE49-F238E27FC236}">
                <a16:creationId xmlns:a16="http://schemas.microsoft.com/office/drawing/2014/main" id="{6C6178D4-72E7-4E08-81A1-FEB6D055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4663440"/>
            <a:ext cx="1463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7F5AA2"/>
                </a:solidFill>
                <a:latin typeface="NanumSquare"/>
                <a:ea typeface="NanumSquare"/>
                <a:cs typeface="NanumSquare"/>
              </a:rPr>
              <a:t>소계 $457.3k</a:t>
            </a:r>
            <a:endParaRPr sz="1100"/>
          </a:p>
        </p:txBody>
      </p:sp>
      <p:sp>
        <p:nvSpPr>
          <p:cNvPr id="70" name="Text 67">
            <a:extLst xmlns:a="http://schemas.openxmlformats.org/drawingml/2006/main">
              <a:ext uri="{FF2B5EF4-FFF2-40B4-BE49-F238E27FC236}">
                <a16:creationId xmlns:a16="http://schemas.microsoft.com/office/drawing/2014/main" id="{82B3E6F8-696B-4489-B485-1488F93E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663440"/>
            <a:ext cx="171907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+ 예비비 15% $68.6k</a:t>
            </a:r>
            <a:endParaRPr sz="1000"/>
          </a:p>
        </p:txBody>
      </p:sp>
      <p:sp>
        <p:nvSpPr>
          <p:cNvPr id="71" name="Text 68">
            <a:extLst xmlns:a="http://schemas.openxmlformats.org/drawingml/2006/main">
              <a:ext uri="{FF2B5EF4-FFF2-40B4-BE49-F238E27FC236}">
                <a16:creationId xmlns:a16="http://schemas.microsoft.com/office/drawing/2014/main" id="{447A34E1-94BA-42A0-B33B-2A93FF80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8" y="4581144"/>
            <a:ext cx="128016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7F5AA2"/>
                </a:solidFill>
                <a:latin typeface="NanumSquare"/>
                <a:ea typeface="NanumSquare"/>
                <a:cs typeface="NanumSquare"/>
              </a:rPr>
              <a:t>총 $525.9k</a:t>
            </a:r>
            <a:endParaRPr sz="1050"/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7F5AA2"/>
                </a:solidFill>
                <a:latin typeface="NanumSquare"/>
                <a:ea typeface="NanumSquare"/>
                <a:cs typeface="NanumSquare"/>
              </a:rPr>
              <a:t>약 7.36억원</a:t>
            </a:r>
            <a:endParaRPr sz="1050"/>
          </a:p>
        </p:txBody>
      </p:sp>
      <p:sp>
        <p:nvSpPr>
          <p:cNvPr id="72" name="Text 69">
            <a:extLst xmlns:a="http://schemas.openxmlformats.org/drawingml/2006/main">
              <a:ext uri="{FF2B5EF4-FFF2-40B4-BE49-F238E27FC236}">
                <a16:creationId xmlns:a16="http://schemas.microsoft.com/office/drawing/2014/main" id="{CB663D74-648E-4AE8-9D57-9754E903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6053328"/>
            <a:ext cx="1051560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C"/>
          </a:solidFill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B84A4A"/>
                </a:solidFill>
                <a:latin typeface="NanumSquare"/>
                <a:ea typeface="NanumSquare"/>
                <a:cs typeface="NanumSquare"/>
              </a:rPr>
              <a:t>환율 1달러=1,400원 계획값 · FDA 신청/시설등록비 제외 · 국가별 인원·기관·포함범위가 달라 단순 가격순위로 해석하지 않음</a:t>
            </a:r>
            <a:endParaRPr sz="850"/>
          </a:p>
        </p:txBody>
      </p:sp>
      <p:sp>
        <p:nvSpPr>
          <p:cNvPr id="73" name="Text 70">
            <a:extLst xmlns:a="http://schemas.openxmlformats.org/drawingml/2006/main">
              <a:ext uri="{FF2B5EF4-FFF2-40B4-BE49-F238E27FC236}">
                <a16:creationId xmlns:a16="http://schemas.microsoft.com/office/drawing/2014/main" id="{ABF8F56B-BD21-4AB9-8587-5A39A8D9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28232"/>
            <a:ext cx="1071676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10" b="1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출처: </a:t>
            </a:r>
            <a:r>
              <a:rPr sz="71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xmlns:r="http://schemas.openxmlformats.org/officeDocument/2006/relationships" r:id="R295139b307e448aa"/>
              </a:rPr>
              <a:t>CORVIA COR-COT-25-013 (회사 제공견적)</a:t>
            </a:r>
            <a:r>
              <a:rPr sz="71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sz="71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xmlns:r="http://schemas.openxmlformats.org/officeDocument/2006/relationships" r:id="R30e68bae56fc4069"/>
              </a:rPr>
              <a:t>Colorado Anschutz 연구지원 단가</a:t>
            </a:r>
            <a:r>
              <a:rPr sz="71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sz="71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xmlns:r="http://schemas.openxmlformats.org/officeDocument/2006/relationships" r:id="R8effe70ddee54870"/>
              </a:rPr>
              <a:t>University of Virginia Clinical Research Fees</a:t>
            </a:r>
            <a:endParaRPr sz="710"/>
          </a:p>
        </p:txBody>
      </p:sp>
    </p:spTree>
    <p:extLst>
      <p:ext uri="{BB962C8B-B14F-4D97-AF65-F5344CB8AC3E}">
        <p14:creationId xmlns:p14="http://schemas.microsoft.com/office/powerpoint/2010/main" val="133263755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C16CC6F2-06FD-4718-8782-C6D27CCF0F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3dee275af644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ABAC088-0552-40A2-B896-DDB6B1FC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0352"/>
            <a:ext cx="1101852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국내 임상 8단계 수행비 계획</a:t>
            </a:r>
            <a:endParaRPr sz="23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B968AE78-0E26-45E8-B0C3-64E16A3D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14984"/>
            <a:ext cx="10927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성인 60명 · 2기관 · 대상자당 5회 방문 · 12개월 운영 가정</a:t>
            </a:r>
            <a:endParaRPr sz="1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3C9DD4A3-925F-436A-A898-B814DFB7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864" y="6547104"/>
            <a:ext cx="274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27</a:t>
            </a:r>
            <a:endParaRPr sz="75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0866AEC8-A8BC-4855-B3DC-083CF77B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17320"/>
            <a:ext cx="2596896" cy="134416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FFFFFF">
              <a:alpha val="98000"/>
            </a:srgbClr>
          </a:solidFill>
          <a:ln xmlns:a="http://schemas.openxmlformats.org/drawingml/2006/main" w="10160">
            <a:solidFill>
              <a:srgbClr val="D9DEDC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FD84348-0A74-4511-8F9B-38CCF5F2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1563624"/>
            <a:ext cx="420624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52"/>
          </a:solidFill>
          <a:ln xmlns:a="http://schemas.openxmlformats.org/drawingml/2006/main">
            <a:solidFill>
              <a:srgbClr val="1D6B52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</a:t>
            </a:r>
            <a:endParaRPr sz="12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C52116A-7422-4C1D-9ED8-F064DA22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" y="1563624"/>
            <a:ext cx="179222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시험설계·통계</a:t>
            </a:r>
            <a:endParaRPr sz="10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5B8D78B-A892-446B-A91C-4BC20993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" y="1847088"/>
            <a:ext cx="179222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25백만원</a:t>
            </a:r>
            <a:endParaRPr sz="10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37ECA6D-AFE4-44FB-95C0-392EB6FF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2203704"/>
            <a:ext cx="21945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9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Protocol · SAP · 표본수</a:t>
            </a:r>
            <a:endParaRPr sz="79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339BE4B-BD7C-4826-B90D-89D29645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417320"/>
            <a:ext cx="2596896" cy="134416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FFFFFF">
              <a:alpha val="98000"/>
            </a:srgbClr>
          </a:solidFill>
          <a:ln xmlns:a="http://schemas.openxmlformats.org/drawingml/2006/main" w="10160">
            <a:solidFill>
              <a:srgbClr val="D9DEDC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E61EBA02-E501-4A84-A1FB-FB6ADCA6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296" y="1563624"/>
            <a:ext cx="420624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52"/>
          </a:solidFill>
          <a:ln xmlns:a="http://schemas.openxmlformats.org/drawingml/2006/main">
            <a:solidFill>
              <a:srgbClr val="1D6B52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</a:t>
            </a:r>
            <a:endParaRPr sz="12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1AC841C-FEBA-41BB-8EEC-9BFA1817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1563624"/>
            <a:ext cx="179222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기관선정·예산</a:t>
            </a:r>
            <a:endParaRPr sz="105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B507B966-A4DD-4BB8-B08C-63399DE0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1847088"/>
            <a:ext cx="179222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8백만원</a:t>
            </a:r>
            <a:endParaRPr sz="10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D909D7B-4D81-4F45-8DBA-2AD637AB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203704"/>
            <a:ext cx="21945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9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PI · 환자수 · 병원견적</a:t>
            </a:r>
            <a:endParaRPr sz="79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DA85250D-0109-4F81-9DC7-E3E14279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1417320"/>
            <a:ext cx="2596896" cy="134416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FFFFFF">
              <a:alpha val="98000"/>
            </a:srgbClr>
          </a:solidFill>
          <a:ln xmlns:a="http://schemas.openxmlformats.org/drawingml/2006/main" w="10160">
            <a:solidFill>
              <a:srgbClr val="D9DEDC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8EC2966F-8B54-40EB-9E2E-F66B5A10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1563624"/>
            <a:ext cx="420624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52"/>
          </a:solidFill>
          <a:ln xmlns:a="http://schemas.openxmlformats.org/drawingml/2006/main">
            <a:solidFill>
              <a:srgbClr val="1D6B52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3</a:t>
            </a:r>
            <a:endParaRPr sz="12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E79A370D-2057-4669-BE32-0390BF85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5432" y="1563624"/>
            <a:ext cx="179222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MFDS·IRB·계약</a:t>
            </a:r>
            <a:endParaRPr sz="105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578F0A05-61DA-41ED-8745-1A89C0B8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5432" y="1847088"/>
            <a:ext cx="179222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12백만원</a:t>
            </a:r>
            <a:endParaRPr sz="10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76ED3DC1-9CEC-42B9-87A8-053421C7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2203704"/>
            <a:ext cx="21945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9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승인 · 심의 · 보험계약</a:t>
            </a:r>
            <a:endParaRPr sz="79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42C8117E-00F9-4BAE-B9E8-B324222D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417320"/>
            <a:ext cx="2596896" cy="134416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FFFFFF">
              <a:alpha val="98000"/>
            </a:srgbClr>
          </a:solidFill>
          <a:ln xmlns:a="http://schemas.openxmlformats.org/drawingml/2006/main" w="10160">
            <a:solidFill>
              <a:srgbClr val="D9DEDC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534AD3A4-FBCF-4698-800A-05B0DFBD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1563624"/>
            <a:ext cx="420624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52"/>
          </a:solidFill>
          <a:ln xmlns:a="http://schemas.openxmlformats.org/drawingml/2006/main">
            <a:solidFill>
              <a:srgbClr val="1D6B52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4</a:t>
            </a:r>
            <a:endParaRPr sz="12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F81F32DF-BC17-4D32-92A0-2EDB88C1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7504" y="1563624"/>
            <a:ext cx="179222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시험개시</a:t>
            </a:r>
            <a:endParaRPr sz="105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D394ECB-36E9-40B0-9904-EC5F6746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7504" y="1847088"/>
            <a:ext cx="179222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20백만원</a:t>
            </a:r>
            <a:endParaRPr sz="10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299BF250-31A2-40E2-9B20-8B267E31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2203704"/>
            <a:ext cx="21945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9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EDC · 교육 · SIV</a:t>
            </a:r>
            <a:endParaRPr sz="79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55FE8837-F7D4-4894-BA13-7818CF7D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90088"/>
            <a:ext cx="2596896" cy="134416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FFFFFF">
              <a:alpha val="98000"/>
            </a:srgbClr>
          </a:solidFill>
          <a:ln xmlns:a="http://schemas.openxmlformats.org/drawingml/2006/main" w="10160">
            <a:solidFill>
              <a:srgbClr val="D9DEDC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84EA145A-D7FA-421B-93F2-A00B7537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3136392"/>
            <a:ext cx="420624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E68"/>
          </a:solidFill>
          <a:ln xmlns:a="http://schemas.openxmlformats.org/drawingml/2006/main">
            <a:solidFill>
              <a:srgbClr val="1C3E68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5</a:t>
            </a:r>
            <a:endParaRPr sz="12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85199609-76FA-41F3-A3D0-6F492DA7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" y="3136392"/>
            <a:ext cx="179222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선별·등록</a:t>
            </a:r>
            <a:endParaRPr sz="105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4DB84433-D1FB-45F1-BDC0-45C5A835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" y="3419856"/>
            <a:ext cx="179222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C3E68"/>
                </a:solidFill>
                <a:latin typeface="NanumSquare"/>
                <a:ea typeface="NanumSquare"/>
                <a:cs typeface="NanumSquare"/>
              </a:rPr>
              <a:t>45백만원</a:t>
            </a:r>
            <a:endParaRPr sz="100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85288B75-ED2E-40FE-B097-DB9D0DE0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776472"/>
            <a:ext cx="21945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9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60명 선별·동의·배정</a:t>
            </a:r>
            <a:endParaRPr sz="790"/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D89560C-50CD-43B5-977C-D94E5F37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2990088"/>
            <a:ext cx="2596896" cy="134416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FFFFFF">
              <a:alpha val="98000"/>
            </a:srgbClr>
          </a:solidFill>
          <a:ln xmlns:a="http://schemas.openxmlformats.org/drawingml/2006/main" w="10160">
            <a:solidFill>
              <a:srgbClr val="D9DEDC"/>
            </a:solidFill>
            <a:prstDash val="solid"/>
          </a:ln>
        </p:spPr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B8ED50EB-A4CD-4F06-8AE8-24594A96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296" y="3136392"/>
            <a:ext cx="420624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E68"/>
          </a:solidFill>
          <a:ln xmlns:a="http://schemas.openxmlformats.org/drawingml/2006/main">
            <a:solidFill>
              <a:srgbClr val="1C3E68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6</a:t>
            </a:r>
            <a:endParaRPr sz="1200"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FB5BBF1B-B6CE-4423-BD26-9F4D446D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3136392"/>
            <a:ext cx="179222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치료·추적</a:t>
            </a:r>
            <a:endParaRPr sz="1050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E0D521FD-7DAC-4B35-9289-C830A09F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3419856"/>
            <a:ext cx="179222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C3E68"/>
                </a:solidFill>
                <a:latin typeface="NanumSquare"/>
                <a:ea typeface="NanumSquare"/>
                <a:cs typeface="NanumSquare"/>
              </a:rPr>
              <a:t>155백만원</a:t>
            </a:r>
            <a:endParaRPr sz="100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5AB1F782-1339-4983-86CB-3E554239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776472"/>
            <a:ext cx="21945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9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총 300회 방문·창상평가</a:t>
            </a:r>
            <a:endParaRPr sz="790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E21D7750-0B3B-4EE5-8556-37A26794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990088"/>
            <a:ext cx="2596896" cy="134416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FFFFFF">
              <a:alpha val="98000"/>
            </a:srgbClr>
          </a:solidFill>
          <a:ln xmlns:a="http://schemas.openxmlformats.org/drawingml/2006/main" w="10160">
            <a:solidFill>
              <a:srgbClr val="D9DEDC"/>
            </a:solidFill>
            <a:prstDash val="solid"/>
          </a:ln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8CD155E9-4436-4EA4-A2DB-83F67B3C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3136392"/>
            <a:ext cx="420624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E68"/>
          </a:solidFill>
          <a:ln xmlns:a="http://schemas.openxmlformats.org/drawingml/2006/main">
            <a:solidFill>
              <a:srgbClr val="1C3E68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7</a:t>
            </a:r>
            <a:endParaRPr sz="120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2176F135-654A-4F15-8A8C-61B9302E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5432" y="3136392"/>
            <a:ext cx="179222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모니터링·안전성</a:t>
            </a:r>
            <a:endParaRPr sz="1050"/>
          </a:p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50DF674D-61E1-41C2-A6DE-8260C690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5432" y="3419856"/>
            <a:ext cx="179222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C3E68"/>
                </a:solidFill>
                <a:latin typeface="NanumSquare"/>
                <a:ea typeface="NanumSquare"/>
                <a:cs typeface="NanumSquare"/>
              </a:rPr>
              <a:t>80백만원</a:t>
            </a:r>
            <a:endParaRPr sz="1000"/>
          </a:p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F87DAB98-E5D1-4DD8-96F8-A2654F47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3776472"/>
            <a:ext cx="21945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9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PM · SDV · AE · TMF</a:t>
            </a:r>
            <a:endParaRPr sz="790"/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988F4579-C271-481E-BE9F-F8EA0B26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990088"/>
            <a:ext cx="2596896" cy="134416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FFFFFF">
              <a:alpha val="98000"/>
            </a:srgbClr>
          </a:solidFill>
          <a:ln xmlns:a="http://schemas.openxmlformats.org/drawingml/2006/main" w="10160">
            <a:solidFill>
              <a:srgbClr val="D9DEDC"/>
            </a:solidFill>
            <a:prstDash val="solid"/>
          </a:ln>
        </p:spPr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48429B2C-8CFC-4D54-9CBF-099246D5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136392"/>
            <a:ext cx="420624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E68"/>
          </a:solidFill>
          <a:ln xmlns:a="http://schemas.openxmlformats.org/drawingml/2006/main">
            <a:solidFill>
              <a:srgbClr val="1C3E68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8</a:t>
            </a:r>
            <a:endParaRPr sz="1200"/>
          </a:p>
        </p:txBody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6243E60E-CEC1-4D28-8A63-A66EAF2C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7504" y="3136392"/>
            <a:ext cx="179222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분석·CSR·종료</a:t>
            </a:r>
            <a:endParaRPr sz="1050"/>
          </a:p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711FBF7A-1487-4985-8A8D-8832AD58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7504" y="3419856"/>
            <a:ext cx="179222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C3E68"/>
                </a:solidFill>
                <a:latin typeface="NanumSquare"/>
                <a:ea typeface="NanumSquare"/>
                <a:cs typeface="NanumSquare"/>
              </a:rPr>
              <a:t>55백만원</a:t>
            </a:r>
            <a:endParaRPr sz="1000"/>
          </a:p>
        </p:txBody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A5A299B5-77A5-4DB0-ACD6-B8A0F289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3776472"/>
            <a:ext cx="21945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9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DB Lock · 통계 · CSR</a:t>
            </a:r>
            <a:endParaRPr sz="790"/>
          </a:p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13A840B2-FA16-4779-8545-D1B1EF38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00016"/>
            <a:ext cx="1188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8단계 수행비</a:t>
            </a:r>
            <a:endParaRPr sz="950"/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94EB438A-DE76-49BF-8CF8-8F29280C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645152"/>
            <a:ext cx="7059168" cy="4389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F0EF"/>
          </a:solidFill>
          <a:ln xmlns:a="http://schemas.openxmlformats.org/drawingml/2006/main" w="12700">
            <a:solidFill>
              <a:srgbClr val="EDF0EF"/>
            </a:solidFill>
            <a:prstDash val="solid"/>
          </a:ln>
        </p:spPr>
      </p:sp>
      <p:sp>
        <p:nvSpPr>
          <p:cNvPr id="48" name="Shape 45">
            <a:extLst xmlns:a="http://schemas.openxmlformats.org/drawingml/2006/main">
              <a:ext uri="{FF2B5EF4-FFF2-40B4-BE49-F238E27FC236}">
                <a16:creationId xmlns:a16="http://schemas.microsoft.com/office/drawing/2014/main" id="{BD6E2195-17B5-45A4-A685-300BCC10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645152"/>
            <a:ext cx="5650992" cy="4389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6B52"/>
          </a:solidFill>
          <a:ln xmlns:a="http://schemas.openxmlformats.org/drawingml/2006/main" w="12700">
            <a:solidFill>
              <a:srgbClr val="1D6B52"/>
            </a:solidFill>
            <a:prstDash val="solid"/>
          </a:ln>
        </p:spPr>
      </p:sp>
      <p:sp>
        <p:nvSpPr>
          <p:cNvPr id="49" name="Text 46">
            <a:extLst xmlns:a="http://schemas.openxmlformats.org/drawingml/2006/main">
              <a:ext uri="{FF2B5EF4-FFF2-40B4-BE49-F238E27FC236}">
                <a16:creationId xmlns:a16="http://schemas.microsoft.com/office/drawing/2014/main" id="{4D9F082B-A563-4CF5-8445-16A0D55B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18304"/>
            <a:ext cx="10058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4.00억원</a:t>
            </a:r>
            <a:endParaRPr sz="900"/>
          </a:p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9B7A4143-B522-449A-BF77-CB8AF534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2672" y="4645152"/>
            <a:ext cx="1316736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10" b="1">
                <a:solidFill>
                  <a:srgbClr val="1C3E68"/>
                </a:solidFill>
                <a:latin typeface="NanumSquare"/>
                <a:ea typeface="NanumSquare"/>
                <a:cs typeface="NanumSquare"/>
              </a:rPr>
              <a:t>병원 간접비 0.24억</a:t>
            </a:r>
            <a:endParaRPr sz="810"/>
          </a:p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95C70E6A-BC9B-452D-859E-37A4DBE7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712" y="4645152"/>
            <a:ext cx="1316736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DE"/>
          </a:solidFill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90" b="1">
                <a:solidFill>
                  <a:srgbClr val="D98B2B"/>
                </a:solidFill>
                <a:latin typeface="NanumSquare"/>
                <a:ea typeface="NanumSquare"/>
                <a:cs typeface="NanumSquare"/>
              </a:rPr>
              <a:t>계약·VAT 완충 0.21억</a:t>
            </a:r>
            <a:endParaRPr sz="790"/>
          </a:p>
        </p:txBody>
      </p:sp>
      <p:sp>
        <p:nvSpPr>
          <p:cNvPr id="52" name="Text 49">
            <a:extLst xmlns:a="http://schemas.openxmlformats.org/drawingml/2006/main">
              <a:ext uri="{FF2B5EF4-FFF2-40B4-BE49-F238E27FC236}">
                <a16:creationId xmlns:a16="http://schemas.microsoft.com/office/drawing/2014/main" id="{C3B1C907-BF51-41DD-ADBE-5C01987B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752" y="4645152"/>
            <a:ext cx="100584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E68"/>
          </a:solidFill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예비비 0.55억</a:t>
            </a:r>
            <a:endParaRPr sz="800"/>
          </a:p>
        </p:txBody>
      </p:sp>
      <p:sp>
        <p:nvSpPr>
          <p:cNvPr id="53" name="Shape 50">
            <a:extLst xmlns:a="http://schemas.openxmlformats.org/drawingml/2006/main">
              <a:ext uri="{FF2B5EF4-FFF2-40B4-BE49-F238E27FC236}">
                <a16:creationId xmlns:a16="http://schemas.microsoft.com/office/drawing/2014/main" id="{D6594AD2-11E2-4F25-9C6E-13E1BA99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330952"/>
            <a:ext cx="11183112" cy="758952"/>
          </a:xfrm>
          <a:prstGeom xmlns:a="http://schemas.openxmlformats.org/drawingml/2006/main" prst="roundRect">
            <a:avLst>
              <a:gd name="adj" fmla="val 19277"/>
            </a:avLst>
          </a:prstGeom>
          <a:solidFill xmlns:a="http://schemas.openxmlformats.org/drawingml/2006/main">
            <a:srgbClr val="EAF3EF">
              <a:alpha val="98000"/>
            </a:srgbClr>
          </a:solidFill>
          <a:ln xmlns:a="http://schemas.openxmlformats.org/drawingml/2006/main" w="10160">
            <a:solidFill>
              <a:srgbClr val="BDD3CA"/>
            </a:solidFill>
            <a:prstDash val="solid"/>
          </a:ln>
        </p:spPr>
      </p:sp>
      <p:sp>
        <p:nvSpPr>
          <p:cNvPr id="54" name="Text 51">
            <a:extLst xmlns:a="http://schemas.openxmlformats.org/drawingml/2006/main">
              <a:ext uri="{FF2B5EF4-FFF2-40B4-BE49-F238E27FC236}">
                <a16:creationId xmlns:a16="http://schemas.microsoft.com/office/drawing/2014/main" id="{D745690C-D77C-4ADD-91B0-B11F8BC7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513832"/>
            <a:ext cx="1600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총 5.00억원</a:t>
            </a:r>
            <a:endParaRPr sz="1500"/>
          </a:p>
        </p:txBody>
      </p:sp>
      <p:sp>
        <p:nvSpPr>
          <p:cNvPr id="55" name="Text 52">
            <a:extLst xmlns:a="http://schemas.openxmlformats.org/drawingml/2006/main">
              <a:ext uri="{FF2B5EF4-FFF2-40B4-BE49-F238E27FC236}">
                <a16:creationId xmlns:a16="http://schemas.microsoft.com/office/drawing/2014/main" id="{466C6AB8-82DE-4F2E-A1CD-CB7640F0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5495544"/>
            <a:ext cx="596188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수행비 4.00억 + 간접비 0.24억 + 계약·VAT 완충 0.21억 + 예비비 0.55억</a:t>
            </a:r>
            <a:endParaRPr sz="930"/>
          </a:p>
        </p:txBody>
      </p:sp>
      <p:sp>
        <p:nvSpPr>
          <p:cNvPr id="56" name="Text 53">
            <a:extLst xmlns:a="http://schemas.openxmlformats.org/drawingml/2006/main">
              <a:ext uri="{FF2B5EF4-FFF2-40B4-BE49-F238E27FC236}">
                <a16:creationId xmlns:a16="http://schemas.microsoft.com/office/drawing/2014/main" id="{B2E22B73-F891-4F70-BD1E-DBEAD9D7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5495544"/>
            <a:ext cx="276148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60" b="1">
                <a:solidFill>
                  <a:srgbClr val="B84A4A"/>
                </a:solidFill>
                <a:latin typeface="NanumSquare"/>
                <a:ea typeface="NanumSquare"/>
                <a:cs typeface="NanumSquare"/>
              </a:rPr>
              <a:t>계획모델이며 병원·CRO 확정견적 아님</a:t>
            </a:r>
            <a:endParaRPr sz="860"/>
          </a:p>
        </p:txBody>
      </p:sp>
      <p:sp>
        <p:nvSpPr>
          <p:cNvPr id="57" name="Text 54">
            <a:extLst xmlns:a="http://schemas.openxmlformats.org/drawingml/2006/main">
              <a:ext uri="{FF2B5EF4-FFF2-40B4-BE49-F238E27FC236}">
                <a16:creationId xmlns:a16="http://schemas.microsoft.com/office/drawing/2014/main" id="{72E32FFF-C085-4345-8084-4AF7DCCE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28232"/>
            <a:ext cx="1071676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10" b="1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출처: </a:t>
            </a:r>
            <a:r>
              <a:rPr sz="71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xmlns:r="http://schemas.openxmlformats.org/officeDocument/2006/relationships" r:id="R0da2a8f895924d52"/>
              </a:rPr>
              <a:t>한강성심병원 IRB 접수·심의비</a:t>
            </a:r>
            <a:r>
              <a:rPr sz="71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sz="71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xmlns:r="http://schemas.openxmlformats.org/officeDocument/2006/relationships" r:id="R759806dec6514864"/>
              </a:rPr>
              <a:t>한강성심병원 연구비·간접비</a:t>
            </a:r>
            <a:r>
              <a:rPr sz="71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sz="71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xmlns:r="http://schemas.openxmlformats.org/officeDocument/2006/relationships" r:id="R2cf3c79f227e486d"/>
              </a:rPr>
              <a:t>서울대병원 HRPP 심의비</a:t>
            </a:r>
            <a:r>
              <a:rPr sz="71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sz="71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xmlns:r="http://schemas.openxmlformats.org/officeDocument/2006/relationships" r:id="R870e4784dd4947b3"/>
              </a:rPr>
              <a:t>세브란스 IRB 심의비</a:t>
            </a:r>
            <a:endParaRPr sz="710"/>
          </a:p>
        </p:txBody>
      </p:sp>
    </p:spTree>
    <p:extLst>
      <p:ext uri="{BB962C8B-B14F-4D97-AF65-F5344CB8AC3E}">
        <p14:creationId xmlns:p14="http://schemas.microsoft.com/office/powerpoint/2010/main" val="189729260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35ED30D2-F963-431C-81A5-E618A45E77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4c87bd92654a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487DB911-9ADB-4EEF-BF00-CA4B61E1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0352"/>
            <a:ext cx="1101852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5억원으로 가능한 임상 완료범위</a:t>
            </a:r>
            <a:endParaRPr sz="23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14E18F72-0742-423B-84AE-19014F24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14984"/>
            <a:ext cx="10927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현재 조건이 유지되면 임상 수행 종료까지 계획 가능하나 표본수·견적 확정 전 보장은 아님</a:t>
            </a:r>
            <a:endParaRPr sz="1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521B713E-7046-4B64-A9D7-7F4FAE49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864" y="6547104"/>
            <a:ext cx="274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28</a:t>
            </a:r>
            <a:endParaRPr sz="75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BB6258EF-ADEC-456D-9341-E7B11C8E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89888"/>
            <a:ext cx="6400800" cy="4370832"/>
          </a:xfrm>
          <a:prstGeom xmlns:a="http://schemas.openxmlformats.org/drawingml/2006/main" prst="roundRect">
            <a:avLst>
              <a:gd name="adj" fmla="val 3347"/>
            </a:avLst>
          </a:prstGeom>
          <a:solidFill xmlns:a="http://schemas.openxmlformats.org/drawingml/2006/main">
            <a:srgbClr val="FFFFFF">
              <a:alpha val="98000"/>
            </a:srgbClr>
          </a:solidFill>
          <a:ln xmlns:a="http://schemas.openxmlformats.org/drawingml/2006/main" w="10160">
            <a:solidFill>
              <a:srgbClr val="D9DEDC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383EE88-3F64-452D-93AD-BA6B89AD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600200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도달 목표</a:t>
            </a:r>
            <a:endParaRPr sz="12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7D7B56C-C4A1-4B71-8D9A-174874A4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29968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52"/>
          </a:solidFill>
          <a:ln xmlns:a="http://schemas.openxmlformats.org/drawingml/2006/main">
            <a:solidFill>
              <a:srgbClr val="1D6B52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</a:t>
            </a:r>
            <a:endParaRPr sz="11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2B54156-FA44-47C8-8BA0-C7C819E8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029968"/>
            <a:ext cx="507492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6350">
            <a:solidFill>
              <a:srgbClr val="C7D9D1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MFDS·IRB 승인 / 계약 완료</a:t>
            </a:r>
            <a:endParaRPr sz="96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0499E3A-AE92-4FDC-87C8-9F8A05D8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15184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52"/>
          </a:solidFill>
          <a:ln xmlns:a="http://schemas.openxmlformats.org/drawingml/2006/main">
            <a:solidFill>
              <a:srgbClr val="1D6B52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</a:t>
            </a:r>
            <a:endParaRPr sz="11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30F8822-688B-4AF5-97ED-EA04A341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615184"/>
            <a:ext cx="507492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6350">
            <a:solidFill>
              <a:srgbClr val="C7D9D1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2기관 개시·대상자 60명 등록</a:t>
            </a:r>
            <a:endParaRPr sz="96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F5F91EAE-698E-46E6-96F9-9EE78862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20040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52"/>
          </a:solidFill>
          <a:ln xmlns:a="http://schemas.openxmlformats.org/drawingml/2006/main">
            <a:solidFill>
              <a:srgbClr val="1D6B52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3</a:t>
            </a:r>
            <a:endParaRPr sz="11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A61E6D0-331D-4E7E-98EB-28FC2010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200400"/>
            <a:ext cx="507492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6350">
            <a:solidFill>
              <a:srgbClr val="C7D9D1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치료·추적관찰 / 마지막 대상자 방문</a:t>
            </a:r>
            <a:endParaRPr sz="96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E24741B6-924C-4A74-9767-02255765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785616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E68"/>
          </a:solidFill>
          <a:ln xmlns:a="http://schemas.openxmlformats.org/drawingml/2006/main">
            <a:solidFill>
              <a:srgbClr val="1C3E68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4</a:t>
            </a:r>
            <a:endParaRPr sz="11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2239CF59-4708-401D-91D5-FE19475F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785616"/>
            <a:ext cx="507492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6350">
            <a:solidFill>
              <a:srgbClr val="CBD7E5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자료 질의 해결·데이터 확정</a:t>
            </a:r>
            <a:endParaRPr sz="96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D2209B81-7325-4700-8A98-E4296113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370832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E68"/>
          </a:solidFill>
          <a:ln xmlns:a="http://schemas.openxmlformats.org/drawingml/2006/main">
            <a:solidFill>
              <a:srgbClr val="1C3E68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5</a:t>
            </a:r>
            <a:endParaRPr sz="11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E7FEC855-5FA4-4475-B2AF-2423CDAB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370832"/>
            <a:ext cx="507492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6350">
            <a:solidFill>
              <a:srgbClr val="CBD7E5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통계분석·최종 임상시험보고서</a:t>
            </a:r>
            <a:endParaRPr sz="96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17A6805-C5CC-43CF-86C7-932B3C93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956048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E68"/>
          </a:solidFill>
          <a:ln xmlns:a="http://schemas.openxmlformats.org/drawingml/2006/main">
            <a:solidFill>
              <a:srgbClr val="1C3E68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6</a:t>
            </a:r>
            <a:endParaRPr sz="11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8981B61-BC27-404D-B276-697C020A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956048"/>
            <a:ext cx="507492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6350">
            <a:solidFill>
              <a:srgbClr val="CBD7E5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IRB 종료보고·문서보관</a:t>
            </a:r>
            <a:endParaRPr sz="96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25B59A2-BDAE-4B3F-9BCB-ECC4F1AA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5394960"/>
            <a:ext cx="288036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52"/>
          </a:solidFill>
          <a:ln xmlns:a="http://schemas.openxmlformats.org/drawingml/2006/main">
            <a:solidFill>
              <a:srgbClr val="1D6B52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조건부 가능</a:t>
            </a:r>
            <a:endParaRPr sz="11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0A83DC83-D393-4E88-809A-ABE414CF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1389888"/>
            <a:ext cx="4572000" cy="4370832"/>
          </a:xfrm>
          <a:prstGeom xmlns:a="http://schemas.openxmlformats.org/drawingml/2006/main" prst="roundRect">
            <a:avLst>
              <a:gd name="adj" fmla="val 3347"/>
            </a:avLst>
          </a:prstGeom>
          <a:solidFill xmlns:a="http://schemas.openxmlformats.org/drawingml/2006/main">
            <a:srgbClr val="FFFFFF">
              <a:alpha val="98000"/>
            </a:srgbClr>
          </a:solidFill>
          <a:ln xmlns:a="http://schemas.openxmlformats.org/drawingml/2006/main" w="10160">
            <a:solidFill>
              <a:srgbClr val="D9DEDC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C7EA043C-6DC8-4DCF-948B-62E495C1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064" y="1600200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성립 조건</a:t>
            </a:r>
            <a:endParaRPr sz="12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40847498-5453-44CF-B253-6D0E2FCF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2029968"/>
            <a:ext cx="34747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52"/>
          </a:solidFill>
          <a:ln xmlns:a="http://schemas.openxmlformats.org/drawingml/2006/main">
            <a:solidFill>
              <a:srgbClr val="1D6B52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✓</a:t>
            </a:r>
            <a:endParaRPr sz="11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69F5BA51-A4BF-4344-A2EE-60F44CBB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552" y="2029968"/>
            <a:ext cx="349300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비임상·GMP·임상용 제품 출하 준비 완료</a:t>
            </a:r>
            <a:endParaRPr sz="88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66EC3466-A1F4-438D-BCDF-9366D289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2532888"/>
            <a:ext cx="34747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52"/>
          </a:solidFill>
          <a:ln xmlns:a="http://schemas.openxmlformats.org/drawingml/2006/main">
            <a:solidFill>
              <a:srgbClr val="1D6B52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✓</a:t>
            </a:r>
            <a:endParaRPr sz="11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686C40F-8D45-4B94-AF3E-E819DC77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552" y="2532888"/>
            <a:ext cx="349300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성인 60명·2기관·5회 방문 범위 유지</a:t>
            </a:r>
            <a:endParaRPr sz="88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E47A8A6F-54E6-4981-B256-F8AA2202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3035808"/>
            <a:ext cx="34747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52"/>
          </a:solidFill>
          <a:ln xmlns:a="http://schemas.openxmlformats.org/drawingml/2006/main">
            <a:solidFill>
              <a:srgbClr val="1D6B52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✓</a:t>
            </a:r>
            <a:endParaRPr sz="11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AF5CEE56-B3A1-475E-866D-8DB905AC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552" y="3035808"/>
            <a:ext cx="349300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장기 흉터추적은 기본 예산에서 제외</a:t>
            </a:r>
            <a:endParaRPr sz="88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D304812A-FF1E-406A-93D9-18BDCBD7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3538728"/>
            <a:ext cx="34747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52"/>
          </a:solidFill>
          <a:ln xmlns:a="http://schemas.openxmlformats.org/drawingml/2006/main">
            <a:solidFill>
              <a:srgbClr val="1D6B52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✓</a:t>
            </a:r>
            <a:endParaRPr sz="110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FE6BD222-4880-4E0D-87E8-1C34C5FA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552" y="3538728"/>
            <a:ext cx="349300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중대한 변경심의·대규모 추가검사 없음</a:t>
            </a:r>
            <a:endParaRPr sz="88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B560FBB-BF5A-4267-99FB-68F6524E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064" y="4041648"/>
            <a:ext cx="1325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B84A4A"/>
                </a:solidFill>
                <a:latin typeface="NanumSquare"/>
                <a:ea typeface="NanumSquare"/>
                <a:cs typeface="NanumSquare"/>
              </a:rPr>
              <a:t>예산 초과 요인</a:t>
            </a:r>
            <a:endParaRPr sz="110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1141DD74-EE35-4ABE-9144-8F849DFE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4370832"/>
            <a:ext cx="329184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4A"/>
          </a:solidFill>
          <a:ln xmlns:a="http://schemas.openxmlformats.org/drawingml/2006/main">
            <a:solidFill>
              <a:srgbClr val="B84A4A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!</a:t>
            </a:r>
            <a:endParaRPr sz="1000"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6430A9E-2DDA-429E-8D31-DEDBE1E5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552" y="4370832"/>
            <a:ext cx="349300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모집 지연·선별탈락 증가</a:t>
            </a:r>
            <a:endParaRPr sz="840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64620A04-A3CE-4146-BB9E-939B554E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4718304"/>
            <a:ext cx="329184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4A"/>
          </a:solidFill>
          <a:ln xmlns:a="http://schemas.openxmlformats.org/drawingml/2006/main">
            <a:solidFill>
              <a:srgbClr val="B84A4A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!</a:t>
            </a:r>
            <a:endParaRPr sz="100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4486CA75-A815-4E90-BF48-DFEC53BD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552" y="4718304"/>
            <a:ext cx="349300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6~12개월 흉터 추적 추가</a:t>
            </a:r>
            <a:endParaRPr sz="840"/>
          </a:p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952EC7D7-8531-4245-AA2E-7011FA19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5065776"/>
            <a:ext cx="329184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4A"/>
          </a:solidFill>
          <a:ln xmlns:a="http://schemas.openxmlformats.org/drawingml/2006/main">
            <a:solidFill>
              <a:srgbClr val="B84A4A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!</a:t>
            </a:r>
            <a:endParaRPr sz="100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73358AD9-7094-44BD-9930-35003D80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552" y="5065776"/>
            <a:ext cx="349300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대조제품·2차 드레싱·사진판독 증가</a:t>
            </a:r>
            <a:endParaRPr sz="84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D4751A3B-97C8-40BC-BBAA-D80EA379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5413248"/>
            <a:ext cx="329184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4A"/>
          </a:solidFill>
          <a:ln xmlns:a="http://schemas.openxmlformats.org/drawingml/2006/main">
            <a:solidFill>
              <a:srgbClr val="B84A4A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!</a:t>
            </a:r>
            <a:endParaRPr sz="1000"/>
          </a:p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456F997B-7967-4C84-B928-D631638B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552" y="5413248"/>
            <a:ext cx="349300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중대한 이상사례·추가 모니터링</a:t>
            </a:r>
            <a:endParaRPr sz="840"/>
          </a:p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56CA1787-8590-4A83-8B73-E6CE606A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6089904"/>
            <a:ext cx="10497312" cy="283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C"/>
          </a:solidFill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B84A4A"/>
                </a:solidFill>
                <a:latin typeface="NanumSquare"/>
                <a:ea typeface="NanumSquare"/>
                <a:cs typeface="NanumSquare"/>
              </a:rPr>
              <a:t>의사결정: 먼저 통계적 표본수·기관 환자수·동일 범위 비교견적을 확정한 뒤 5억원의 충분성을 최종 판단</a:t>
            </a:r>
            <a:endParaRPr sz="900"/>
          </a:p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483CF6D2-F8E3-4075-8A89-E2541BB0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28232"/>
            <a:ext cx="1071676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10" b="1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출처: </a:t>
            </a:r>
            <a:r>
              <a:rPr sz="71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xmlns:r="http://schemas.openxmlformats.org/officeDocument/2006/relationships" r:id="R9746d0bc2e37448b"/>
              </a:rPr>
              <a:t>한강성심병원 IRB·연구비 기준</a:t>
            </a:r>
            <a:r>
              <a:rPr sz="71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sz="71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xmlns:r="http://schemas.openxmlformats.org/officeDocument/2006/relationships" r:id="R8e3757a0537a4997"/>
              </a:rPr>
              <a:t>C&amp;R Research 공시 — 가격 산정 구조</a:t>
            </a:r>
            <a:endParaRPr sz="710"/>
          </a:p>
        </p:txBody>
      </p:sp>
    </p:spTree>
    <p:extLst>
      <p:ext uri="{BB962C8B-B14F-4D97-AF65-F5344CB8AC3E}">
        <p14:creationId xmlns:p14="http://schemas.microsoft.com/office/powerpoint/2010/main" val="122804517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FB58DF1A-C58F-4ABB-9154-E7E762B0E9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8d1f15c2ed4b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0F4FB72A-F3D6-40F1-8A9E-314DCC98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0352"/>
            <a:ext cx="1101852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임상비 지원사업 — 실제 공고만 반영</a:t>
            </a:r>
            <a:endParaRPr sz="23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6EB7E901-4040-4EC7-BF11-67E7B518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14984"/>
            <a:ext cx="10927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인증·물류지원은 제외하고 환자 임상 또는 의료기관 평가와 직접 연결되는 사업만 표시</a:t>
            </a:r>
            <a:endParaRPr sz="1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22FB63A-4E52-4C20-ADC3-E55E2BB2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864" y="6547104"/>
            <a:ext cx="274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29</a:t>
            </a:r>
            <a:endParaRPr sz="75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03D61EE2-7BC0-40E0-BEF8-06BF8AA3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11183112" cy="1078992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>
              <a:alpha val="98000"/>
            </a:srgbClr>
          </a:solidFill>
          <a:ln xmlns:a="http://schemas.openxmlformats.org/drawingml/2006/main" w="10160">
            <a:solidFill>
              <a:srgbClr val="D9DEDC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9D1D24E-10A9-4371-82C9-376C9F34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1682496"/>
            <a:ext cx="96012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52"/>
          </a:solidFill>
          <a:ln xmlns:a="http://schemas.openxmlformats.org/drawingml/2006/main">
            <a:solidFill>
              <a:srgbClr val="1D6B52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8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2026 종료</a:t>
            </a:r>
            <a:endParaRPr sz="88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46B61F1-6EAB-4AAB-87C8-F41C82CA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512" y="1627632"/>
            <a:ext cx="3246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범부처 첨단 의료기기 R&amp;D 1차</a:t>
            </a:r>
            <a:endParaRPr sz="10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AB2E585-48E7-4DD5-81AC-3C257180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512" y="2029968"/>
            <a:ext cx="32461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KMDF · 2.19–3.9</a:t>
            </a:r>
            <a:endParaRPr sz="8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65DC3EE-5D2C-4FAB-9284-47A121C9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656" y="1664208"/>
            <a:ext cx="1965960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RFP별 지원규모</a:t>
            </a:r>
            <a:endParaRPr sz="95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842EA97B-71C4-4BFF-A54B-46A7C14C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1618488"/>
            <a:ext cx="3913632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7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허가용 국내·국외 임상 유형 포함</a:t>
            </a:r>
            <a:endParaRPr sz="870"/>
          </a:p>
          <a:p xmlns:a="http://schemas.openxmlformats.org/drawingml/2006/main">
            <a:pPr marL="0" indent="0" algn="ctr">
              <a:buNone/>
            </a:pPr>
            <a:r>
              <a:rPr sz="87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임상계획 승인 등 RFP 조건 확인</a:t>
            </a:r>
            <a:endParaRPr sz="87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6CE8E95-1A35-4240-9CA6-9A582574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88920"/>
            <a:ext cx="11183112" cy="1078992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>
              <a:alpha val="98000"/>
            </a:srgbClr>
          </a:solidFill>
          <a:ln xmlns:a="http://schemas.openxmlformats.org/drawingml/2006/main" w="10160">
            <a:solidFill>
              <a:srgbClr val="D9DED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1C04FF90-036C-4159-A03B-0E7CE271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008376"/>
            <a:ext cx="96012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E68"/>
          </a:solidFill>
          <a:ln xmlns:a="http://schemas.openxmlformats.org/drawingml/2006/main">
            <a:solidFill>
              <a:srgbClr val="1C3E68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8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2026 종료</a:t>
            </a:r>
            <a:endParaRPr sz="88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C966D0A7-B248-49BB-8C53-E19093C8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512" y="2953512"/>
            <a:ext cx="3246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범부처 첨단 의료기기 R&amp;D 2차</a:t>
            </a:r>
            <a:endParaRPr sz="105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ADAC719-CD91-4983-8D3A-1DFF2F23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512" y="3355848"/>
            <a:ext cx="32461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KMDF · 신청 6.9–6.29</a:t>
            </a:r>
            <a:endParaRPr sz="8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EB55F9B2-D8DB-4B71-85C1-9597B0A4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656" y="2990088"/>
            <a:ext cx="1965960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1C3E68"/>
                </a:solidFill>
                <a:latin typeface="NanumSquare"/>
                <a:ea typeface="NanumSquare"/>
                <a:cs typeface="NanumSquare"/>
              </a:rPr>
              <a:t>2026-3-1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1C3E68"/>
                </a:solidFill>
                <a:latin typeface="NanumSquare"/>
                <a:ea typeface="NanumSquare"/>
                <a:cs typeface="NanumSquare"/>
              </a:rPr>
              <a:t>임상시험-3</a:t>
            </a:r>
            <a:endParaRPr sz="95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F8FDB953-81B6-4A42-B759-A7B72154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2944368"/>
            <a:ext cx="3913632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7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의료현장 진입 역량 강화</a:t>
            </a:r>
            <a:endParaRPr sz="870"/>
          </a:p>
          <a:p xmlns:a="http://schemas.openxmlformats.org/drawingml/2006/main">
            <a:pPr marL="0" indent="0" algn="ctr">
              <a:buNone/>
            </a:pPr>
            <a:r>
              <a:rPr sz="87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국내 임상시험에 직접 연결</a:t>
            </a:r>
            <a:endParaRPr sz="87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A8675665-547E-49F9-A815-C7C32C8D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14800"/>
            <a:ext cx="11183112" cy="1078992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>
              <a:alpha val="98000"/>
            </a:srgbClr>
          </a:solidFill>
          <a:ln xmlns:a="http://schemas.openxmlformats.org/drawingml/2006/main" w="10160">
            <a:solidFill>
              <a:srgbClr val="D9DEDC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FDB2F88-4F13-4F9B-BA75-D9E57E1C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334256"/>
            <a:ext cx="96012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5AA2"/>
          </a:solidFill>
          <a:ln xmlns:a="http://schemas.openxmlformats.org/drawingml/2006/main">
            <a:solidFill>
              <a:srgbClr val="7F5AA2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8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2026 종료</a:t>
            </a:r>
            <a:endParaRPr sz="88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0F0134A4-F9C2-4A5A-8D50-CB1DD028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512" y="4279392"/>
            <a:ext cx="3246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국산의료기기 사용자 임상평가</a:t>
            </a:r>
            <a:endParaRPr sz="105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03F3CAA0-7F82-42B1-B905-27DCB4CD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512" y="4681728"/>
            <a:ext cx="32461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KHIDI · ~2.6</a:t>
            </a:r>
            <a:endParaRPr sz="8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D0815CDB-2A1D-4A47-9671-4B33B7B9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656" y="4315968"/>
            <a:ext cx="1965960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F5"/>
          </a:solidFill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7F5AA2"/>
                </a:solidFill>
                <a:latin typeface="NanumSquare"/>
                <a:ea typeface="NanumSquare"/>
                <a:cs typeface="NanumSquare"/>
              </a:rPr>
              <a:t>단일 0.75/1.2억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7F5AA2"/>
                </a:solidFill>
                <a:latin typeface="NanumSquare"/>
                <a:ea typeface="NanumSquare"/>
                <a:cs typeface="NanumSquare"/>
              </a:rPr>
              <a:t>다기관 1/2억</a:t>
            </a:r>
            <a:endParaRPr sz="9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FDE702BE-D375-43EE-91CE-D9EE8443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4270248"/>
            <a:ext cx="3913632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7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품목허가 완료 후 의료기관 평가</a:t>
            </a:r>
            <a:endParaRPr sz="870"/>
          </a:p>
          <a:p xmlns:a="http://schemas.openxmlformats.org/drawingml/2006/main">
            <a:pPr marL="0" indent="0" algn="ctr">
              <a:buNone/>
            </a:pPr>
            <a:r>
              <a:rPr sz="87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기업 현금부담 30% 이상</a:t>
            </a:r>
            <a:endParaRPr sz="87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3F3EA89C-7AE8-4554-A8A2-45CA300C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440680"/>
            <a:ext cx="11183112" cy="658368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DE">
              <a:alpha val="98000"/>
            </a:srgbClr>
          </a:solidFill>
          <a:ln xmlns:a="http://schemas.openxmlformats.org/drawingml/2006/main" w="10160">
            <a:solidFill>
              <a:srgbClr val="E7D79C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90DDBC75-1E9A-4EC5-A296-E84D1776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61441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D98B2B"/>
                </a:solidFill>
                <a:latin typeface="NanumSquare"/>
                <a:ea typeface="NanumSquare"/>
                <a:cs typeface="NanumSquare"/>
              </a:rPr>
              <a:t>2027년</a:t>
            </a:r>
            <a:endParaRPr sz="11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60633082-5BF6-426C-B75A-40B30ACF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5559552"/>
            <a:ext cx="94914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2026.10.26 기준, 지급형 임상지원 공고의 사업명·금액·접수기간이 확인되지 않아 재원에 반영하지 않음. 실제 공고 공개 후 업데이트.</a:t>
            </a:r>
            <a:endParaRPr sz="89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16083697-F44B-42F7-9050-652B3E23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28232"/>
            <a:ext cx="1071676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10" b="1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출처: </a:t>
            </a:r>
            <a:r>
              <a:rPr sz="71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xmlns:r="http://schemas.openxmlformats.org/officeDocument/2006/relationships" r:id="Rf61ff81d405d434d"/>
              </a:rPr>
              <a:t>KMDF 2026 제1차 공고</a:t>
            </a:r>
            <a:r>
              <a:rPr sz="71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sz="71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xmlns:r="http://schemas.openxmlformats.org/officeDocument/2006/relationships" r:id="Rb1d9463434c74988"/>
              </a:rPr>
              <a:t>KMDF 2026 제2차 공고</a:t>
            </a:r>
            <a:r>
              <a:rPr sz="71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sz="71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xmlns:r="http://schemas.openxmlformats.org/officeDocument/2006/relationships" r:id="R6ee098cebbac408e"/>
              </a:rPr>
              <a:t>KHIDI 사용자 임상평가</a:t>
            </a:r>
            <a:endParaRPr sz="710"/>
          </a:p>
        </p:txBody>
      </p:sp>
    </p:spTree>
    <p:extLst>
      <p:ext uri="{BB962C8B-B14F-4D97-AF65-F5344CB8AC3E}">
        <p14:creationId xmlns:p14="http://schemas.microsoft.com/office/powerpoint/2010/main" val="201540777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235DD689-A1CB-42A1-9B54-DF0D3A5609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000711956841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0C752454-E370-4763-AC62-83FD6686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0352"/>
            <a:ext cx="1101852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확인된 유통·사용 경로와 KheAl 잠재고객</a:t>
            </a:r>
            <a:endParaRPr sz="23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1B52564-B086-44E8-BA3A-31AA72C4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14984"/>
            <a:ext cx="10927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실제 계약·공식 사용안내·연구사용·잠재고객을 구분하여 표시</a:t>
            </a:r>
            <a:endParaRPr sz="1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6181918-A3AF-43C4-86EF-FEEAA2DE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864" y="6547104"/>
            <a:ext cx="274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30</a:t>
            </a:r>
            <a:endParaRPr sz="75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B32130E1-7F49-4813-934E-130DAA12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89888"/>
            <a:ext cx="5669280" cy="4526280"/>
          </a:xfrm>
          <a:prstGeom xmlns:a="http://schemas.openxmlformats.org/drawingml/2006/main" prst="roundRect">
            <a:avLst>
              <a:gd name="adj" fmla="val 3232"/>
            </a:avLst>
          </a:prstGeom>
          <a:solidFill xmlns:a="http://schemas.openxmlformats.org/drawingml/2006/main">
            <a:srgbClr val="FFFFFF">
              <a:alpha val="98000"/>
            </a:srgbClr>
          </a:solidFill>
          <a:ln xmlns:a="http://schemas.openxmlformats.org/drawingml/2006/main" w="10160">
            <a:solidFill>
              <a:srgbClr val="D9DEDC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7C8AF3E-0163-4C77-BC87-E541781E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600200"/>
            <a:ext cx="2057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공개자료로 확인된 경로</a:t>
            </a:r>
            <a:endParaRPr sz="12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1557B295-5DFE-4F33-944C-A0093B1B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993392"/>
            <a:ext cx="155448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52"/>
          </a:solidFill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KeraStat Cream</a:t>
            </a:r>
            <a:endParaRPr sz="83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12E23DA-9D62-4D64-8D48-7948BD0E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592" y="1993392"/>
            <a:ext cx="150876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6"/>
          </a:solidFill>
          <a:ln xmlns:a="http://schemas.openxmlformats.org/drawingml/2006/main" w="6350">
            <a:solidFill>
              <a:srgbClr val="E0E5E3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7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ASPN Pharmacies</a:t>
            </a:r>
            <a:endParaRPr sz="87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E023D96-3797-47E8-BA04-A8371425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2" y="1993392"/>
            <a:ext cx="1719072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7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처방접수·보험확인·환자/약국 배송</a:t>
            </a:r>
            <a:endParaRPr sz="77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DF66116C-A243-4B16-96AC-4BC7BAC2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697480"/>
            <a:ext cx="155448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E68"/>
          </a:solidFill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KeraStat Gel</a:t>
            </a:r>
            <a:endParaRPr sz="83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3898A65-2A3C-49EA-A23F-7F9386BC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592" y="2697480"/>
            <a:ext cx="150876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6"/>
          </a:solidFill>
          <a:ln xmlns:a="http://schemas.openxmlformats.org/drawingml/2006/main" w="6350">
            <a:solidFill>
              <a:srgbClr val="E0E5E3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7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Combat Medical</a:t>
            </a:r>
            <a:endParaRPr sz="87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82A59C8-E575-4442-9876-8A3BD097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2" y="2697480"/>
            <a:ext cx="1719072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7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열화상 제품 판매·유통 안내</a:t>
            </a:r>
            <a:endParaRPr sz="77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BC3D6D57-DF70-45A6-A2CD-C1E3629A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01568"/>
            <a:ext cx="155448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5AA2"/>
          </a:solidFill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ProgenaMatrix</a:t>
            </a:r>
            <a:endParaRPr sz="83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20E4722C-7C5E-45A9-B99D-15CB0264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592" y="3401568"/>
            <a:ext cx="150876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6"/>
          </a:solidFill>
          <a:ln xmlns:a="http://schemas.openxmlformats.org/drawingml/2006/main" w="6350">
            <a:solidFill>
              <a:srgbClr val="E0E5E3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7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Venture Medical / Premier</a:t>
            </a:r>
            <a:endParaRPr sz="87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97D7720F-5026-400D-8BFA-561ED3FD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2" y="3401568"/>
            <a:ext cx="1719072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7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전문유통·GPO 사전협상 조건 접근</a:t>
            </a:r>
            <a:endParaRPr sz="77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175B2B7-5A68-42D0-A5F5-DC4D31F6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105656"/>
            <a:ext cx="155448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B2B"/>
          </a:solidFill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Mepilex Ag 등</a:t>
            </a:r>
            <a:endParaRPr sz="83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5735EFE9-81B7-414F-A6B3-0050A730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592" y="4105656"/>
            <a:ext cx="150876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6"/>
          </a:solidFill>
          <a:ln xmlns:a="http://schemas.openxmlformats.org/drawingml/2006/main" w="6350">
            <a:solidFill>
              <a:srgbClr val="E0E5E3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7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University of Iowa</a:t>
            </a:r>
            <a:endParaRPr sz="87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5C753C8-DB80-44AA-85E1-FD30C8C2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2" y="4105656"/>
            <a:ext cx="1719072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7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병원 공식 화상환자 사용교육 자료</a:t>
            </a:r>
            <a:endParaRPr sz="77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969852B9-0741-4252-BC99-15CB849C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809744"/>
            <a:ext cx="155448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A4A"/>
          </a:solidFill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Medifoam·AQUACEL</a:t>
            </a:r>
            <a:endParaRPr sz="830"/>
          </a:p>
          <a:p xmlns:a="http://schemas.openxmlformats.org/drawingml/2006/main">
            <a:pPr marL="0" indent="0" algn="ctr">
              <a:buNone/>
            </a:pPr>
            <a:r>
              <a:rPr sz="83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Acticoat</a:t>
            </a:r>
            <a:endParaRPr sz="83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8D334A20-D96D-4C34-A1FA-37F1CDC5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592" y="4809744"/>
            <a:ext cx="150876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6"/>
          </a:solidFill>
          <a:ln xmlns:a="http://schemas.openxmlformats.org/drawingml/2006/main" w="6350">
            <a:solidFill>
              <a:srgbClr val="E0E5E3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7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한강성심병원 논문</a:t>
            </a:r>
            <a:endParaRPr sz="87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5EF60660-FCB5-4F12-9A65-C5A65258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2" y="4809744"/>
            <a:ext cx="1719072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7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2004–2008년 SJS/TEN 과거 사용사례</a:t>
            </a:r>
            <a:endParaRPr sz="77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DC3FD107-8590-48BA-9C2B-D76B99DF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86400"/>
            <a:ext cx="506577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C"/>
          </a:solidFill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70" b="1">
                <a:solidFill>
                  <a:srgbClr val="B84A4A"/>
                </a:solidFill>
                <a:latin typeface="NanumSquare"/>
                <a:ea typeface="NanumSquare"/>
                <a:cs typeface="NanumSquare"/>
              </a:rPr>
              <a:t>국내 KeraStat 사용기관은 이번 공개자료 검토에서 확인되지 않음 — “사용 없음”이 아니라 공개근거 미확인</a:t>
            </a:r>
            <a:endParaRPr sz="77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09FBB365-F083-4ACD-B4B6-2EEAFFBD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389888"/>
            <a:ext cx="5330952" cy="4526280"/>
          </a:xfrm>
          <a:prstGeom xmlns:a="http://schemas.openxmlformats.org/drawingml/2006/main" prst="roundRect">
            <a:avLst>
              <a:gd name="adj" fmla="val 3232"/>
            </a:avLst>
          </a:prstGeom>
          <a:solidFill xmlns:a="http://schemas.openxmlformats.org/drawingml/2006/main">
            <a:srgbClr val="EAF3EF">
              <a:alpha val="98000"/>
            </a:srgbClr>
          </a:solidFill>
          <a:ln xmlns:a="http://schemas.openxmlformats.org/drawingml/2006/main" w="10160">
            <a:solidFill>
              <a:srgbClr val="BCD2C9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DBEDA5F2-14DE-4B13-9F63-0FD0898D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160020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KheAl의 현실적 고객 진입순서</a:t>
            </a:r>
            <a:endParaRPr sz="12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CB3F8FC-A932-471B-9C08-B1EAB511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57400"/>
            <a:ext cx="420624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52"/>
          </a:solidFill>
          <a:ln xmlns:a="http://schemas.openxmlformats.org/drawingml/2006/main">
            <a:solidFill>
              <a:srgbClr val="1D6B52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</a:t>
            </a:r>
            <a:endParaRPr sz="11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FE2434C2-F709-4311-A669-F3CE3FAF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057400"/>
            <a:ext cx="157276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화상·성형외과 연구자</a:t>
            </a:r>
            <a:endParaRPr sz="89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FD89C6FD-BC3B-4A38-9A90-B5574921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2057400"/>
            <a:ext cx="1207008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5000"/>
            </a:srgbClr>
          </a:solidFill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임상시험·사용성 검증</a:t>
            </a:r>
            <a:endParaRPr sz="82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DBAC4D66-2DB9-4513-9DE3-A313CFA5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8712" y="2057400"/>
            <a:ext cx="10972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3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환자 적합성·프로토콜·안전성</a:t>
            </a:r>
            <a:endParaRPr sz="73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DC6F4508-C957-4329-AFA2-1FDDB882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34640"/>
            <a:ext cx="420624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52"/>
          </a:solidFill>
          <a:ln xmlns:a="http://schemas.openxmlformats.org/drawingml/2006/main">
            <a:solidFill>
              <a:srgbClr val="1D6B52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</a:t>
            </a:r>
            <a:endParaRPr sz="11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AB504957-7CEB-49C0-83E1-0B41A715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834640"/>
            <a:ext cx="157276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병원 구매·재료위원회</a:t>
            </a:r>
            <a:endParaRPr sz="89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780C878D-17D6-498D-A1EA-686608D9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2834640"/>
            <a:ext cx="1207008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5000"/>
            </a:srgbClr>
          </a:solidFill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원내 품목 채택</a:t>
            </a:r>
            <a:endParaRPr sz="820"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21CECFA4-528E-4E68-8CA8-A6E3B9C2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8712" y="2834640"/>
            <a:ext cx="10972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3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임상근거·총처치비·교육·공급안정</a:t>
            </a:r>
            <a:endParaRPr sz="730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EA3D6B0D-F95A-42AF-8F95-CB16F045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11880"/>
            <a:ext cx="420624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E68"/>
          </a:solidFill>
          <a:ln xmlns:a="http://schemas.openxmlformats.org/drawingml/2006/main">
            <a:solidFill>
              <a:srgbClr val="1C3E68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3</a:t>
            </a:r>
            <a:endParaRPr sz="110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6B108656-A6A1-4388-B91B-46A0E881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611880"/>
            <a:ext cx="157276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전문 창상 유통사·GPO</a:t>
            </a:r>
            <a:endParaRPr sz="890"/>
          </a:p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3CEC5834-359E-4810-B2A6-128ED7A5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3611880"/>
            <a:ext cx="1207008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5000"/>
            </a:srgbClr>
          </a:solidFill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1C3E68"/>
                </a:solidFill>
                <a:latin typeface="NanumSquare"/>
                <a:ea typeface="NanumSquare"/>
                <a:cs typeface="NanumSquare"/>
              </a:rPr>
              <a:t>병원 확장·물류</a:t>
            </a:r>
            <a:endParaRPr sz="82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4208B870-86FE-432A-B21A-6F71DA9C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8712" y="3611880"/>
            <a:ext cx="10972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3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공급사 심사·마진·재고·품질</a:t>
            </a:r>
            <a:endParaRPr sz="73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6CF02714-0259-4363-87E4-C5EEB902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89120"/>
            <a:ext cx="420624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E68"/>
          </a:solidFill>
          <a:ln xmlns:a="http://schemas.openxmlformats.org/drawingml/2006/main">
            <a:solidFill>
              <a:srgbClr val="1C3E68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4</a:t>
            </a:r>
            <a:endParaRPr sz="1100"/>
          </a:p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5B22C42D-F05C-406F-A58A-4907AF50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389120"/>
            <a:ext cx="157276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처방·배송 채널</a:t>
            </a:r>
            <a:endParaRPr sz="890"/>
          </a:p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7DE72F9D-6503-4E24-99EB-E02A6A19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4389120"/>
            <a:ext cx="1207008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5000"/>
            </a:srgbClr>
          </a:solidFill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1C3E68"/>
                </a:solidFill>
                <a:latin typeface="NanumSquare"/>
                <a:ea typeface="NanumSquare"/>
                <a:cs typeface="NanumSquare"/>
              </a:rPr>
              <a:t>외래·가정 사용 시</a:t>
            </a:r>
            <a:endParaRPr sz="820"/>
          </a:p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8411A495-85DB-4D86-825B-884CDA66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8712" y="4389120"/>
            <a:ext cx="10972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3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Rx 구조·보험·포장·자가사용성</a:t>
            </a:r>
            <a:endParaRPr sz="730"/>
          </a:p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31EE3DA7-90E0-4B54-BD7D-91EB4BA6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5394960"/>
            <a:ext cx="468172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2000"/>
            </a:srgbClr>
          </a:solidFill>
          <a:ln xmlns:a="http://schemas.openxmlformats.org/drawingml/2006/main" w="6350">
            <a:solidFill>
              <a:srgbClr val="BDD2C9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초기 우선고객: 성인 부분층 화상을 다루는 전문 진료과와 병원 구매부서</a:t>
            </a:r>
            <a:endParaRPr sz="920"/>
          </a:p>
        </p:txBody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B29E1643-79C3-43B5-B2E1-32AD6286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28232"/>
            <a:ext cx="1071676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10" b="1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출처: </a:t>
            </a:r>
            <a:r>
              <a:rPr sz="71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xmlns:r="http://schemas.openxmlformats.org/officeDocument/2006/relationships" r:id="R87291405ca1846da"/>
              </a:rPr>
              <a:t>KeraNetics — ASPN Distribution</a:t>
            </a:r>
            <a:r>
              <a:rPr sz="71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sz="71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xmlns:r="http://schemas.openxmlformats.org/officeDocument/2006/relationships" r:id="Ra5fb0906daee47e4"/>
              </a:rPr>
              <a:t>KeraNetics — Thermal Burns</a:t>
            </a:r>
            <a:r>
              <a:rPr sz="71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sz="71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xmlns:r="http://schemas.openxmlformats.org/officeDocument/2006/relationships" r:id="Rd1e8cf18dbf74df3"/>
              </a:rPr>
              <a:t>ProgenaMatrix — Premier Agreement</a:t>
            </a:r>
            <a:r>
              <a:rPr sz="71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sz="71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xmlns:r="http://schemas.openxmlformats.org/officeDocument/2006/relationships" r:id="R7bf8d7fe297e4f55"/>
              </a:rPr>
              <a:t>University of Iowa Burn Education</a:t>
            </a:r>
            <a:endParaRPr sz="710"/>
          </a:p>
        </p:txBody>
      </p:sp>
    </p:spTree>
    <p:extLst>
      <p:ext uri="{BB962C8B-B14F-4D97-AF65-F5344CB8AC3E}">
        <p14:creationId xmlns:p14="http://schemas.microsoft.com/office/powerpoint/2010/main" val="189560024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9F0F530E-71BA-44DF-975B-15F977E0E4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222c56aef44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08AEC2ED-04DA-49E6-A86F-3E86C14D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0352"/>
            <a:ext cx="1101852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가격경쟁력은 개당 가격이 아니라 환자당 총 처치비로 판단</a:t>
            </a:r>
            <a:endParaRPr sz="23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858454A-EBE8-4231-8FE3-65385C35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14984"/>
            <a:ext cx="10927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공개 KeraStat 조달가격표를 기준점으로 사용하되 용량·도포면적·2차 드레싱·교체횟수를 함께 계산</a:t>
            </a:r>
            <a:endParaRPr sz="1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11796C6-F0C0-4967-9094-7D7608DF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864" y="6547104"/>
            <a:ext cx="274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31</a:t>
            </a:r>
            <a:endParaRPr sz="75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A35E2901-2483-490B-978E-9276D270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89888"/>
            <a:ext cx="3703320" cy="4526280"/>
          </a:xfrm>
          <a:prstGeom xmlns:a="http://schemas.openxmlformats.org/drawingml/2006/main" prst="roundRect">
            <a:avLst>
              <a:gd name="adj" fmla="val 3951"/>
            </a:avLst>
          </a:prstGeom>
          <a:solidFill xmlns:a="http://schemas.openxmlformats.org/drawingml/2006/main">
            <a:srgbClr val="FFFFFF">
              <a:alpha val="98000"/>
            </a:srgbClr>
          </a:solidFill>
          <a:ln xmlns:a="http://schemas.openxmlformats.org/drawingml/2006/main" w="10160">
            <a:solidFill>
              <a:srgbClr val="D9DEDC"/>
            </a:solidFill>
            <a:prstDash val="solid"/>
          </a:ln>
        </p:spPr>
      </p:sp>
      <p:pic>
        <p:nvPicPr>
          <p:cNvPr id="7" name="Image 1">
            <a:extLst xmlns:a="http://schemas.openxmlformats.org/drawingml/2006/main">
              <a:ext uri="{FF2B5EF4-FFF2-40B4-BE49-F238E27FC236}">
                <a16:creationId xmlns:a16="http://schemas.microsoft.com/office/drawing/2014/main" id="{0B5DD84E-6054-4C9C-906C-D43A96D3A4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0d0cefc7b949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1248" y="1693599"/>
            <a:ext cx="3017520" cy="1120793"/>
          </a:xfrm>
          <a:prstGeom xmlns:a="http://schemas.openxmlformats.org/drawingml/2006/main" prst="rect">
            <a:avLst/>
          </a:prstGeom>
        </p:spPr>
      </p:pic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26B0267C-22E7-4912-8B9B-1031BF11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926080"/>
            <a:ext cx="3154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KeraStat Gel 5mL</a:t>
            </a:r>
            <a:endParaRPr sz="13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C5F1BD55-E055-48D8-B44B-3E5EB815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19856"/>
            <a:ext cx="288036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1C3E68"/>
                </a:solidFill>
                <a:latin typeface="NanumSquare"/>
                <a:ea typeface="NanumSquare"/>
                <a:cs typeface="NanumSquare"/>
              </a:rPr>
              <a:t>$73 / tube</a:t>
            </a:r>
            <a:endParaRPr sz="23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3C4F30B0-2C87-4ADF-84AE-1CB23FCE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77640"/>
            <a:ext cx="30632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8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2024 Combat/Safeguard Medical 공개 가격표</a:t>
            </a:r>
            <a:endParaRPr sz="78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50C91DD-76F2-4A16-ADCA-1BEAA5A7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462272"/>
            <a:ext cx="2697480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$14.60 / mL</a:t>
            </a:r>
            <a:endParaRPr sz="15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1183D0E8-A9D8-4DF0-A8A2-7AFFB44C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138928"/>
            <a:ext cx="313639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C"/>
          </a:solidFill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10" b="1">
                <a:solidFill>
                  <a:srgbClr val="B84A4A"/>
                </a:solidFill>
                <a:latin typeface="NanumSquare"/>
                <a:ea typeface="NanumSquare"/>
                <a:cs typeface="NanumSquare"/>
              </a:rPr>
              <a:t>공개 조달가격은 병원 실구매가·보험지급액과 동일하지 않음</a:t>
            </a:r>
            <a:endParaRPr sz="81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A61FC006-1524-44BA-AEF0-8D1E0A47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1389888"/>
            <a:ext cx="7278624" cy="4526280"/>
          </a:xfrm>
          <a:prstGeom xmlns:a="http://schemas.openxmlformats.org/drawingml/2006/main" prst="roundRect">
            <a:avLst>
              <a:gd name="adj" fmla="val 3232"/>
            </a:avLst>
          </a:prstGeom>
          <a:solidFill xmlns:a="http://schemas.openxmlformats.org/drawingml/2006/main">
            <a:srgbClr val="EAF3EF">
              <a:alpha val="98000"/>
            </a:srgbClr>
          </a:solidFill>
          <a:ln xmlns:a="http://schemas.openxmlformats.org/drawingml/2006/main" w="10160">
            <a:solidFill>
              <a:srgbClr val="BCD2C9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58B3C7BC-E855-4ABE-8C0C-5330D59B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1609344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KheAl 가격·경제성 검증식</a:t>
            </a:r>
            <a:endParaRPr sz="12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A533E0FB-6599-4DCA-8FD4-652D2ADE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148840"/>
            <a:ext cx="1737360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52"/>
          </a:solidFill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환자당 총 처치비</a:t>
            </a:r>
            <a:endParaRPr sz="14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A6C5B4D9-FE0A-49DC-8774-62086A58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26771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=</a:t>
            </a:r>
            <a:endParaRPr sz="18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952D3311-4D19-49ED-ABC0-169E484C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2139696"/>
            <a:ext cx="960120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2700">
            <a:solidFill>
              <a:srgbClr val="1D6B52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7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KheAl 사용량</a:t>
            </a:r>
            <a:endParaRPr sz="87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94EC8DE1-EF1B-44A8-8527-5508F0E7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2276856"/>
            <a:ext cx="21945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+</a:t>
            </a:r>
            <a:endParaRPr sz="13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23945984-DA47-4C60-8C41-18C5F592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2139696"/>
            <a:ext cx="960120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2700">
            <a:solidFill>
              <a:srgbClr val="1C3E68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7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2차 드레싱</a:t>
            </a:r>
            <a:endParaRPr sz="870"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2CA40DB-5692-4D1D-BF8F-4FFC38E0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008" y="2276856"/>
            <a:ext cx="21945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+</a:t>
            </a:r>
            <a:endParaRPr sz="13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61374478-C6EF-4DBC-BAA8-FA2864B9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84" y="2139696"/>
            <a:ext cx="960120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2700">
            <a:solidFill>
              <a:srgbClr val="7F5AA2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7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교체·인력</a:t>
            </a:r>
            <a:endParaRPr sz="87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33886255-A8E2-45E9-ABB9-7E49ACD1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3304" y="2276856"/>
            <a:ext cx="21945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+</a:t>
            </a:r>
            <a:endParaRPr sz="13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3FBA9805-C61C-41C8-B856-66EF74E9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2139696"/>
            <a:ext cx="960120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2700">
            <a:solidFill>
              <a:srgbClr val="D98B2B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7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폐기량</a:t>
            </a:r>
            <a:endParaRPr sz="870"/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AF813B16-1C9C-4C12-8AC0-D349C2C1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016" y="3127248"/>
            <a:ext cx="1691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가격 우위가 생기는 조건</a:t>
            </a:r>
            <a:endParaRPr sz="105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8098A672-F7E8-47A8-BECB-5ABD884F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511296"/>
            <a:ext cx="34747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52"/>
          </a:solidFill>
          <a:ln xmlns:a="http://schemas.openxmlformats.org/drawingml/2006/main">
            <a:solidFill>
              <a:srgbClr val="1D6B52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</a:t>
            </a:r>
            <a:endParaRPr sz="1000"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8391B804-6BE7-430F-87F7-ED4589A8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511296"/>
            <a:ext cx="11430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7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소용량 포장</a:t>
            </a:r>
            <a:endParaRPr sz="870"/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72BF08C6-B452-4EE2-9278-ED8F7FD9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3511296"/>
            <a:ext cx="461772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000"/>
            </a:srgbClr>
          </a:solidFill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작은 창상에서 잔량·폐기 감소</a:t>
            </a:r>
            <a:endParaRPr sz="860"/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0693CA98-6ED1-4271-9441-BF4F2E6A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986784"/>
            <a:ext cx="34747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52"/>
          </a:solidFill>
          <a:ln xmlns:a="http://schemas.openxmlformats.org/drawingml/2006/main">
            <a:solidFill>
              <a:srgbClr val="1D6B52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</a:t>
            </a:r>
            <a:endParaRPr sz="100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D0D220F0-9F21-4256-9880-A359F098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986784"/>
            <a:ext cx="11430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7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도포·잔류성</a:t>
            </a:r>
            <a:endParaRPr sz="870"/>
          </a:p>
        </p:txBody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8198828C-FFED-487C-B49E-57B66478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3986784"/>
            <a:ext cx="461772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000"/>
            </a:srgbClr>
          </a:solidFill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필요 사용량 감소</a:t>
            </a:r>
            <a:endParaRPr sz="860"/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06CD566E-C08A-4E64-8F65-866BCC90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4462272"/>
            <a:ext cx="34747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E68"/>
          </a:solidFill>
          <a:ln xmlns:a="http://schemas.openxmlformats.org/drawingml/2006/main">
            <a:solidFill>
              <a:srgbClr val="1C3E68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3</a:t>
            </a:r>
            <a:endParaRPr sz="1000"/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56DEB77A-637D-4A30-814C-5F65CAF2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462272"/>
            <a:ext cx="11430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7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교체 편의</a:t>
            </a:r>
            <a:endParaRPr sz="87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A4736017-5925-4C00-A8F1-4EC0C852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4462272"/>
            <a:ext cx="461772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000"/>
            </a:srgbClr>
          </a:solidFill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교체횟수·처치시간 감소</a:t>
            </a:r>
            <a:endParaRPr sz="860"/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19204F1B-BCA5-474C-B787-2F94B414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4937760"/>
            <a:ext cx="34747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E68"/>
          </a:solidFill>
          <a:ln xmlns:a="http://schemas.openxmlformats.org/drawingml/2006/main">
            <a:solidFill>
              <a:srgbClr val="1C3E68"/>
            </a:solidFill>
          </a:ln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4</a:t>
            </a:r>
            <a:endParaRPr sz="1000"/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FFA4ABA7-1293-43F9-A3CE-D7D6D36A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937760"/>
            <a:ext cx="11430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7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2차 드레싱</a:t>
            </a:r>
            <a:endParaRPr sz="870"/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8444FFA2-10C7-499A-B193-B91C719A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4937760"/>
            <a:ext cx="461772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000"/>
            </a:srgbClr>
          </a:solidFill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필요 여부·종류·사용량 감소</a:t>
            </a:r>
            <a:endParaRPr sz="860"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D741821D-8FAD-4D50-BFDD-63D4E6F6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5468112"/>
            <a:ext cx="6656832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C"/>
          </a:solidFill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B84A4A"/>
                </a:solidFill>
                <a:latin typeface="NanumSquare"/>
                <a:ea typeface="NanumSquare"/>
                <a:cs typeface="NanumSquare"/>
              </a:rPr>
              <a:t>가격 목표는 원가·유통마진·보험·도포면적 자료를 확보한 뒤 설정. 현재 단계에서는 “KeraStat보다 개당 저렴”만으로 경쟁력을 주장하지 않음.</a:t>
            </a:r>
            <a:endParaRPr sz="850"/>
          </a:p>
        </p:txBody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3034802F-B62F-46AE-9644-A7D221DA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28232"/>
            <a:ext cx="1071676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10" b="1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출처: </a:t>
            </a:r>
            <a:r>
              <a:rPr sz="71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xmlns:r="http://schemas.openxmlformats.org/officeDocument/2006/relationships" r:id="R6a69ebcc805a41ae"/>
              </a:rPr>
              <a:t>2024 Combat/Safeguard Medical Price List</a:t>
            </a:r>
            <a:r>
              <a:rPr sz="71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sz="71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xmlns:r="http://schemas.openxmlformats.org/officeDocument/2006/relationships" r:id="R75064ebfa98640b3"/>
              </a:rPr>
              <a:t>KeraStat Burn Study NCT05217160</a:t>
            </a:r>
            <a:r>
              <a:rPr sz="71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sz="71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xmlns:r="http://schemas.openxmlformats.org/officeDocument/2006/relationships" r:id="R7fee4b1f6c1f4f46"/>
              </a:rPr>
              <a:t>KeraNetics KeraStat Gel</a:t>
            </a:r>
            <a:endParaRPr sz="710"/>
          </a:p>
        </p:txBody>
      </p:sp>
    </p:spTree>
    <p:extLst>
      <p:ext uri="{BB962C8B-B14F-4D97-AF65-F5344CB8AC3E}">
        <p14:creationId xmlns:p14="http://schemas.microsoft.com/office/powerpoint/2010/main" val="1247475104"/>
      </p:ext>
    </p:extLst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548640" y="502920"/>
            <a:ext cx="1101852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3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국내 경쟁제품 — 형태·소재별 정리</a:t>
            </a:r>
            <a:endParaRPr lang="ko-KR" sz="2300"/>
          </a:p>
        </p:txBody>
      </p:sp>
      <p:sp>
        <p:nvSpPr>
          <p:cNvPr id="5" name="Takeaway"/>
          <p:cNvSpPr txBox="1"/>
          <p:nvPr/>
        </p:nvSpPr>
        <p:spPr>
          <a:xfrm>
            <a:off x="566928" y="950976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5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바르는 겔 직접 경쟁은 2개 · 이번 조사에서 국내 케라틴 창상피복재는 확인되지 않음 · 화상 세포치료제는 의약품 경로</a:t>
            </a:r>
            <a:endParaRPr lang="ko-KR" sz="1150"/>
          </a:p>
        </p:txBody>
      </p:sp>
      <p:sp>
        <p:nvSpPr>
          <p:cNvPr id="6" name="Page"/>
          <p:cNvSpPr txBox="1"/>
          <p:nvPr/>
        </p:nvSpPr>
        <p:spPr>
          <a:xfrm>
            <a:off x="11301984" y="651967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16</a:t>
            </a:r>
            <a:endParaRPr lang="ko-KR" sz="750"/>
          </a:p>
        </p:txBody>
      </p:sp>
      <p:graphicFrame>
        <p:nvGraphicFramePr>
          <p:cNvPr id="7" name="Competitor table"/>
          <p:cNvGraphicFramePr>
            <a:graphicFrameLocks noGrp="1"/>
          </p:cNvGraphicFramePr>
          <p:nvPr/>
        </p:nvGraphicFramePr>
        <p:xfrm>
          <a:off x="502920" y="1371600"/>
          <a:ext cx="11183112" cy="4636008"/>
        </p:xfrm>
        <a:graphic>
          <a:graphicData uri="http://schemas.openxmlformats.org/drawingml/2006/table">
            <a:tbl>
              <a:tblPr firstRow="1"/>
              <a:tblGrid>
                <a:gridCol w="1188720"/>
                <a:gridCol w="2103120"/>
                <a:gridCol w="2606040"/>
                <a:gridCol w="2331720"/>
                <a:gridCol w="1691640"/>
                <a:gridCol w="1261872"/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구분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1D6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제품 · 회사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1D6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형태 · 핵심 성분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1D6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주 용도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1D6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허가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1D6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KheAl과 관계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1D6B52"/>
                    </a:solidFill>
                  </a:tcPr>
                </a:tc>
              </a:tr>
              <a:tr h="393192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바르는 겔</a:t>
                      </a:r>
                      <a:endParaRPr lang="ko-KR" sz="1000"/>
                    </a:p>
                    <a:p>
                      <a:pPr marL="0" indent="0" algn="ctr">
                        <a:buNone/>
                      </a:pPr>
                      <a:r>
                        <a:rPr lang="ko-KR" sz="80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하이드로겔</a:t>
                      </a:r>
                      <a:endParaRPr lang="ko-KR" sz="8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JUVENCOLL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Dmed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창상관리용 겔 (상세 성분 미공개)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창상 관리 · 삼출물 흡수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등급 미확인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직접 경쟁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1D6B52"/>
                    </a:solidFill>
                  </a:tcPr>
                </a:tc>
              </a:tr>
              <a:tr h="393192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써지큐어 Surgicure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티앤알바이오팹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국소 하이드로겔 · 돼지 유래 ECM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상처 보호 · 흉터 관리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2등급 (보도 기준)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직접 경쟁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1D6B52"/>
                    </a:solidFill>
                  </a:tcPr>
                </a:tc>
              </a:tr>
              <a:tr h="393192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메디폼® H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제네웰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패치형 하이드로겔 10×10cm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가벼운 상처 보호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2등급 · 제인 08-306호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일부 겹침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1C3E68"/>
                    </a:solidFill>
                  </a:tcPr>
                </a:tc>
              </a:tr>
              <a:tr h="393192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콜라겐·HA</a:t>
                      </a:r>
                      <a:endParaRPr lang="ko-KR" sz="1000"/>
                    </a:p>
                    <a:p>
                      <a:pPr marL="0" indent="0" algn="ctr">
                        <a:buNone/>
                      </a:pPr>
                      <a:r>
                        <a:rPr lang="ko-KR" sz="80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생체소재</a:t>
                      </a:r>
                      <a:endParaRPr lang="ko-KR" sz="8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CUREWEL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Dmed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콜라겐 매트릭스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화상 · 창상 관리 · 보습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등급 미확인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소재 인접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7F5AA2"/>
                    </a:solidFill>
                  </a:tcPr>
                </a:tc>
              </a:tr>
              <a:tr h="393192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HYPLAST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원메디슨 (국내 유통)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아텔로콜라겐 + 히알루론산나트륨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창상 · 2도 화상 보호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제조국 · 등급 미확인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소재 인접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7F5AA2"/>
                    </a:solidFill>
                  </a:tcPr>
                </a:tc>
              </a:tr>
              <a:tr h="393192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흡수형</a:t>
                      </a:r>
                      <a:endParaRPr lang="ko-KR" sz="1000"/>
                    </a:p>
                    <a:p>
                      <a:pPr marL="0" indent="0" algn="ctr">
                        <a:buNone/>
                      </a:pPr>
                      <a:r>
                        <a:rPr lang="ko-KR" sz="80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폼 · 하이드로콜로이드</a:t>
                      </a:r>
                      <a:endParaRPr lang="ko-KR" sz="8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테라솝 알지 플러스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원바이오젠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흡수성 폼 드레싱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1~2도 화상 · 진물 많은 상처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제허 18-447호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일부 겹침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1C3E68"/>
                    </a:solidFill>
                  </a:tcPr>
                </a:tc>
              </a:tr>
              <a:tr h="393192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이지덤 · 이지덤 폼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대웅제약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하이드로콜로이드 / 폴리우레탄 폼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찰과상 · 화상 · 욕창 습윤관리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의료기기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일부 겹침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1C3E68"/>
                    </a:solidFill>
                  </a:tcPr>
                </a:tc>
              </a:tr>
              <a:tr h="393192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항균</a:t>
                      </a:r>
                      <a:endParaRPr lang="ko-KR" sz="1000"/>
                    </a:p>
                    <a:p>
                      <a:pPr marL="0" indent="0" algn="ctr">
                        <a:buNone/>
                      </a:pPr>
                      <a:r>
                        <a:rPr lang="ko-KR" sz="80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은 함유</a:t>
                      </a:r>
                      <a:endParaRPr lang="ko-KR" sz="8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메디솝 AG+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원바이오젠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은 함유 폴리우레탄 폼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화상 · 진물 많은 상처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제허 21-428호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경쟁 아님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B84A4A"/>
                    </a:solidFill>
                  </a:tcPr>
                </a:tc>
              </a:tr>
              <a:tr h="393192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메디폼 실버 플러스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한국먼디파마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실버설파디아진 함유 폼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화상 상처 (2023 출시)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의료기기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경쟁 아님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B84A4A"/>
                    </a:solidFill>
                  </a:tcPr>
                </a:tc>
              </a:tr>
              <a:tr h="393192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세포치료제</a:t>
                      </a:r>
                      <a:endParaRPr lang="ko-KR" sz="1000"/>
                    </a:p>
                    <a:p>
                      <a:pPr marL="0" indent="0" algn="ctr">
                        <a:buNone/>
                      </a:pPr>
                      <a:r>
                        <a:rPr lang="ko-KR" sz="80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의약품</a:t>
                      </a:r>
                      <a:endParaRPr lang="ko-KR" sz="8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칼로덤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테고사이언스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동종 각질세포 시트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2도 화상 · 당뇨발 (심부 2도 급여)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의약품 (2005 허가)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다른 허가 경로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D98B2B"/>
                    </a:solidFill>
                  </a:tcPr>
                </a:tc>
              </a:tr>
              <a:tr h="393192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케라힐-알로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바이오솔루션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동종 각질세포 하이드로겔 · 시린지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심부 2도 화상 재상피화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첨단바이오의약품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다른 허가 경로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D98B2B"/>
                    </a:solidFill>
                  </a:tcPr>
                </a:tc>
              </a:tr>
            </a:tbl>
          </a:graphicData>
        </a:graphic>
      </p:graphicFrame>
      <p:sp>
        <p:nvSpPr>
          <p:cNvPr id="8" name="Sources"/>
          <p:cNvSpPr txBox="1"/>
          <p:nvPr/>
        </p:nvSpPr>
        <p:spPr>
          <a:xfrm>
            <a:off x="566928" y="6382512"/>
            <a:ext cx="106070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출처: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1"/>
              </a:rPr>
              <a:t>Dmed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2"/>
              </a:rPr>
              <a:t>티앤알바이오팹 써지큐어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3"/>
              </a:rPr>
              <a:t>제네웰 메디폼 H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4"/>
              </a:rPr>
              <a:t>원메디슨 HYPLAST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5"/>
              </a:rPr>
              <a:t>원바이오젠 테라솝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6"/>
              </a:rPr>
              <a:t>대웅 이지덤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7"/>
              </a:rPr>
              <a:t>원바이오젠 메디솝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8"/>
              </a:rPr>
              <a:t>먼디파마 메디폼 실버 플러스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9"/>
              </a:rPr>
              <a:t>테고사이언스 칼로덤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10"/>
              </a:rPr>
              <a:t>바이오솔루션 케라힐-알로</a:t>
            </a:r>
            <a:endParaRPr lang="ko-KR" sz="75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548640" y="502920"/>
            <a:ext cx="1101852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3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해외 경쟁제품 — 형태·소재별 정리</a:t>
            </a:r>
            <a:endParaRPr lang="ko-KR" sz="2300"/>
          </a:p>
        </p:txBody>
      </p:sp>
      <p:sp>
        <p:nvSpPr>
          <p:cNvPr id="5" name="Takeaway"/>
          <p:cNvSpPr txBox="1"/>
          <p:nvPr/>
        </p:nvSpPr>
        <p:spPr>
          <a:xfrm>
            <a:off x="566928" y="950976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5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케라틴 원료는 해외에서 이미 허가·시판 중 → 차별점은 ‘케라틴+알지네이트+HA 바르는 겔’과 화상 임상 근거</a:t>
            </a:r>
            <a:endParaRPr lang="ko-KR" sz="1150"/>
          </a:p>
        </p:txBody>
      </p:sp>
      <p:sp>
        <p:nvSpPr>
          <p:cNvPr id="6" name="Page"/>
          <p:cNvSpPr txBox="1"/>
          <p:nvPr/>
        </p:nvSpPr>
        <p:spPr>
          <a:xfrm>
            <a:off x="11301984" y="651967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17</a:t>
            </a:r>
            <a:endParaRPr lang="ko-KR" sz="750"/>
          </a:p>
        </p:txBody>
      </p:sp>
      <p:graphicFrame>
        <p:nvGraphicFramePr>
          <p:cNvPr id="7" name="Competitor table"/>
          <p:cNvGraphicFramePr>
            <a:graphicFrameLocks noGrp="1"/>
          </p:cNvGraphicFramePr>
          <p:nvPr/>
        </p:nvGraphicFramePr>
        <p:xfrm>
          <a:off x="502920" y="1371600"/>
          <a:ext cx="11183112" cy="4887468"/>
        </p:xfrm>
        <a:graphic>
          <a:graphicData uri="http://schemas.openxmlformats.org/drawingml/2006/table">
            <a:tbl>
              <a:tblPr firstRow="1"/>
              <a:tblGrid>
                <a:gridCol w="1188720"/>
                <a:gridCol w="2103120"/>
                <a:gridCol w="2514600"/>
                <a:gridCol w="2148840"/>
                <a:gridCol w="1965960"/>
                <a:gridCol w="1261872"/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구분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1D6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제품 · 회사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1D6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형태 · 핵심 성분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1D6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주 용도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1D6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KheAl 대비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1D6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KheAl과 관계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1D6B52"/>
                    </a:solidFill>
                  </a:tcPr>
                </a:tc>
              </a:tr>
              <a:tr h="352044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바르는 겔</a:t>
                      </a:r>
                      <a:endParaRPr lang="ko-KR" sz="1000"/>
                    </a:p>
                    <a:p>
                      <a:pPr marL="0" indent="0" algn="ctr">
                        <a:buNone/>
                      </a:pPr>
                      <a:r>
                        <a:rPr lang="ko-KR" sz="80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하이드로겔</a:t>
                      </a:r>
                      <a:endParaRPr lang="ko-KR" sz="8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IntraSite Gel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Smith+Nephew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무정형 하이드로겔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괴사조직 제거 · 화상 · 저삼출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케라틴 없음 · 같은 사용 상황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직접 경쟁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1D6B52"/>
                    </a:solidFill>
                  </a:tcPr>
                </a:tc>
              </a:tr>
              <a:tr h="352044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Purilon® Gel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Coloplast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CMC + 칼슘 알지네이트 겔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건조 · 괴사 상처 · 1~2도 화상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알지네이트 겔 — 조성 가장 유사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직접 경쟁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1D6B52"/>
                    </a:solidFill>
                  </a:tcPr>
                </a:tc>
              </a:tr>
              <a:tr h="352044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Nu-Gel™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Solventum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투명 하이드로겔 + 알지네이트나트륨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수분 공급 · 자가용해 보조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알지네이트 겔 선례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직접 경쟁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1D6B52"/>
                    </a:solidFill>
                  </a:tcPr>
                </a:tc>
              </a:tr>
              <a:tr h="352044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케라틴</a:t>
                      </a:r>
                      <a:endParaRPr lang="ko-KR" sz="1000"/>
                    </a:p>
                    <a:p>
                      <a:pPr marL="0" indent="0" algn="ctr">
                        <a:buNone/>
                      </a:pPr>
                      <a:r>
                        <a:rPr lang="ko-KR" sz="80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같은 원료</a:t>
                      </a:r>
                      <a:endParaRPr lang="ko-KR" sz="8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1D6B52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KeraStat® Gel · Cream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KeraNetics · FDA K162759 / K192386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E6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5% 사람 모발 케라틴 겔 · 크림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E6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부분층 화상 · 피부 손상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E6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다음 장에서 별도 비교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E6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핵심 벤치마크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1D6B52"/>
                    </a:solidFill>
                  </a:tcPr>
                </a:tc>
              </a:tr>
              <a:tr h="352044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ProgenaMatrix®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ProgenaCare · FDA K182010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사람 모발 케라틴 매트릭스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부분·전층 창상 · 1~2도 화상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같은 원료 · 시트형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원료 동일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7F5AA2"/>
                    </a:solidFill>
                  </a:tcPr>
                </a:tc>
              </a:tr>
              <a:tr h="352044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Keramatrix®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Biowound Solutions · 선행 K080949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양모 유래 케라틴 드레싱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부분·전층 창상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양모 케라틴 · 시트형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원료 유사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7F5AA2"/>
                    </a:solidFill>
                  </a:tcPr>
                </a:tc>
              </a:tr>
              <a:tr h="352044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콜라겐·HA</a:t>
                      </a:r>
                      <a:endParaRPr lang="ko-KR" sz="1000"/>
                    </a:p>
                    <a:p>
                      <a:pPr marL="0" indent="0" algn="ctr">
                        <a:buNone/>
                      </a:pPr>
                      <a:r>
                        <a:rPr lang="ko-KR" sz="80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화상 피복막</a:t>
                      </a:r>
                      <a:endParaRPr lang="ko-KR" sz="8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Fibracol™ Plus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Solventum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콜라겐 90% + 칼슘 알지네이트 10%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흡수 · 겔 형성 · 습윤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단백질+알지네이트 조합 선례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소재 인접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7F5AA2"/>
                    </a:solidFill>
                  </a:tcPr>
                </a:tc>
              </a:tr>
              <a:tr h="352044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Hyalomatrix®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Anika · FDA K073251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히알루론산 에스터 + 실리콘 막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2도 화상 · 부분·전층 창상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HA 소재 · 시트형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소재 인접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7F5AA2"/>
                    </a:solidFill>
                  </a:tcPr>
                </a:tc>
              </a:tr>
              <a:tr h="352044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Suprathel®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PolyMedics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합성 생분해 막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부분층 화상 · 피부 공여부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같은 적응증 · 막 형태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일부 겹침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1C3E68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흡수형</a:t>
                      </a:r>
                      <a:endParaRPr lang="ko-KR" sz="1000"/>
                    </a:p>
                    <a:p>
                      <a:pPr marL="0" indent="0" algn="ctr">
                        <a:buNone/>
                      </a:pPr>
                      <a:r>
                        <a:rPr lang="ko-KR" sz="80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알지네이트</a:t>
                      </a:r>
                      <a:endParaRPr lang="ko-KR" sz="8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Suprasorb® A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Lohmann &amp; Rauscher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칼슘 알지네이트 섬유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진물 많은 상처 · 겔 형성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진물 많을 때만 겹침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일부 겹침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1C3E68"/>
                    </a:solidFill>
                  </a:tcPr>
                </a:tc>
              </a:tr>
              <a:tr h="352044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항균</a:t>
                      </a:r>
                      <a:endParaRPr lang="ko-KR" sz="1000"/>
                    </a:p>
                    <a:p>
                      <a:pPr marL="0" indent="0" algn="ctr">
                        <a:buNone/>
                      </a:pPr>
                      <a:r>
                        <a:rPr lang="ko-KR" sz="80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은 함유</a:t>
                      </a:r>
                      <a:endParaRPr lang="ko-KR" sz="8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Mepilex® Ag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Mölnlycke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은 함유 실리콘 폼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감염 위험 · 진물 중~많음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항균이 필요할 때 사용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경쟁 아님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B84A4A"/>
                    </a:solidFill>
                  </a:tcPr>
                </a:tc>
              </a:tr>
              <a:tr h="352044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AQUACEL® Ag+ Extra™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ConvaTec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하이드로파이버 + 은 + EDTA/BEC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진물 많음 · 세균막 관리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항균이 필요할 때 사용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경쟁 아님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B84A4A"/>
                    </a:solidFill>
                  </a:tcPr>
                </a:tc>
              </a:tr>
              <a:tr h="352044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Acticoat™</a:t>
                      </a:r>
                      <a:endParaRPr lang="ko-KR" sz="1050"/>
                    </a:p>
                    <a:p>
                      <a:pPr marL="0" indent="0" algn="l">
                        <a:buNone/>
                      </a:pPr>
                      <a:r>
                        <a:rPr lang="ko-KR" sz="850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Smith+Nephew</a:t>
                      </a:r>
                      <a:endParaRPr lang="ko-KR" sz="8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나노결정 은 시트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감염(위험) 부분·전층 화상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5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항균이 필요할 때 사용</a:t>
                      </a:r>
                      <a:endParaRPr lang="ko-KR" sz="95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95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경쟁 아님</a:t>
                      </a:r>
                      <a:endParaRPr lang="ko-KR" sz="950"/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B84A4A"/>
                    </a:solidFill>
                  </a:tcPr>
                </a:tc>
              </a:tr>
            </a:tbl>
          </a:graphicData>
        </a:graphic>
      </p:graphicFrame>
      <p:sp>
        <p:nvSpPr>
          <p:cNvPr id="8" name="Sources"/>
          <p:cNvSpPr txBox="1"/>
          <p:nvPr/>
        </p:nvSpPr>
        <p:spPr>
          <a:xfrm>
            <a:off x="566928" y="6382512"/>
            <a:ext cx="106070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출처: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1"/>
              </a:rPr>
              <a:t>IntraSite (NHS)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2"/>
              </a:rPr>
              <a:t>Coloplast Purilon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3"/>
              </a:rPr>
              <a:t>Solventum Nu-Gel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4"/>
              </a:rPr>
              <a:t>FDA K182010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5"/>
              </a:rPr>
              <a:t>GUDID Keramatrix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6"/>
              </a:rPr>
              <a:t>Solventum Fibracol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7"/>
              </a:rPr>
              <a:t>Hyalomatrix K073251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8"/>
              </a:rPr>
              <a:t>Suprathel 화상 연구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9"/>
              </a:rPr>
              <a:t>L&amp;R Suprasorb A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10"/>
              </a:rPr>
              <a:t>Mölnlycke Mepilex Ag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11"/>
              </a:rPr>
              <a:t>ConvaTec AQUACEL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12"/>
              </a:rPr>
              <a:t>S+N Acticoat</a:t>
            </a:r>
            <a:endParaRPr lang="ko-KR" sz="75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548640" y="502920"/>
            <a:ext cx="1101852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23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벤치마킹 제품 — KeraStat® (KeraNetics)</a:t>
            </a:r>
            <a:endParaRPr lang="ko-KR" sz="2300"/>
          </a:p>
        </p:txBody>
      </p:sp>
      <p:sp>
        <p:nvSpPr>
          <p:cNvPr id="5" name="Takeaway"/>
          <p:cNvSpPr txBox="1"/>
          <p:nvPr/>
        </p:nvSpPr>
        <p:spPr>
          <a:xfrm>
            <a:off x="566928" y="950976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15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같은 사람 모발 케라틴 원료 · FDA 510(k) 허가 선례 · KheAl이 넘어야 할 직접 비교 기준</a:t>
            </a:r>
            <a:endParaRPr lang="ko-KR" sz="1150"/>
          </a:p>
        </p:txBody>
      </p:sp>
      <p:sp>
        <p:nvSpPr>
          <p:cNvPr id="6" name="Page"/>
          <p:cNvSpPr txBox="1"/>
          <p:nvPr/>
        </p:nvSpPr>
        <p:spPr>
          <a:xfrm>
            <a:off x="11301984" y="651967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18</a:t>
            </a:r>
            <a:endParaRPr lang="ko-KR" sz="750"/>
          </a:p>
        </p:txBody>
      </p:sp>
      <p:sp>
        <p:nvSpPr>
          <p:cNvPr id="7" name="Left card"/>
          <p:cNvSpPr/>
          <p:nvPr/>
        </p:nvSpPr>
        <p:spPr>
          <a:xfrm>
            <a:off x="502920" y="1371600"/>
            <a:ext cx="2514600" cy="44074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EDC"/>
            </a:solidFill>
          </a:ln>
        </p:spPr>
      </p:sp>
      <p:sp>
        <p:nvSpPr>
          <p:cNvPr id="8" name="Maker"/>
          <p:cNvSpPr txBox="1"/>
          <p:nvPr/>
        </p:nvSpPr>
        <p:spPr>
          <a:xfrm>
            <a:off x="502920" y="1481328"/>
            <a:ext cx="25146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950" b="1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KeraNetics (미국)</a:t>
            </a:r>
            <a:endParaRPr lang="ko-KR" sz="950"/>
          </a:p>
        </p:txBody>
      </p:sp>
      <p:pic>
        <p:nvPicPr>
          <p:cNvPr id="9" name="KeraStat Gel" descr="KeraStat Gel 제품 사진"/>
          <p:cNvPicPr>
            <a:picLocks noChangeAspect="1"/>
          </p:cNvPicPr>
          <p:nvPr/>
        </p:nvPicPr>
        <p:blipFill>
          <a:blip r:embed="rI1"/>
          <a:stretch>
            <a:fillRect/>
          </a:stretch>
        </p:blipFill>
        <p:spPr>
          <a:xfrm>
            <a:off x="652389" y="1783080"/>
            <a:ext cx="2215662" cy="822960"/>
          </a:xfrm>
          <a:prstGeom prst="rect">
            <a:avLst/>
          </a:prstGeom>
        </p:spPr>
      </p:pic>
      <p:sp>
        <p:nvSpPr>
          <p:cNvPr id="10" name="Gel label"/>
          <p:cNvSpPr txBox="1"/>
          <p:nvPr/>
        </p:nvSpPr>
        <p:spPr>
          <a:xfrm>
            <a:off x="502920" y="2633472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0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KeraStat® Gel</a:t>
            </a:r>
            <a:endParaRPr lang="ko-KR" sz="1050"/>
          </a:p>
        </p:txBody>
      </p:sp>
      <p:pic>
        <p:nvPicPr>
          <p:cNvPr id="11" name="KeraStat Cream" descr="KeraStat Cream 제품 사진"/>
          <p:cNvPicPr>
            <a:picLocks noChangeAspect="1"/>
          </p:cNvPicPr>
          <p:nvPr/>
        </p:nvPicPr>
        <p:blipFill>
          <a:blip r:embed="rI2"/>
          <a:stretch>
            <a:fillRect/>
          </a:stretch>
        </p:blipFill>
        <p:spPr>
          <a:xfrm>
            <a:off x="702202" y="2907792"/>
            <a:ext cx="2116035" cy="731520"/>
          </a:xfrm>
          <a:prstGeom prst="rect">
            <a:avLst/>
          </a:prstGeom>
        </p:spPr>
      </p:pic>
      <p:sp>
        <p:nvSpPr>
          <p:cNvPr id="12" name="Cream label"/>
          <p:cNvSpPr txBox="1"/>
          <p:nvPr/>
        </p:nvSpPr>
        <p:spPr>
          <a:xfrm>
            <a:off x="502920" y="3657600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10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KeraStat® Cream</a:t>
            </a:r>
            <a:endParaRPr lang="ko-KR" sz="1050"/>
          </a:p>
        </p:txBody>
      </p:sp>
      <p:sp>
        <p:nvSpPr>
          <p:cNvPr id="13" name="Fact 0 label"/>
          <p:cNvSpPr txBox="1"/>
          <p:nvPr/>
        </p:nvSpPr>
        <p:spPr>
          <a:xfrm>
            <a:off x="640080" y="4023360"/>
            <a:ext cx="749808" cy="457200"/>
          </a:xfrm>
          <a:prstGeom prst="roundRect">
            <a:avLst>
              <a:gd name="adj" fmla="val 12000"/>
            </a:avLst>
          </a:prstGeom>
          <a:solidFill>
            <a:srgbClr val="1D6B5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85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FDA 510(k)</a:t>
            </a:r>
            <a:endParaRPr lang="ko-KR" sz="850"/>
          </a:p>
        </p:txBody>
      </p:sp>
      <p:sp>
        <p:nvSpPr>
          <p:cNvPr id="14" name="Fact 0"/>
          <p:cNvSpPr txBox="1"/>
          <p:nvPr/>
        </p:nvSpPr>
        <p:spPr>
          <a:xfrm>
            <a:off x="1444752" y="402336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85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Gel K162759 · Cream K192386</a:t>
            </a:r>
            <a:endParaRPr lang="ko-KR" sz="850"/>
          </a:p>
        </p:txBody>
      </p:sp>
      <p:sp>
        <p:nvSpPr>
          <p:cNvPr id="15" name="Fact 1 label"/>
          <p:cNvSpPr txBox="1"/>
          <p:nvPr/>
        </p:nvSpPr>
        <p:spPr>
          <a:xfrm>
            <a:off x="640080" y="4572000"/>
            <a:ext cx="749808" cy="457200"/>
          </a:xfrm>
          <a:prstGeom prst="roundRect">
            <a:avLst>
              <a:gd name="adj" fmla="val 12000"/>
            </a:avLst>
          </a:prstGeom>
          <a:solidFill>
            <a:srgbClr val="1D6B5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85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제품코드</a:t>
            </a:r>
            <a:endParaRPr lang="ko-KR" sz="850"/>
          </a:p>
        </p:txBody>
      </p:sp>
      <p:sp>
        <p:nvSpPr>
          <p:cNvPr id="16" name="Fact 1"/>
          <p:cNvSpPr txBox="1"/>
          <p:nvPr/>
        </p:nvSpPr>
        <p:spPr>
          <a:xfrm>
            <a:off x="1444752" y="457200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85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KGN (Gel)</a:t>
            </a:r>
            <a:endParaRPr lang="ko-KR" sz="850"/>
          </a:p>
        </p:txBody>
      </p:sp>
      <p:sp>
        <p:nvSpPr>
          <p:cNvPr id="17" name="Fact 2 label"/>
          <p:cNvSpPr txBox="1"/>
          <p:nvPr/>
        </p:nvSpPr>
        <p:spPr>
          <a:xfrm>
            <a:off x="640080" y="5120640"/>
            <a:ext cx="749808" cy="457200"/>
          </a:xfrm>
          <a:prstGeom prst="roundRect">
            <a:avLst>
              <a:gd name="adj" fmla="val 12000"/>
            </a:avLst>
          </a:prstGeom>
          <a:solidFill>
            <a:srgbClr val="1D6B5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sz="85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특허 계보</a:t>
            </a:r>
            <a:endParaRPr lang="ko-KR" sz="850"/>
          </a:p>
        </p:txBody>
      </p:sp>
      <p:sp>
        <p:nvSpPr>
          <p:cNvPr id="18" name="Fact 2"/>
          <p:cNvSpPr txBox="1"/>
          <p:nvPr/>
        </p:nvSpPr>
        <p:spPr>
          <a:xfrm>
            <a:off x="1444752" y="512064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85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WO1999026595A1 · US6270793B1 · US7732574</a:t>
            </a:r>
            <a:endParaRPr lang="ko-KR" sz="850"/>
          </a:p>
        </p:txBody>
      </p:sp>
      <p:graphicFrame>
        <p:nvGraphicFramePr>
          <p:cNvPr id="19" name="KeraStat comparison"/>
          <p:cNvGraphicFramePr>
            <a:graphicFrameLocks noGrp="1"/>
          </p:cNvGraphicFramePr>
          <p:nvPr/>
        </p:nvGraphicFramePr>
        <p:xfrm>
          <a:off x="3200400" y="1371600"/>
          <a:ext cx="5394960" cy="4352544"/>
        </p:xfrm>
        <a:graphic>
          <a:graphicData uri="http://schemas.openxmlformats.org/drawingml/2006/table">
            <a:tbl>
              <a:tblPr firstRow="1"/>
              <a:tblGrid>
                <a:gridCol w="868680"/>
                <a:gridCol w="1508760"/>
                <a:gridCol w="1417320"/>
                <a:gridCol w="1600200"/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항목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1D6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KeraStat Gel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1D6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KeraStat Cream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1D6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KheAl</a:t>
                      </a:r>
                      <a:endParaRPr lang="ko-KR" sz="10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1C3E6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성분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5% 사람 모발 케라틴 하이드로겔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5% 케라틴 크림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케라틴 + 알지네이트 + 히알루론산 겔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EAF0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포장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5 mL 튜브 · 멸균 · 1회용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비멸균 · 다회 사용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1.5 / 3 mL 시린지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EAF0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허가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FDA 510(k) · 처방용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FDA 510(k)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MFDS 4등급 목표 · 임상 필요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EAF0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적응증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1~2도 화상 · 찰과상 · 수술창 (3도 제외)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피부 손상 관리 · 방사선피부염 연구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3도 제외 화상 · 보호 · 습윤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EAF0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임상 근거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화상 시험 30명 계획 → 14명 등록 후 종료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유방 방사선피부염 30.8% vs 54.5% (24명, p=0.408)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성인 2도 화상 60명 · 2기관 비교임상 계획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EAF0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인정 작용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보호 · 흡수 · 습윤환경 (약효 인정 아님)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—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같은 기준 + 사용편의 · 케라틴 기여 추가 입증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EAF0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6F7775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유통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Combat Medical (화상)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ASPN Pharmacies (처방 · 배송)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900" b="1">
                          <a:solidFill>
                            <a:srgbClr val="3B3B3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연구자 → 병원 → 유통사 순</a:t>
                      </a:r>
                      <a:endParaRPr lang="ko-KR" sz="900"/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5E9E7"/>
                      </a:solidFill>
                    </a:lnT>
                    <a:lnB w="6350">
                      <a:solidFill>
                        <a:srgbClr val="E5E9E7"/>
                      </a:solidFill>
                    </a:lnB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20" name="Right card"/>
          <p:cNvSpPr/>
          <p:nvPr/>
        </p:nvSpPr>
        <p:spPr>
          <a:xfrm>
            <a:off x="8796528" y="1371600"/>
            <a:ext cx="2889504" cy="44074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EDC"/>
            </a:solidFill>
          </a:ln>
        </p:spPr>
      </p:sp>
      <p:sp>
        <p:nvSpPr>
          <p:cNvPr id="21" name="Price title"/>
          <p:cNvSpPr txBox="1"/>
          <p:nvPr/>
        </p:nvSpPr>
        <p:spPr>
          <a:xfrm>
            <a:off x="8933688" y="1481328"/>
            <a:ext cx="261518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미국 가격 벤치마크 (USD/개)</a:t>
            </a:r>
            <a:endParaRPr lang="ko-KR" sz="1050"/>
          </a:p>
        </p:txBody>
      </p:sp>
      <p:pic>
        <p:nvPicPr>
          <p:cNvPr id="22" name="Price chart" descr="KeraStat 5 mL과 KheAl 목표가 비교 막대그래프"/>
          <p:cNvPicPr>
            <a:picLocks noChangeAspect="1"/>
          </p:cNvPicPr>
          <p:nvPr/>
        </p:nvPicPr>
        <p:blipFill>
          <a:blip r:embed="rI4"/>
          <a:stretch>
            <a:fillRect/>
          </a:stretch>
        </p:blipFill>
        <p:spPr>
          <a:xfrm>
            <a:off x="8887968" y="1879249"/>
            <a:ext cx="2706624" cy="1188407"/>
          </a:xfrm>
          <a:prstGeom prst="rect">
            <a:avLst/>
          </a:prstGeom>
        </p:spPr>
      </p:pic>
      <p:sp>
        <p:nvSpPr>
          <p:cNvPr id="23" name="Price notes"/>
          <p:cNvSpPr txBox="1"/>
          <p:nvPr/>
        </p:nvSpPr>
        <p:spPr>
          <a:xfrm>
            <a:off x="8961120" y="3200400"/>
            <a:ext cx="2560320" cy="160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ko-KR" sz="900" b="1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KeraStat 5 mL</a:t>
            </a:r>
            <a:r>
              <a:rPr lang="ko-KR" sz="90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  공급자·공공계약 $73–97</a:t>
            </a:r>
            <a:endParaRPr lang="ko-KR" sz="900"/>
          </a:p>
          <a:p>
            <a:pPr marL="0" indent="0" algn="l">
              <a:spcAft>
                <a:spcPts val="400"/>
              </a:spcAft>
              <a:buNone/>
            </a:pPr>
            <a:r>
              <a:rPr lang="ko-KR" sz="90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/>
            </a:r>
            <a:r>
              <a:rPr lang="ko-KR" sz="90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약국 공개가 $31–82</a:t>
            </a:r>
            <a:endParaRPr lang="ko-KR" sz="900"/>
          </a:p>
          <a:p>
            <a:pPr marL="0" indent="0" algn="l">
              <a:spcAft>
                <a:spcPts val="400"/>
              </a:spcAft>
              <a:buNone/>
            </a:pPr>
            <a:r>
              <a:rPr lang="ko-KR" sz="90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$73 기준 mL당 $14.60</a:t>
            </a:r>
            <a:endParaRPr lang="ko-KR" sz="900"/>
          </a:p>
          <a:p>
            <a:pPr marL="0" indent="0" algn="l">
              <a:spcAft>
                <a:spcPts val="400"/>
              </a:spcAft>
              <a:buNone/>
            </a:pPr>
            <a:r>
              <a:rPr lang="ko-KR" sz="900" b="1">
                <a:solidFill>
                  <a:srgbClr val="1C3E68"/>
                </a:solidFill>
                <a:latin typeface="NanumSquare"/>
                <a:ea typeface="NanumSquare"/>
                <a:cs typeface="NanumSquare"/>
              </a:rPr>
              <a:t>KheAl 목표가</a:t>
            </a:r>
            <a:r>
              <a:rPr lang="ko-KR" sz="90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  3 mL $45–55 · 1.5 mL $24–30</a:t>
            </a:r>
            <a:endParaRPr lang="ko-KR" sz="900"/>
          </a:p>
          <a:p>
            <a:pPr marL="0" indent="0" algn="l">
              <a:spcAft>
                <a:spcPts val="400"/>
              </a:spcAft>
              <a:buNone/>
            </a:pPr>
            <a:r>
              <a:rPr lang="ko-KR" sz="900" b="1">
                <a:solidFill>
                  <a:srgbClr val="1C3E68"/>
                </a:solidFill>
                <a:latin typeface="NanumSquare"/>
                <a:ea typeface="NanumSquare"/>
                <a:cs typeface="NanumSquare"/>
              </a:rPr>
              <a:t>mL당 환산  3 mL $15–18 · 1.5 mL $16–20</a:t>
            </a:r>
            <a:endParaRPr lang="ko-KR" sz="900"/>
          </a:p>
        </p:txBody>
      </p:sp>
      <p:sp>
        <p:nvSpPr>
          <p:cNvPr id="24" name="Price caveat"/>
          <p:cNvSpPr txBox="1"/>
          <p:nvPr/>
        </p:nvSpPr>
        <p:spPr>
          <a:xfrm>
            <a:off x="8933688" y="4800600"/>
            <a:ext cx="2615184" cy="822960"/>
          </a:xfrm>
          <a:prstGeom prst="rect">
            <a:avLst/>
          </a:prstGeom>
          <a:solidFill>
            <a:srgbClr val="FBECEC"/>
          </a:solidFill>
          <a:ln>
            <a:noFill/>
          </a:ln>
        </p:spPr>
        <p:txBody>
          <a:bodyPr wrap="square" lIns="73152" tIns="45720" rIns="73152" bIns="45720" anchor="ctr">
            <a:noAutofit/>
          </a:bodyPr>
          <a:lstStyle/>
          <a:p>
            <a:pPr marL="0" indent="0" algn="l">
              <a:buNone/>
            </a:pPr>
            <a:r>
              <a:rPr lang="ko-KR" sz="850">
                <a:solidFill>
                  <a:srgbClr val="B84A4A"/>
                </a:solidFill>
                <a:latin typeface="NanumSquare"/>
                <a:ea typeface="NanumSquare"/>
                <a:cs typeface="NanumSquare"/>
              </a:rPr>
              <a:t>KheAl 목표가는 원가·보험·유통마진 확정 전 사업계획값. 공개 조달가는 병원 실구매가와 다를 수 있음</a:t>
            </a:r>
            <a:endParaRPr lang="ko-KR" sz="850"/>
          </a:p>
        </p:txBody>
      </p:sp>
      <p:sp>
        <p:nvSpPr>
          <p:cNvPr id="25" name="Lessons label"/>
          <p:cNvSpPr txBox="1"/>
          <p:nvPr/>
        </p:nvSpPr>
        <p:spPr>
          <a:xfrm>
            <a:off x="502920" y="5870448"/>
            <a:ext cx="10972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105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배울 점</a:t>
            </a:r>
            <a:endParaRPr lang="ko-KR" sz="1050"/>
          </a:p>
        </p:txBody>
      </p:sp>
      <p:sp>
        <p:nvSpPr>
          <p:cNvPr id="26" name="Lesson 0"/>
          <p:cNvSpPr txBox="1"/>
          <p:nvPr/>
        </p:nvSpPr>
        <p:spPr>
          <a:xfrm>
            <a:off x="1508760" y="5870448"/>
            <a:ext cx="3346704" cy="402336"/>
          </a:xfrm>
          <a:prstGeom prst="rect">
            <a:avLst/>
          </a:prstGeom>
          <a:solidFill>
            <a:srgbClr val="E6F1ED"/>
          </a:solidFill>
          <a:ln>
            <a:noFill/>
          </a:ln>
        </p:spPr>
        <p:txBody>
          <a:bodyPr wrap="square" lIns="91440" tIns="27432" rIns="73152" bIns="27432" anchor="ctr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허가  </a:t>
            </a:r>
            <a:r>
              <a:rPr lang="ko-KR" sz="95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약효가 아닌 ‘보호·습윤’ 기능으로 510(k) 진입</a:t>
            </a:r>
            <a:endParaRPr lang="ko-KR" sz="950"/>
          </a:p>
        </p:txBody>
      </p:sp>
      <p:sp>
        <p:nvSpPr>
          <p:cNvPr id="27" name="Lesson 1"/>
          <p:cNvSpPr txBox="1"/>
          <p:nvPr/>
        </p:nvSpPr>
        <p:spPr>
          <a:xfrm>
            <a:off x="4901184" y="5870448"/>
            <a:ext cx="3346704" cy="402336"/>
          </a:xfrm>
          <a:prstGeom prst="rect">
            <a:avLst/>
          </a:prstGeom>
          <a:solidFill>
            <a:srgbClr val="E6F1ED"/>
          </a:solidFill>
          <a:ln>
            <a:noFill/>
          </a:ln>
        </p:spPr>
        <p:txBody>
          <a:bodyPr wrap="square" lIns="91440" tIns="27432" rIns="73152" bIns="27432" anchor="ctr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임상  </a:t>
            </a:r>
            <a:r>
              <a:rPr lang="ko-KR" sz="95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화상 시험 모집 실패 → 사전 모집 조사 필수</a:t>
            </a:r>
            <a:endParaRPr lang="ko-KR" sz="950"/>
          </a:p>
        </p:txBody>
      </p:sp>
      <p:sp>
        <p:nvSpPr>
          <p:cNvPr id="28" name="Lesson 2"/>
          <p:cNvSpPr txBox="1"/>
          <p:nvPr/>
        </p:nvSpPr>
        <p:spPr>
          <a:xfrm>
            <a:off x="8293608" y="5870448"/>
            <a:ext cx="3346704" cy="402336"/>
          </a:xfrm>
          <a:prstGeom prst="rect">
            <a:avLst/>
          </a:prstGeom>
          <a:solidFill>
            <a:srgbClr val="E6F1ED"/>
          </a:solidFill>
          <a:ln>
            <a:noFill/>
          </a:ln>
        </p:spPr>
        <p:txBody>
          <a:bodyPr wrap="square" lIns="91440" tIns="27432" rIns="73152" bIns="27432" anchor="ctr">
            <a:noAutofit/>
          </a:bodyPr>
          <a:lstStyle/>
          <a:p>
            <a:pPr marL="0" indent="0" algn="l">
              <a:buNone/>
            </a:pPr>
            <a:r>
              <a:rPr lang="ko-KR" sz="950" b="1">
                <a:solidFill>
                  <a:srgbClr val="1D6B52"/>
                </a:solidFill>
                <a:latin typeface="NanumSquare"/>
                <a:ea typeface="NanumSquare"/>
                <a:cs typeface="NanumSquare"/>
              </a:rPr>
              <a:t>차별화  </a:t>
            </a:r>
            <a:r>
              <a:rPr lang="ko-KR" sz="950">
                <a:solidFill>
                  <a:srgbClr val="3B3B3B"/>
                </a:solidFill>
                <a:latin typeface="NanumSquare"/>
                <a:ea typeface="NanumSquare"/>
                <a:cs typeface="NanumSquare"/>
              </a:rPr>
              <a:t>복합 성분 + 소용량 시린지 → 굴곡 부위 편의</a:t>
            </a:r>
            <a:endParaRPr lang="ko-KR" sz="950"/>
          </a:p>
        </p:txBody>
      </p:sp>
      <p:sp>
        <p:nvSpPr>
          <p:cNvPr id="29" name="Sources"/>
          <p:cNvSpPr txBox="1"/>
          <p:nvPr/>
        </p:nvSpPr>
        <p:spPr>
          <a:xfrm>
            <a:off x="566928" y="6382512"/>
            <a:ext cx="106070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sz="750" b="1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출처: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1"/>
              </a:rPr>
              <a:t>FDA K162759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2"/>
              </a:rPr>
              <a:t>FDA K192386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3"/>
              </a:rPr>
              <a:t>NCT03564795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4"/>
              </a:rPr>
              <a:t>Breast RD Pilot (SAGE)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5"/>
              </a:rPr>
              <a:t>KeraNetics ASPN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6"/>
              </a:rPr>
              <a:t>Google Patents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7"/>
              </a:rPr>
              <a:t>EasyRx 가격</a:t>
            </a:r>
            <a:r>
              <a:rPr lang="ko-KR" sz="750">
                <a:solidFill>
                  <a:srgbClr val="6F7775"/>
                </a:solidFill>
                <a:latin typeface="NanumSquare"/>
                <a:ea typeface="NanumSquare"/>
                <a:cs typeface="NanumSquare"/>
              </a:rPr>
              <a:t>  |  </a:t>
            </a:r>
            <a:r>
              <a:rPr lang="ko-KR" sz="750" u="sng">
                <a:solidFill>
                  <a:srgbClr val="3677A8"/>
                </a:solidFill>
                <a:latin typeface="NanumSquare"/>
                <a:ea typeface="NanumSquare"/>
                <a:cs typeface="NanumSquare"/>
                <a:hlinkClick r:id="rL8"/>
              </a:rPr>
              <a:t>First Industrial Supplies 가격</a:t>
            </a:r>
            <a:endParaRPr lang="ko-KR" sz="7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2026-10-25T23:19:37.1150000Z</dcterms:created>
  <dcterms:modified xsi:type="dcterms:W3CDTF">2026-10-25T23:19:37.1150000Z</dcterms:modified>
</coreProperties>
</file>