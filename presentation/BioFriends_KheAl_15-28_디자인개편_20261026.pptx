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23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828b548cd0443c" /><Relationship Type="http://schemas.openxmlformats.org/officeDocument/2006/relationships/extended-properties" Target="/docProps/app.xml" Id="R2677fc5a8c2b498d" /><Relationship Type="http://schemas.openxmlformats.org/officeDocument/2006/relationships/officeDocument" Target="/ppt/presentation.xml" Id="R7aa13a1997a44d49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0a8f3550cb394a83"/>
  </p:sldMasterIdLst>
  <p:notesMasterIdLst>
    <p:notesMasterId xmlns:r="http://schemas.openxmlformats.org/officeDocument/2006/relationships" r:id="R3dd8caa724924de3"/>
  </p:notesMasterIdLst>
  <p:sldIdLst>
    <p:sldId xmlns:r="http://schemas.openxmlformats.org/officeDocument/2006/relationships" id="2000" r:id="RnewSlide23"/>
    <p:sldId xmlns:r="http://schemas.openxmlformats.org/officeDocument/2006/relationships" id="2001" r:id="RnewSlide20"/>
    <p:sldId xmlns:r="http://schemas.openxmlformats.org/officeDocument/2006/relationships" id="2002" r:id="RnewSlide21"/>
    <p:sldId xmlns:r="http://schemas.openxmlformats.org/officeDocument/2006/relationships" id="2003" r:id="RnewSlide22"/>
    <p:sldId xmlns:r="http://schemas.openxmlformats.org/officeDocument/2006/relationships" id="2004" r:id="RnewSlide24"/>
    <p:sldId xmlns:r="http://schemas.openxmlformats.org/officeDocument/2006/relationships" id="2005" r:id="RnewSlide25"/>
    <p:sldId xmlns:r="http://schemas.openxmlformats.org/officeDocument/2006/relationships" id="2006" r:id="RnewSlide26"/>
    <p:sldId xmlns:r="http://schemas.openxmlformats.org/officeDocument/2006/relationships" id="2007" r:id="RnewSlide27"/>
    <p:sldId xmlns:r="http://schemas.openxmlformats.org/officeDocument/2006/relationships" id="2008" r:id="RnewSlide28"/>
    <p:sldId xmlns:r="http://schemas.openxmlformats.org/officeDocument/2006/relationships" id="2009" r:id="RnewSlide29"/>
    <p:sldId xmlns:r="http://schemas.openxmlformats.org/officeDocument/2006/relationships" id="2010" r:id="RnewSlide30"/>
    <p:sldId xmlns:r="http://schemas.openxmlformats.org/officeDocument/2006/relationships" id="2011" r:id="RnewSlide31"/>
    <p:sldId xmlns:r="http://schemas.openxmlformats.org/officeDocument/2006/relationships" id="2012" r:id="RnewSlide32"/>
    <p:sldId xmlns:r="http://schemas.openxmlformats.org/officeDocument/2006/relationships" id="2013" r:id="RnewSlide33"/>
  </p:sldIdLst>
  <p:sldSz cx="12192000" cy="6858000"/>
  <p:notesSz cx="6858000" cy="9144000"/>
  <p:embeddedFontLst>
    <p:embeddedFont>
      <p:font typeface="210 옴니고딕 020"/>
      <p:regular xmlns:r="http://schemas.openxmlformats.org/officeDocument/2006/relationships" r:id="R1e5fffe09f3f49a4"/>
    </p:embeddedFont>
    <p:embeddedFont>
      <p:font typeface="210 옴니고딕 030"/>
      <p:regular xmlns:r="http://schemas.openxmlformats.org/officeDocument/2006/relationships" r:id="Ra8c2f2df4a90446f"/>
    </p:embeddedFont>
    <p:embeddedFont>
      <p:font typeface="210 옴니고딕 040"/>
      <p:regular xmlns:r="http://schemas.openxmlformats.org/officeDocument/2006/relationships" r:id="R02058ac2fcc144fc"/>
    </p:embeddedFont>
    <p:embeddedFont>
      <p:font typeface="210 옴니고딕 050"/>
      <p:regular xmlns:r="http://schemas.openxmlformats.org/officeDocument/2006/relationships" r:id="Rd0d00f9c35dc4f5b"/>
    </p:embeddedFont>
    <p:embeddedFont>
      <p:font typeface="210 OmniGothic 040"/>
      <p:regular xmlns:r="http://schemas.openxmlformats.org/officeDocument/2006/relationships" r:id="Ra73f5305c6084fd9"/>
    </p:embeddedFont>
    <p:embeddedFont>
      <p:font typeface="맑은 고딕"/>
      <p:regular xmlns:r="http://schemas.openxmlformats.org/officeDocument/2006/relationships" r:id="Ra1b10879fa654794"/>
      <p:bold xmlns:r="http://schemas.openxmlformats.org/officeDocument/2006/relationships" r:id="Rccb44b9ba71f4e35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ab05cc8ef4d24ef9"/><Relationship Type="http://schemas.openxmlformats.org/officeDocument/2006/relationships/slideMaster" Target="/ppt/slideMasters/slideMaster1.xml" Id="R0a8f3550cb394a83"/><Relationship Type="http://schemas.openxmlformats.org/officeDocument/2006/relationships/notesMaster" Target="/ppt/notesMasters/notesMaster1.xml" Id="R3dd8caa724924de3"/><Relationship Type="http://schemas.openxmlformats.org/officeDocument/2006/relationships/presProps" Target="/ppt/presProps.xml" Id="R25f782dde38e4b1f"/><Relationship Type="http://schemas.openxmlformats.org/officeDocument/2006/relationships/viewProps" Target="/ppt/viewProps.xml" Id="R462f0af5d0cf4a04"/><Relationship Type="http://schemas.openxmlformats.org/officeDocument/2006/relationships/tableStyles" Target="/ppt/tableStyles.xml" Id="Rb57d3c2298974ca8"/><Relationship Type="http://schemas.openxmlformats.org/officeDocument/2006/relationships/font" Target="/ppt/fonts/font.dat" Id="R1e5fffe09f3f49a4"/><Relationship Type="http://schemas.openxmlformats.org/officeDocument/2006/relationships/font" Target="/ppt/fonts/font2.dat" Id="Ra8c2f2df4a90446f"/><Relationship Type="http://schemas.openxmlformats.org/officeDocument/2006/relationships/font" Target="/ppt/fonts/font3.dat" Id="R02058ac2fcc144fc"/><Relationship Type="http://schemas.openxmlformats.org/officeDocument/2006/relationships/font" Target="/ppt/fonts/font4.dat" Id="Rd0d00f9c35dc4f5b"/><Relationship Type="http://schemas.openxmlformats.org/officeDocument/2006/relationships/font" Target="/ppt/fonts/font5.dat" Id="Ra73f5305c6084fd9"/><Relationship Type="http://schemas.openxmlformats.org/officeDocument/2006/relationships/font" Target="/ppt/fonts/font6.dat" Id="Ra1b10879fa654794"/><Relationship Type="http://schemas.openxmlformats.org/officeDocument/2006/relationships/font" Target="/ppt/fonts/font7.dat" Id="Rccb44b9ba71f4e35"/><Relationship Type="http://schemas.openxmlformats.org/officeDocument/2006/relationships/slide" Target="/ppt/slides/slide23.xml" Id="RnewSlide23"/><Relationship Type="http://schemas.openxmlformats.org/officeDocument/2006/relationships/slide" Target="/ppt/slides/slide20.xml" Id="RnewSlide20"/><Relationship Type="http://schemas.openxmlformats.org/officeDocument/2006/relationships/slide" Target="/ppt/slides/slide21.xml" Id="RnewSlide21"/><Relationship Type="http://schemas.openxmlformats.org/officeDocument/2006/relationships/slide" Target="/ppt/slides/slide22.xml" Id="RnewSlide22"/><Relationship Type="http://schemas.openxmlformats.org/officeDocument/2006/relationships/slide" Target="/ppt/slides/slide24.xml" Id="RnewSlide24"/><Relationship Type="http://schemas.openxmlformats.org/officeDocument/2006/relationships/slide" Target="/ppt/slides/slide25.xml" Id="RnewSlide25"/><Relationship Type="http://schemas.openxmlformats.org/officeDocument/2006/relationships/slide" Target="/ppt/slides/slide26.xml" Id="RnewSlide26"/><Relationship Type="http://schemas.openxmlformats.org/officeDocument/2006/relationships/slide" Target="/ppt/slides/slide27.xml" Id="RnewSlide27"/><Relationship Type="http://schemas.openxmlformats.org/officeDocument/2006/relationships/slide" Target="/ppt/slides/slide28.xml" Id="RnewSlide28"/><Relationship Type="http://schemas.openxmlformats.org/officeDocument/2006/relationships/slide" Target="/ppt/slides/slide29.xml" Id="RnewSlide29"/><Relationship Type="http://schemas.openxmlformats.org/officeDocument/2006/relationships/slide" Target="/ppt/slides/slide30.xml" Id="RnewSlide30"/><Relationship Type="http://schemas.openxmlformats.org/officeDocument/2006/relationships/slide" Target="/ppt/slides/slide31.xml" Id="RnewSlide31"/><Relationship Type="http://schemas.openxmlformats.org/officeDocument/2006/relationships/slide" Target="/ppt/slides/slide32.xml" Id="RnewSlide32"/><Relationship Type="http://schemas.openxmlformats.org/officeDocument/2006/relationships/slide" Target="/ppt/slides/slide33.xml" Id="RnewSlide33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7cffc505ca47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6bef15d5c43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acb9b6def49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49753e2a34a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bf89f42534b79" /><Relationship Type="http://schemas.openxmlformats.org/officeDocument/2006/relationships/image" Target="/ppt/media/image.png" Id="R28245f65bd1c4f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1cdf2775747fd" /><Relationship Type="http://schemas.openxmlformats.org/officeDocument/2006/relationships/image" Target="/ppt/media/image.png" Id="R51c917966140421a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85B8BF42-5368-4EFB-81C9-CF1D0E0624D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B4AFFA5F-EECD-4C6E-A1C3-B83E74C0B6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19E64B08-9214-4817-AD1C-9F072A0B52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C06F6D-E772-4DFB-BEF0-298330700462}" type="datetimeFigureOut">
              <a:t>2026. 8. 14.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6F0898DA-E206-477C-A334-319F9D5CD2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00E7416-5109-430E-89BC-7EC6A8751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F1C42F-623A-4913-A961-0477D0E33F8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A95E06C-B113-40E1-9AFB-0959FFBD3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E1DDD817-27E8-49DE-A714-F489B1E823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C06F6D-E772-4DFB-BEF0-298330700462}" type="datetimeFigureOut">
              <a:t>2026. 8. 14.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C41C116C-322C-4498-83A8-44F1639567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5AED3FDA-B5BB-4C61-9622-BE2AA6EBFF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F1C42F-623A-4913-A961-0477D0E33F8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C133304A-4057-4776-9EBA-22FFE118D8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C06F6D-E772-4DFB-BEF0-298330700462}" type="datetimeFigureOut">
              <a:t>2026. 8. 14.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9A4D3F9E-C939-47AF-9AA5-5C4A7D23DC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5A0A439A-0671-4218-8FCF-741C61680A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F1C42F-623A-4913-A961-0477D0E33F8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그림 8">
            <a:extLst xmlns:a="http://schemas.openxmlformats.org/drawingml/2006/main">
              <a:ext uri="{FF2B5EF4-FFF2-40B4-BE49-F238E27FC236}">
                <a16:creationId xmlns:a16="http://schemas.microsoft.com/office/drawing/2014/main" id="{89571B9D-300A-4E5B-9278-280573E949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45f65bd1c4f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6314245C-E569-4F2B-B956-0AEB209DF8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C06F6D-E772-4DFB-BEF0-298330700462}" type="datetimeFigureOut">
              <a:t>2026. 8. 14.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3FD1FF13-7F19-4F65-9D7B-3094F99EF7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69A5DD03-3445-4020-B0CF-CE53E697F3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F1C42F-623A-4913-A961-0477D0E33F8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749E2B7C-4C5B-484E-9620-93D8C27B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799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210 옴니고딕 030"/>
              <a:ea typeface="210 옴니고딕 030"/>
              <a:cs typeface="210 옴니고딕 030"/>
            </a:endParaRPr>
          </a:p>
        </p:txBody>
      </p:sp>
      <p:pic>
        <p:nvPicPr>
          <p:cNvPr id="7" name="그림 6">
            <a:extLst xmlns:a="http://schemas.openxmlformats.org/drawingml/2006/main">
              <a:ext uri="{FF2B5EF4-FFF2-40B4-BE49-F238E27FC236}">
                <a16:creationId xmlns:a16="http://schemas.microsoft.com/office/drawing/2014/main" id="{428B56AE-B9EB-49B4-BB1D-A959F7FAA6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c917966140421a"/>
          <a:srcRect xmlns:a="http://schemas.openxmlformats.org/drawingml/2006/main" l="0" t="0" r="0" b="8266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88720"/>
          </a:xfrm>
          <a:prstGeom xmlns:a="http://schemas.openxmlformats.org/drawingml/2006/main" prst="rect">
            <a:avLst/>
          </a:prstGeom>
        </p:spPr>
      </p:pic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F795ECB3-F11B-44BE-860F-64D67C0A6C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C06F6D-E772-4DFB-BEF0-298330700462}" type="datetimeFigureOut">
              <a:t>2026. 8. 14.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08CA864A-5E7B-4F62-801F-3FC8603B5D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5D50F69C-2C75-4EC2-9C04-4448073CE8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F1C42F-623A-4913-A961-0477D0E33F8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6a77750a844783" /><Relationship Type="http://schemas.openxmlformats.org/officeDocument/2006/relationships/slideLayout" Target="/ppt/slideLayouts/slideLayout1.xml" Id="Rb65fcf2517614d40" /><Relationship Type="http://schemas.openxmlformats.org/officeDocument/2006/relationships/slideLayout" Target="/ppt/slideLayouts/slideLayout2.xml" Id="R164c2b98706a4be6" /><Relationship Type="http://schemas.openxmlformats.org/officeDocument/2006/relationships/slideLayout" Target="/ppt/slideLayouts/slideLayout3.xml" Id="R130b559fdb554eba" /><Relationship Type="http://schemas.openxmlformats.org/officeDocument/2006/relationships/slideLayout" Target="/ppt/slideLayouts/slideLayout4.xml" Id="R06e57d3a57904d35" /><Relationship Type="http://schemas.openxmlformats.org/officeDocument/2006/relationships/slideLayout" Target="/ppt/slideLayouts/slideLayout5.xml" Id="Re06d688ae3054fc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8222AF8A-A0BF-4F6B-83E9-E7F716711D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0B8B36F0-131D-4D01-A3BB-F3B12446C5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D2D0A049-E795-4479-8A01-BA5595459D7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210 옴니고딕 030"/>
                <a:ea typeface="210 옴니고딕 030"/>
                <a:cs typeface="210 옴니고딕 030"/>
              </a:defRPr>
            </a:lvl1pPr>
          </a:lstStyle>
          <a:p xmlns:a="http://schemas.openxmlformats.org/drawingml/2006/main">
            <a:fld id="{02C06F6D-E772-4DFB-BEF0-298330700462}" type="datetimeFigureOut">
              <a:t>2026. 8. 14.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EA61A66-73D4-40E6-8FCC-F2540C8CB7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210 옴니고딕 030"/>
                <a:ea typeface="210 옴니고딕 030"/>
                <a:cs typeface="210 옴니고딕 030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1A4710F-FF6A-4FA3-BE0B-4403C3E124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210 옴니고딕 030"/>
                <a:ea typeface="210 옴니고딕 030"/>
                <a:cs typeface="210 옴니고딕 030"/>
              </a:defRPr>
            </a:lvl1pPr>
          </a:lstStyle>
          <a:p xmlns:a="http://schemas.openxmlformats.org/drawingml/2006/main">
            <a:fld id="{57F1C42F-623A-4913-A961-0477D0E33F8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5fcf2517614d40"/>
    <p:sldLayoutId xmlns:r="http://schemas.openxmlformats.org/officeDocument/2006/relationships" id="2147483650" r:id="R164c2b98706a4be6"/>
    <p:sldLayoutId xmlns:r="http://schemas.openxmlformats.org/officeDocument/2006/relationships" id="2147483651" r:id="R130b559fdb554eba"/>
    <p:sldLayoutId xmlns:r="http://schemas.openxmlformats.org/officeDocument/2006/relationships" id="2147483652" r:id="R06e57d3a57904d35"/>
    <p:sldLayoutId xmlns:r="http://schemas.openxmlformats.org/officeDocument/2006/relationships" id="2147483653" r:id="Re06d688ae3054fc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210 옴니고딕 030"/>
          <a:ea typeface="210 옴니고딕 030"/>
          <a:cs typeface="210 옴니고딕 030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210 옴니고딕 030"/>
          <a:ea typeface="210 옴니고딕 030"/>
          <a:cs typeface="210 옴니고딕 030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210 옴니고딕 030"/>
          <a:ea typeface="210 옴니고딕 030"/>
          <a:cs typeface="210 옴니고딕 030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210 옴니고딕 030"/>
          <a:ea typeface="210 옴니고딕 030"/>
          <a:cs typeface="210 옴니고딕 030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210 옴니고딕 030"/>
          <a:ea typeface="210 옴니고딕 030"/>
          <a:cs typeface="210 옴니고딕 030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210 옴니고딕 030"/>
          <a:ea typeface="210 옴니고딕 030"/>
          <a:cs typeface="210 옴니고딕 030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L1" Type="http://schemas.openxmlformats.org/officeDocument/2006/relationships/hyperlink" Target="https://dmed.co.kr/services/" TargetMode="External"/><Relationship Id="rL2" Type="http://schemas.openxmlformats.org/officeDocument/2006/relationships/hyperlink" Target="https://www.venturesquare.net/952837" TargetMode="External"/><Relationship Id="rL3" Type="http://schemas.openxmlformats.org/officeDocument/2006/relationships/hyperlink" Target="https://genewel.com/kr/sub/products/prod.php?idx=7&amp;mode=view&amp;s_align=0&amp;s_cate=101011" TargetMode="External"/><Relationship Id="rL4" Type="http://schemas.openxmlformats.org/officeDocument/2006/relationships/hyperlink" Target="https://www.onemedison.com/bbs/board.php?bo_table=product&amp;wr_id=29" TargetMode="External"/><Relationship Id="rL5" Type="http://schemas.openxmlformats.org/officeDocument/2006/relationships/hyperlink" Target="https://wonbiogen.co.kr/kor/product/detail.html?f_uid=1" TargetMode="External"/><Relationship Id="rL6" Type="http://schemas.openxmlformats.org/officeDocument/2006/relationships/hyperlink" Target="https://m.dailypharm.com/user/news/232410" TargetMode="External"/><Relationship Id="rL7" Type="http://schemas.openxmlformats.org/officeDocument/2006/relationships/hyperlink" Target="https://www.wonbiogen.co.kr/kor/product/detail.html?f_ref=3&amp;f_uid=78" TargetMode="External"/><Relationship Id="rL8" Type="http://schemas.openxmlformats.org/officeDocument/2006/relationships/hyperlink" Target="https://dailypharm.com/user/news/22779" TargetMode="External"/><Relationship Id="rL9" Type="http://schemas.openxmlformats.org/officeDocument/2006/relationships/hyperlink" Target="https://dailypharm.com/user/news/51814" TargetMode="External"/><Relationship Id="rL10" Type="http://schemas.openxmlformats.org/officeDocument/2006/relationships/hyperlink" Target="https://medigatenews.com/news/840685051" TargetMode="Externa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L1" Type="http://schemas.openxmlformats.org/officeDocument/2006/relationships/hyperlink" Target="https://www.nhsgrampian.org/globalassets/foidocument/foi-public-documents1---all-documents/WCF_IntrasiteGel.pdf" TargetMode="External"/><Relationship Id="rL2" Type="http://schemas.openxmlformats.org/officeDocument/2006/relationships/hyperlink" Target="https://prod-multisite-us.coloplast.com/coloplast/wound-care/purilon-gel" TargetMode="External"/><Relationship Id="rL3" Type="http://schemas.openxmlformats.org/officeDocument/2006/relationships/hyperlink" Target="https://www.solventum.com/en-nz/home/f/b5005265144/" TargetMode="External"/><Relationship Id="rL4" Type="http://schemas.openxmlformats.org/officeDocument/2006/relationships/hyperlink" Target="https://www.accessdata.fda.gov/cdrh_docs/pdf18/K182010.pdf" TargetMode="External"/><Relationship Id="rL5" Type="http://schemas.openxmlformats.org/officeDocument/2006/relationships/hyperlink" Target="https://accessgudid.nlm.nih.gov/devices/00850072068879" TargetMode="External"/><Relationship Id="rL6" Type="http://schemas.openxmlformats.org/officeDocument/2006/relationships/hyperlink" Target="https://www.solventum.com/en-us/home/f/b5005265077/" TargetMode="External"/><Relationship Id="rL7" Type="http://schemas.openxmlformats.org/officeDocument/2006/relationships/hyperlink" Target="https://510k.innolitics.com/device/K073251" TargetMode="External"/><Relationship Id="rL8" Type="http://schemas.openxmlformats.org/officeDocument/2006/relationships/hyperlink" Target="https://pmc.ncbi.nlm.nih.gov/articles/PMC5533852/" TargetMode="External"/><Relationship Id="rL9" Type="http://schemas.openxmlformats.org/officeDocument/2006/relationships/hyperlink" Target="https://www.lohmann-rauscher.com/en/products/wound-care/modern-wound-care/suprasorb-a/" TargetMode="External"/><Relationship Id="rL10" Type="http://schemas.openxmlformats.org/officeDocument/2006/relationships/hyperlink" Target="https://www.molnlycke.com/en-gb/products/wound-care/antimicrobial-dressings/mepilex-ag/" TargetMode="External"/><Relationship Id="rL11" Type="http://schemas.openxmlformats.org/officeDocument/2006/relationships/hyperlink" Target="https://www.convatec.com/advanced-wound-care/aquacel-family-of-dressings/" TargetMode="External"/><Relationship Id="rL12" Type="http://schemas.openxmlformats.org/officeDocument/2006/relationships/hyperlink" Target="https://www.smith-nephew.com/en/news/2018/11/27/20181127-study-demonstrates-acticoat-helps-achieve-better-clinical-outcomes" TargetMode="Externa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I1" Type="http://schemas.openxmlformats.org/officeDocument/2006/relationships/image" Target="/ppt/media/cmp_kerastat_gel.png"/><Relationship Id="rI2" Type="http://schemas.openxmlformats.org/officeDocument/2006/relationships/image" Target="/ppt/media/image6.jpeg"/><Relationship Id="rI4" Type="http://schemas.openxmlformats.org/officeDocument/2006/relationships/image" Target="/ppt/media/cmp_price_benchmark.png"/><Relationship Id="rI5" Type="http://schemas.openxmlformats.org/officeDocument/2006/relationships/image" Target="/ppt/media/cmp_kheal_product.png"/><Relationship Id="rL1" Type="http://schemas.openxmlformats.org/officeDocument/2006/relationships/hyperlink" Target="https://www.accessdata.fda.gov/cdrh_docs/pdf16/K162759.pdf" TargetMode="External"/><Relationship Id="rL2" Type="http://schemas.openxmlformats.org/officeDocument/2006/relationships/hyperlink" Target="https://www.accessdata.fda.gov/cdrh_docs/pdf19/K192386.pdf" TargetMode="External"/><Relationship Id="rL3" Type="http://schemas.openxmlformats.org/officeDocument/2006/relationships/hyperlink" Target="https://clinicaltrials.gov/study/NCT03564795" TargetMode="External"/><Relationship Id="rL4" Type="http://schemas.openxmlformats.org/officeDocument/2006/relationships/hyperlink" Target="https://journals.sagepub.com/doi/10.1177/15330338231222137" TargetMode="External"/><Relationship Id="rL5" Type="http://schemas.openxmlformats.org/officeDocument/2006/relationships/hyperlink" Target="https://www.keranetics.com/aspn-pharmacies-becomes-primary-distributor-of-kerastat-cream/" TargetMode="External"/><Relationship Id="rL6" Type="http://schemas.openxmlformats.org/officeDocument/2006/relationships/hyperlink" Target="https://patents.google.com/patent/US6270793B1/en" TargetMode="External"/><Relationship Id="rL7" Type="http://schemas.openxmlformats.org/officeDocument/2006/relationships/hyperlink" Target="https://easyrx.com/medications/kerastat-keratin/" TargetMode="External"/><Relationship Id="rL8" Type="http://schemas.openxmlformats.org/officeDocument/2006/relationships/hyperlink" Target="https://www.firstindustrialsupplies.com/kerastat-gel-5ml-tube-38-175/" TargetMode="Externa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L1" Type="http://schemas.openxmlformats.org/officeDocument/2006/relationships/hyperlink" Target="https://www.sec.gov/Archives/edgar/data/845982/000110465926028258/snn-20251231x20f.htm" TargetMode="External"/><Relationship Id="rL2" Type="http://schemas.openxmlformats.org/officeDocument/2006/relationships/hyperlink" Target="https://www.marketsandmarkets.com/ResearchInsight/wound-dressings-market.asp" TargetMode="Externa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L1" Type="http://schemas.openxmlformats.org/officeDocument/2006/relationships/hyperlink" Target="https://www.woundsource.com/" TargetMode="External"/><Relationship Id="rL2" Type="http://schemas.openxmlformats.org/officeDocument/2006/relationships/hyperlink" Target="https://genewel.com/kr/sub/products/woundcare.php" TargetMode="Externa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L1" Type="http://schemas.openxmlformats.org/officeDocument/2006/relationships/hyperlink" Target="https://pubmed.ncbi.nlm.nih.gov/24631248/" TargetMode="External"/><Relationship Id="rL2" Type="http://schemas.openxmlformats.org/officeDocument/2006/relationships/hyperlink" Target="https://pubmed.ncbi.nlm.nih.gov/29107632/" TargetMode="External"/><Relationship Id="rL3" Type="http://schemas.openxmlformats.org/officeDocument/2006/relationships/hyperlink" Target="https://onlinelibrary.wiley.com/doi/10.1155/2016/1803912" TargetMode="External"/><Relationship Id="rL4" Type="http://schemas.openxmlformats.org/officeDocument/2006/relationships/hyperlink" Target="https://journals.sagepub.com/doi/10.1177/15330338231222137" TargetMode="External"/><Relationship Id="rL5" Type="http://schemas.openxmlformats.org/officeDocument/2006/relationships/hyperlink" Target="https://pubmed.ncbi.nlm.nih.gov/39363952/" TargetMode="External"/><Relationship Id="rL6" Type="http://schemas.openxmlformats.org/officeDocument/2006/relationships/hyperlink" Target="https://clinicaltrials.gov/study/NCT03564795" TargetMode="External"/><Relationship Id="rL7" Type="http://schemas.openxmlformats.org/officeDocument/2006/relationships/hyperlink" Target="https://onlinelibrary.wiley.com/doi/full/10.1111/iwj.70029" TargetMode="Externa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I1" Type="http://schemas.openxmlformats.org/officeDocument/2006/relationships/image" Target="/ppt/media/cmp_kheal_product.png"/><Relationship Id="rL1" Type="http://schemas.openxmlformats.org/officeDocument/2006/relationships/hyperlink" Target="https://www.accessdata.fda.gov/cdrh_docs/pdf16/K162759.pdf" TargetMode="External"/><Relationship Id="rL2" Type="http://schemas.openxmlformats.org/officeDocument/2006/relationships/hyperlink" Target="https://pubmed.ncbi.nlm.nih.gov/29107632/" TargetMode="External"/><Relationship Id="rL3" Type="http://schemas.openxmlformats.org/officeDocument/2006/relationships/hyperlink" Target="https://www.biofriends.co.kr/" TargetMode="Externa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L1" Type="http://schemas.openxmlformats.org/officeDocument/2006/relationships/hyperlink" Target="https://www.law.go.kr/admRulInfoP.do?admRulSeq=2100000275656&amp;chrClsCd=010202&amp;urlMode=admRulRvsInfoR" TargetMode="External"/><Relationship Id="rL2" Type="http://schemas.openxmlformats.org/officeDocument/2006/relationships/hyperlink" Target="https://www.law.go.kr/LSW/lsInfoP.do?ancYnChk=0&amp;chrClsCd=010202&amp;efYd=20260701&amp;lsiSeq=287877&amp;urlMode=lsInfoP" TargetMode="Externa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L1" Type="http://schemas.openxmlformats.org/officeDocument/2006/relationships/hyperlink" Target="https://clinicaltrials.gov/study/NCT03564795" TargetMode="External"/><Relationship Id="rL2" Type="http://schemas.openxmlformats.org/officeDocument/2006/relationships/hyperlink" Target="https://cdn.clinicaltrials.gov/large-docs/95/NCT03564795/Prot_SAP_001.pdf" TargetMode="Externa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L1" Type="http://schemas.openxmlformats.org/officeDocument/2006/relationships/hyperlink" Target="https://irb.hallym.or.kr/hgirb/ptp004.jsp" TargetMode="External"/><Relationship Id="rL2" Type="http://schemas.openxmlformats.org/officeDocument/2006/relationships/hyperlink" Target="https://irb.hallym.or.kr/hgirb/ptp008.jsp" TargetMode="External"/><Relationship Id="rL3" Type="http://schemas.openxmlformats.org/officeDocument/2006/relationships/hyperlink" Target="https://hrpp.snuh.org/hrpp/content.do?key=2608270001" TargetMode="External"/><Relationship Id="rL4" Type="http://schemas.openxmlformats.org/officeDocument/2006/relationships/hyperlink" Target="https://ocr.yuhs.ac/HPC/Sinchon/IRB/IrbFee" TargetMode="External"/><Relationship Id="rL5" Type="http://schemas.openxmlformats.org/officeDocument/2006/relationships/hyperlink" Target="https://kind.krx.co.kr/external/2026/05/14/000371/20260514000800/11013.htm" TargetMode="Externa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L1" Type="http://schemas.openxmlformats.org/officeDocument/2006/relationships/hyperlink" Target="https://www.corvia-cro.com/" TargetMode="External"/><Relationship Id="rL2" Type="http://schemas.openxmlformats.org/officeDocument/2006/relationships/hyperlink" Target="https://research.cuanschutz.edu/cros/clinical-research-support-team" TargetMode="External"/><Relationship Id="rL3" Type="http://schemas.openxmlformats.org/officeDocument/2006/relationships/hyperlink" Target="https://med.virginia.edu/clinicalresearch/fees/" TargetMode="Externa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L1" Type="http://schemas.openxmlformats.org/officeDocument/2006/relationships/hyperlink" Target="https://www.kmdf.org/official/view/id/4090" TargetMode="External"/><Relationship Id="rL2" Type="http://schemas.openxmlformats.org/officeDocument/2006/relationships/hyperlink" Target="https://www.kmdf.org/official/view/id/4315" TargetMode="External"/><Relationship Id="rL3" Type="http://schemas.openxmlformats.org/officeDocument/2006/relationships/hyperlink" Target="https://www.khidi.or.kr/board/view?linkId=48938749&amp;menuId=MENU01108" TargetMode="External"/><Relationship Id="rL4" Type="http://schemas.openxmlformats.org/officeDocument/2006/relationships/hyperlink" Target="https://www.khidi.or.kr/board?menuId=MENU03830&amp;siteId=SITE00039" TargetMode="Externa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L1" Type="http://schemas.openxmlformats.org/officeDocument/2006/relationships/hyperlink" Target="https://hangang.hallym.or.kr/index.asp" TargetMode="External"/><Relationship Id="rL2" Type="http://schemas.openxmlformats.org/officeDocument/2006/relationships/hyperlink" Target="https://ctc.bestian.kr/about/greeting" TargetMode="External"/><Relationship Id="rL3" Type="http://schemas.openxmlformats.org/officeDocument/2006/relationships/hyperlink" Target="https://www.keranetics.com/aspn-pharmacies-becomes-primary-distributor-of-kerastat-cream/" TargetMode="External"/><Relationship Id="rL4" Type="http://schemas.openxmlformats.org/officeDocument/2006/relationships/hyperlink" Target="https://www.keranetics.com/thermal-burns/" TargetMode="External"/><Relationship Id="rL5" Type="http://schemas.openxmlformats.org/officeDocument/2006/relationships/hyperlink" Target="https://www.prnewswire.com/news-releases/progenacare-global-awarded-reconstructive-skin-grafting-products-agreement-with-premier-inc-302105901.html" TargetMode="Externa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L1" Type="http://schemas.openxmlformats.org/officeDocument/2006/relationships/hyperlink" Target="https://govtribe.com/file/government-file/t0106-price-line-103-2024-combat-safeguard-medical-price-list-dot-xlsx-1" TargetMode="External"/><Relationship Id="rL2" Type="http://schemas.openxmlformats.org/officeDocument/2006/relationships/hyperlink" Target="https://www.keranetics.com/products/kerastat-gel/" TargetMode="External"/></Relationships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국내 경쟁제품 — 형태·소재별 정리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바르는 겔 직접 경쟁은 2개 · 이번 조사에서 국내 케라틴 창상피복재는 확인되지 않음 · 화상 세포치료제는 의약품 경로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16</a:t>
            </a:r>
            <a:endParaRPr lang="ko-KR" sz="750"/>
          </a:p>
        </p:txBody>
      </p:sp>
      <p:graphicFrame>
        <p:nvGraphicFramePr>
          <p:cNvPr id="7" name="Competitor table"/>
          <p:cNvGraphicFramePr>
            <a:graphicFrameLocks noGrp="1"/>
          </p:cNvGraphicFramePr>
          <p:nvPr/>
        </p:nvGraphicFramePr>
        <p:xfrm>
          <a:off x="502920" y="1371600"/>
          <a:ext cx="11183112" cy="4636008"/>
        </p:xfrm>
        <a:graphic>
          <a:graphicData uri="http://schemas.openxmlformats.org/drawingml/2006/table">
            <a:tbl>
              <a:tblPr firstRow="1"/>
              <a:tblGrid>
                <a:gridCol w="1188720"/>
                <a:gridCol w="2103120"/>
                <a:gridCol w="2606040"/>
                <a:gridCol w="2331720"/>
                <a:gridCol w="1691640"/>
                <a:gridCol w="1261872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구분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제품 · 회사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형태 · 핵심 성분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주 용도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허가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KheAl과 관계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9319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바르는 겔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하이드로겔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JUVENCOLL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Dmed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창상관리용 겔 (상세 성분 미공개)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창상 관리 · 삼출물 흡수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등급 미확인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93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써지큐어 Surgicure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티앤알바이오팹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국소 하이드로겔 · 돼지 유래 ECM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상처 보호 · 흉터 관리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2등급 (보도 기준)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93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메디폼® H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제네웰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패치형 하이드로겔 10×10cm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가벼운 상처 보호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2등급 · 제인 08-306호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C3E68"/>
                    </a:solidFill>
                  </a:tcPr>
                </a:tc>
              </a:tr>
              <a:tr h="393192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콜라겐·HA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생체소재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CUREWEL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Dmed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콜라겐 매트릭스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화상 · 창상 관리 · 보습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등급 미확인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7F5AA2"/>
                    </a:solidFill>
                  </a:tcPr>
                </a:tc>
              </a:tr>
              <a:tr h="393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HYPLAST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원메디슨 (국내 유통)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아텔로콜라겐 + 히알루론산나트륨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창상 · 2도 화상 보호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제조국 · 등급 미확인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7F5AA2"/>
                    </a:solidFill>
                  </a:tcPr>
                </a:tc>
              </a:tr>
              <a:tr h="393192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흡수형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폼 · 하이드로콜로이드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테라솝 알지 플러스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원바이오젠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흡수성 폼 드레싱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1~2도 화상 · 진물 많은 상처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제허 18-447호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C3E68"/>
                    </a:solidFill>
                  </a:tcPr>
                </a:tc>
              </a:tr>
              <a:tr h="393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이지덤 · 이지덤 폼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대웅제약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하이드로콜로이드 / 폴리우레탄 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찰과상 · 화상 · 욕창 습윤관리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의료기기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C3E68"/>
                    </a:solidFill>
                  </a:tcPr>
                </a:tc>
              </a:tr>
              <a:tr h="393192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항균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은 함유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메디솝 AG+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원바이오젠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은 함유 폴리우레탄 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화상 · 진물 많은 상처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제허 21-428호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B84A4A"/>
                    </a:solidFill>
                  </a:tcPr>
                </a:tc>
              </a:tr>
              <a:tr h="393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메디폼 실버 플러스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한국먼디파마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실버설파디아진 함유 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화상 상처 (2023 출시)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의료기기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B84A4A"/>
                    </a:solidFill>
                  </a:tcPr>
                </a:tc>
              </a:tr>
              <a:tr h="393192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세포치료제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의약품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칼로덤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테고사이언스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동종 각질세포 시트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2도 화상 · 당뇨발 (심부 2도 급여)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의약품 (2005 허가)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다른 허가 경로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D98B2B"/>
                    </a:solidFill>
                  </a:tcPr>
                </a:tc>
              </a:tr>
              <a:tr h="393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케라힐-알로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바이오솔루션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동종 각질세포 하이드로겔 · 시린지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심부 2도 화상 재상피화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첨단바이오의약품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다른 허가 경로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D98B2B"/>
                    </a:solidFill>
                  </a:tcPr>
                </a:tc>
              </a:tr>
            </a:tbl>
          </a:graphicData>
        </a:graphic>
      </p:graphicFrame>
      <p:sp>
        <p:nvSpPr>
          <p:cNvPr id="8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Dmed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티앤알바이오팹 써지큐어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3"/>
              </a:rPr>
              <a:t>제네웰 메디폼 H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4"/>
              </a:rPr>
              <a:t>원메디슨 HYPLAST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5"/>
              </a:rPr>
              <a:t>원바이오젠 테라솝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6"/>
              </a:rPr>
              <a:t>대웅 이지덤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7"/>
              </a:rPr>
              <a:t>원바이오젠 메디솝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8"/>
              </a:rPr>
              <a:t>먼디파마 메디폼 실버 플러스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9"/>
              </a:rPr>
              <a:t>테고사이언스 칼로덤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0"/>
              </a:rPr>
              <a:t>바이오솔루션 케라힐-알로</a:t>
            </a:r>
            <a:endParaRPr lang="ko-KR" sz="7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해외 경쟁제품 — 형태·소재별 정리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케라틴 원료는 해외에서 이미 허가·시판 중 → 차별점은 ‘케라틴+알지네이트+HA 바르는 겔’과 화상 임상 근거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17</a:t>
            </a:r>
            <a:endParaRPr lang="ko-KR" sz="750"/>
          </a:p>
        </p:txBody>
      </p:sp>
      <p:graphicFrame>
        <p:nvGraphicFramePr>
          <p:cNvPr id="7" name="Competitor table"/>
          <p:cNvGraphicFramePr>
            <a:graphicFrameLocks noGrp="1"/>
          </p:cNvGraphicFramePr>
          <p:nvPr/>
        </p:nvGraphicFramePr>
        <p:xfrm>
          <a:off x="502920" y="1371600"/>
          <a:ext cx="11183112" cy="4887468"/>
        </p:xfrm>
        <a:graphic>
          <a:graphicData uri="http://schemas.openxmlformats.org/drawingml/2006/table">
            <a:tbl>
              <a:tblPr firstRow="1"/>
              <a:tblGrid>
                <a:gridCol w="1188720"/>
                <a:gridCol w="2103120"/>
                <a:gridCol w="2514600"/>
                <a:gridCol w="2148840"/>
                <a:gridCol w="1965960"/>
                <a:gridCol w="1261872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구분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제품 · 회사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형태 · 핵심 성분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주 용도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KheAl 대비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KheAl과 관계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5204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바르는 겔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하이드로겔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IntraSite Gel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Smith+Nephew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무정형 하이드로겔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괴사조직 제거 · 화상 · 저삼출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케라틴 없음 · 같은 사용 상황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Purilon® Gel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Coloplast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CMC + 칼슘 알지네이트 겔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건조 · 괴사 상처 · 1~2도 화상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알지네이트 겔 — 조성 가장 유사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Nu-Gel™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Solventum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투명 하이드로겔 + 알지네이트나트륨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수분 공급 · 자가용해 보조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알지네이트 겔 선례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5204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케라틴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같은 원료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6B5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KeraStat® Gel · Cream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KeraNetics · FDA K162759 / K192386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5% 사람 모발 케라틴 겔 · 크림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부분층 화상 · 피부 손상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다음 장에서 별도 비교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핵심 벤치마크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ProgenaMatrix®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ProgenaCare · FDA K182010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사람 모발 케라틴 매트릭스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부분·전층 창상 · 1~2도 화상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같은 원료 · 시트형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원료 동일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7F5AA2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Keramatrix®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Biowound Solutions · 선행 K080949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양모 유래 케라틴 드레싱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부분·전층 창상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양모 케라틴 · 시트형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원료 유사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7F5AA2"/>
                    </a:solidFill>
                  </a:tcPr>
                </a:tc>
              </a:tr>
              <a:tr h="35204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콜라겐·HA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화상 피복막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Fibracol™ Plus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Solventum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콜라겐 90% + 칼슘 알지네이트 10%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흡수 · 겔 형성 · 습윤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단백질+알지네이트 조합 선례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7F5AA2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Hyalomatrix®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Anika · FDA K073251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히알루론산 에스터 + 실리콘 막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2도 화상 · 부분·전층 창상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HA 소재 · 시트형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7F5AA2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Suprathel®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PolyMedics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합성 생분해 막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부분층 화상 · 피부 공여부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같은 적응증 · 막 형태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C3E6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흡수형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알지네이트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Suprasorb® A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Lohmann &amp; Rauscher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칼슘 알지네이트 섬유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진물 많은 상처 · 겔 형성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진물 많을 때만 겹침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C3E68"/>
                    </a:solidFill>
                  </a:tcPr>
                </a:tc>
              </a:tr>
              <a:tr h="35204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항균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은 함유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Mepilex® Ag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Mölnlycke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은 함유 실리콘 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감염 위험 · 진물 중~많음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항균이 필요할 때 사용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B84A4A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AQUACEL® Ag+ Extra™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ConvaTec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하이드로파이버 + 은 + EDTA/BEC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진물 많음 · 세균막 관리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항균이 필요할 때 사용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B84A4A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Acticoat™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Smith+Nephew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나노결정 은 시트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감염(위험) 부분·전층 화상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항균이 필요할 때 사용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B84A4A"/>
                    </a:solidFill>
                  </a:tcPr>
                </a:tc>
              </a:tr>
            </a:tbl>
          </a:graphicData>
        </a:graphic>
      </p:graphicFrame>
      <p:sp>
        <p:nvSpPr>
          <p:cNvPr id="8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IntraSite (NHS)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Coloplast Purilon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3"/>
              </a:rPr>
              <a:t>Solventum Nu-Gel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4"/>
              </a:rPr>
              <a:t>FDA K182010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5"/>
              </a:rPr>
              <a:t>GUDID Keramatrix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6"/>
              </a:rPr>
              <a:t>Solventum Fibracol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7"/>
              </a:rPr>
              <a:t>Hyalomatrix K073251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8"/>
              </a:rPr>
              <a:t>Suprathel 화상 연구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9"/>
              </a:rPr>
              <a:t>L&amp;R Suprasorb A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0"/>
              </a:rPr>
              <a:t>Mölnlycke Mepilex Ag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1"/>
              </a:rPr>
              <a:t>ConvaTec AQUACEL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2"/>
              </a:rPr>
              <a:t>S+N Acticoat</a:t>
            </a:r>
            <a:endParaRPr lang="ko-KR" sz="7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벤치마킹 제품 — KeraStat® (KeraNetics)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같은 사람 모발 케라틴 원료 · FDA 510(k) 허가 선례 · KheAl이 넘어야 할 직접 비교 기준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18</a:t>
            </a:r>
            <a:endParaRPr lang="ko-KR" sz="750"/>
          </a:p>
        </p:txBody>
      </p:sp>
      <p:sp>
        <p:nvSpPr>
          <p:cNvPr id="7" name="Left card"/>
          <p:cNvSpPr/>
          <p:nvPr/>
        </p:nvSpPr>
        <p:spPr>
          <a:xfrm>
            <a:off x="502920" y="1371600"/>
            <a:ext cx="2514600" cy="44074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8" name="Maker"/>
          <p:cNvSpPr txBox="1"/>
          <p:nvPr/>
        </p:nvSpPr>
        <p:spPr>
          <a:xfrm>
            <a:off x="502920" y="1481328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KeraNetics (미국)</a:t>
            </a:r>
            <a:endParaRPr lang="ko-KR" sz="950"/>
          </a:p>
        </p:txBody>
      </p:sp>
      <p:pic>
        <p:nvPicPr>
          <p:cNvPr id="9" name="KeraStat Gel" descr="KeraStat Gel 제품 사진"/>
          <p:cNvPicPr>
            <a:picLocks noChangeAspect="1"/>
          </p:cNvPicPr>
          <p:nvPr/>
        </p:nvPicPr>
        <p:blipFill>
          <a:blip r:embed="rI1"/>
          <a:stretch>
            <a:fillRect/>
          </a:stretch>
        </p:blipFill>
        <p:spPr>
          <a:xfrm>
            <a:off x="652389" y="1783080"/>
            <a:ext cx="2215662" cy="822960"/>
          </a:xfrm>
          <a:prstGeom prst="rect">
            <a:avLst/>
          </a:prstGeom>
        </p:spPr>
      </p:pic>
      <p:sp>
        <p:nvSpPr>
          <p:cNvPr id="10" name="Gel label"/>
          <p:cNvSpPr txBox="1"/>
          <p:nvPr/>
        </p:nvSpPr>
        <p:spPr>
          <a:xfrm>
            <a:off x="502920" y="263347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KeraStat® Gel</a:t>
            </a:r>
            <a:endParaRPr lang="ko-KR" sz="1050"/>
          </a:p>
        </p:txBody>
      </p:sp>
      <p:pic>
        <p:nvPicPr>
          <p:cNvPr id="11" name="KeraStat Cream" descr="KeraStat Cream 제품 사진"/>
          <p:cNvPicPr>
            <a:picLocks noChangeAspect="1"/>
          </p:cNvPicPr>
          <p:nvPr/>
        </p:nvPicPr>
        <p:blipFill>
          <a:blip r:embed="rI2"/>
          <a:stretch>
            <a:fillRect/>
          </a:stretch>
        </p:blipFill>
        <p:spPr>
          <a:xfrm>
            <a:off x="702202" y="2907792"/>
            <a:ext cx="2116035" cy="731520"/>
          </a:xfrm>
          <a:prstGeom prst="rect">
            <a:avLst/>
          </a:prstGeom>
        </p:spPr>
      </p:pic>
      <p:sp>
        <p:nvSpPr>
          <p:cNvPr id="12" name="Cream label"/>
          <p:cNvSpPr txBox="1"/>
          <p:nvPr/>
        </p:nvSpPr>
        <p:spPr>
          <a:xfrm>
            <a:off x="502920" y="365760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KeraStat® Cream</a:t>
            </a:r>
            <a:endParaRPr lang="ko-KR" sz="1050"/>
          </a:p>
        </p:txBody>
      </p:sp>
      <p:sp>
        <p:nvSpPr>
          <p:cNvPr id="13" name="Fact 0 label"/>
          <p:cNvSpPr txBox="1"/>
          <p:nvPr/>
        </p:nvSpPr>
        <p:spPr>
          <a:xfrm>
            <a:off x="640080" y="4023360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FDA 510(k)</a:t>
            </a:r>
            <a:endParaRPr lang="ko-KR" sz="850"/>
          </a:p>
        </p:txBody>
      </p:sp>
      <p:sp>
        <p:nvSpPr>
          <p:cNvPr id="14" name="Fact 0"/>
          <p:cNvSpPr txBox="1"/>
          <p:nvPr/>
        </p:nvSpPr>
        <p:spPr>
          <a:xfrm>
            <a:off x="1444752" y="40233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Gel K162759 · Cream K192386</a:t>
            </a:r>
            <a:endParaRPr lang="ko-KR" sz="850"/>
          </a:p>
        </p:txBody>
      </p:sp>
      <p:sp>
        <p:nvSpPr>
          <p:cNvPr id="15" name="Fact 1 label"/>
          <p:cNvSpPr txBox="1"/>
          <p:nvPr/>
        </p:nvSpPr>
        <p:spPr>
          <a:xfrm>
            <a:off x="640080" y="4572000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제품코드</a:t>
            </a:r>
            <a:endParaRPr lang="ko-KR" sz="850"/>
          </a:p>
        </p:txBody>
      </p:sp>
      <p:sp>
        <p:nvSpPr>
          <p:cNvPr id="16" name="Fact 1"/>
          <p:cNvSpPr txBox="1"/>
          <p:nvPr/>
        </p:nvSpPr>
        <p:spPr>
          <a:xfrm>
            <a:off x="1444752" y="45720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KGN (Gel)</a:t>
            </a:r>
            <a:endParaRPr lang="ko-KR" sz="850"/>
          </a:p>
        </p:txBody>
      </p:sp>
      <p:sp>
        <p:nvSpPr>
          <p:cNvPr id="17" name="Fact 2 label"/>
          <p:cNvSpPr txBox="1"/>
          <p:nvPr/>
        </p:nvSpPr>
        <p:spPr>
          <a:xfrm>
            <a:off x="640080" y="5120640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특허 계보</a:t>
            </a:r>
            <a:endParaRPr lang="ko-KR" sz="850"/>
          </a:p>
        </p:txBody>
      </p:sp>
      <p:sp>
        <p:nvSpPr>
          <p:cNvPr id="18" name="Fact 2"/>
          <p:cNvSpPr txBox="1"/>
          <p:nvPr/>
        </p:nvSpPr>
        <p:spPr>
          <a:xfrm>
            <a:off x="1444752" y="512064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WO1999026595A1 · US6270793B1 · US7732574</a:t>
            </a:r>
            <a:endParaRPr lang="ko-KR" sz="850"/>
          </a:p>
        </p:txBody>
      </p:sp>
      <p:graphicFrame>
        <p:nvGraphicFramePr>
          <p:cNvPr id="19" name="KeraStat comparison"/>
          <p:cNvGraphicFramePr>
            <a:graphicFrameLocks noGrp="1"/>
          </p:cNvGraphicFramePr>
          <p:nvPr/>
        </p:nvGraphicFramePr>
        <p:xfrm>
          <a:off x="3200400" y="1371600"/>
          <a:ext cx="5394960" cy="4352544"/>
        </p:xfrm>
        <a:graphic>
          <a:graphicData uri="http://schemas.openxmlformats.org/drawingml/2006/table">
            <a:tbl>
              <a:tblPr firstRow="1"/>
              <a:tblGrid>
                <a:gridCol w="868680"/>
                <a:gridCol w="1508760"/>
                <a:gridCol w="1417320"/>
                <a:gridCol w="160020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항목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KeraStat Gel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KeraStat Cream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KheAl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C3E6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성분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5% 사람 모발 케라틴 하이드로겔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5% 케라틴 크림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케라틴 + 알지네이트 + 히알루론산 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A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포장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5 mL 튜브 · 멸균 · 1회용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비멸균 · 다회 사용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1.5 / 3 mL 시린지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A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허가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FDA 510(k) · 처방용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FDA 510(k)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MFDS 4등급 목표 · 임상 필요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A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적응증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1~2도 화상 · 찰과상 · 수술창 (3도 제외)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피부 손상 관리 · 방사선피부염 연구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3도 제외 화상 · 보호 · 습윤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A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임상 근거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화상 시험 30명 계획 → 14명 등록 후 종료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유방 방사선피부염 30.8% vs 54.5% (24명, p=0.408)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성인 2도 화상 60명 · 2기관 비교임상 계획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A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인정 작용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보호 · 흡수 · 습윤환경 (약효 인정 아님)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같은 기준 + 사용편의 · 케라틴 기여 추가 입증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A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유통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Combat Medical (화상)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ASPN Pharmacies (처방 · 배송)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연구자 → 병원 → 유통사 순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20" name="Right card"/>
          <p:cNvSpPr/>
          <p:nvPr/>
        </p:nvSpPr>
        <p:spPr>
          <a:xfrm>
            <a:off x="8796528" y="1371600"/>
            <a:ext cx="2889504" cy="44074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21" name="Price title"/>
          <p:cNvSpPr txBox="1"/>
          <p:nvPr/>
        </p:nvSpPr>
        <p:spPr>
          <a:xfrm>
            <a:off x="8933688" y="1481328"/>
            <a:ext cx="26151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미국 가격 벤치마크 (USD/개)</a:t>
            </a:r>
            <a:endParaRPr lang="ko-KR" sz="1050"/>
          </a:p>
        </p:txBody>
      </p:sp>
      <p:pic>
        <p:nvPicPr>
          <p:cNvPr id="22" name="Price chart" descr="KeraStat 5 mL과 KheAl 목표가 비교 막대그래프"/>
          <p:cNvPicPr>
            <a:picLocks noChangeAspect="1"/>
          </p:cNvPicPr>
          <p:nvPr/>
        </p:nvPicPr>
        <p:blipFill>
          <a:blip r:embed="rI4"/>
          <a:stretch>
            <a:fillRect/>
          </a:stretch>
        </p:blipFill>
        <p:spPr>
          <a:xfrm>
            <a:off x="8887968" y="1879249"/>
            <a:ext cx="2706624" cy="1188407"/>
          </a:xfrm>
          <a:prstGeom prst="rect">
            <a:avLst/>
          </a:prstGeom>
        </p:spPr>
      </p:pic>
      <p:sp>
        <p:nvSpPr>
          <p:cNvPr id="23" name="Price notes"/>
          <p:cNvSpPr txBox="1"/>
          <p:nvPr/>
        </p:nvSpPr>
        <p:spPr>
          <a:xfrm>
            <a:off x="8961120" y="3200400"/>
            <a:ext cx="256032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KeraStat 5 mL</a:t>
            </a:r>
            <a:r>
              <a:rPr lang="ko-KR" sz="9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  공급자·공공계약 $73–97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/>
            </a:r>
            <a:r>
              <a:rPr lang="ko-KR" sz="9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약국 공개가 $31–82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$73 기준 mL당 $14.60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KheAl 목표가</a:t>
            </a:r>
            <a:r>
              <a:rPr lang="ko-KR" sz="9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  3 mL $45–55 · 1.5 mL $24–30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mL당 환산  3 mL $15–18 · 1.5 mL $16–20</a:t>
            </a:r>
            <a:endParaRPr lang="ko-KR" sz="900"/>
          </a:p>
        </p:txBody>
      </p:sp>
      <p:sp>
        <p:nvSpPr>
          <p:cNvPr id="24" name="Price caveat"/>
          <p:cNvSpPr txBox="1"/>
          <p:nvPr/>
        </p:nvSpPr>
        <p:spPr>
          <a:xfrm>
            <a:off x="8933688" y="4800600"/>
            <a:ext cx="2615184" cy="822960"/>
          </a:xfrm>
          <a:prstGeom prst="rect">
            <a:avLst/>
          </a:prstGeom>
          <a:solidFill>
            <a:srgbClr val="FBECEC"/>
          </a:solidFill>
          <a:ln>
            <a:noFill/>
          </a:ln>
        </p:spPr>
        <p:txBody>
          <a:bodyPr wrap="square" lIns="73152" tIns="45720" rIns="73152" bIns="4572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KheAl 목표가는 원가·보험·유통마진 확정 전 사업계획값. 공개 조달가는 병원 실구매가와 다를 수 있음</a:t>
            </a:r>
            <a:endParaRPr lang="ko-KR" sz="850"/>
          </a:p>
        </p:txBody>
      </p:sp>
      <p:sp>
        <p:nvSpPr>
          <p:cNvPr id="25" name="Lessons label"/>
          <p:cNvSpPr txBox="1"/>
          <p:nvPr/>
        </p:nvSpPr>
        <p:spPr>
          <a:xfrm>
            <a:off x="502920" y="5870448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배울 점</a:t>
            </a:r>
            <a:endParaRPr lang="ko-KR" sz="1050"/>
          </a:p>
        </p:txBody>
      </p:sp>
      <p:sp>
        <p:nvSpPr>
          <p:cNvPr id="26" name="Lesson 0"/>
          <p:cNvSpPr txBox="1"/>
          <p:nvPr/>
        </p:nvSpPr>
        <p:spPr>
          <a:xfrm>
            <a:off x="1508760" y="5870448"/>
            <a:ext cx="3346704" cy="402336"/>
          </a:xfrm>
          <a:prstGeom prst="rect">
            <a:avLst/>
          </a:prstGeom>
          <a:solidFill>
            <a:srgbClr val="E6F1ED"/>
          </a:solidFill>
          <a:ln>
            <a:noFill/>
          </a:ln>
        </p:spPr>
        <p:txBody>
          <a:bodyPr wrap="square" lIns="91440" tIns="27432" rIns="73152" bIns="27432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허가  </a:t>
            </a:r>
            <a:r>
              <a:rPr lang="ko-KR" sz="9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약효가 아닌 ‘보호·습윤’ 기능으로 510(k) 진입</a:t>
            </a:r>
            <a:endParaRPr lang="ko-KR" sz="950"/>
          </a:p>
        </p:txBody>
      </p:sp>
      <p:sp>
        <p:nvSpPr>
          <p:cNvPr id="27" name="Lesson 1"/>
          <p:cNvSpPr txBox="1"/>
          <p:nvPr/>
        </p:nvSpPr>
        <p:spPr>
          <a:xfrm>
            <a:off x="4901184" y="5870448"/>
            <a:ext cx="3346704" cy="402336"/>
          </a:xfrm>
          <a:prstGeom prst="rect">
            <a:avLst/>
          </a:prstGeom>
          <a:solidFill>
            <a:srgbClr val="E6F1ED"/>
          </a:solidFill>
          <a:ln>
            <a:noFill/>
          </a:ln>
        </p:spPr>
        <p:txBody>
          <a:bodyPr wrap="square" lIns="91440" tIns="27432" rIns="73152" bIns="27432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임상  </a:t>
            </a:r>
            <a:r>
              <a:rPr lang="ko-KR" sz="9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화상 시험 모집 실패 → 사전 모집 조사 필수</a:t>
            </a:r>
            <a:endParaRPr lang="ko-KR" sz="950"/>
          </a:p>
        </p:txBody>
      </p:sp>
      <p:sp>
        <p:nvSpPr>
          <p:cNvPr id="28" name="Lesson 2"/>
          <p:cNvSpPr txBox="1"/>
          <p:nvPr/>
        </p:nvSpPr>
        <p:spPr>
          <a:xfrm>
            <a:off x="8293608" y="5870448"/>
            <a:ext cx="3346704" cy="402336"/>
          </a:xfrm>
          <a:prstGeom prst="rect">
            <a:avLst/>
          </a:prstGeom>
          <a:solidFill>
            <a:srgbClr val="E6F1ED"/>
          </a:solidFill>
          <a:ln>
            <a:noFill/>
          </a:ln>
        </p:spPr>
        <p:txBody>
          <a:bodyPr wrap="square" lIns="91440" tIns="27432" rIns="73152" bIns="27432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차별화  </a:t>
            </a:r>
            <a:r>
              <a:rPr lang="ko-KR" sz="9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복합 성분 + 소용량 시린지 → 굴곡 부위 편의</a:t>
            </a:r>
            <a:endParaRPr lang="ko-KR" sz="950"/>
          </a:p>
        </p:txBody>
      </p:sp>
      <p:sp>
        <p:nvSpPr>
          <p:cNvPr id="29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FDA K162759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FDA K192386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3"/>
              </a:rPr>
              <a:t>NCT03564795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4"/>
              </a:rPr>
              <a:t>Breast RD Pilot (SAGE)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5"/>
              </a:rPr>
              <a:t>KeraNetics ASPN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6"/>
              </a:rPr>
              <a:t>Google Patents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7"/>
              </a:rPr>
              <a:t>EasyRx 가격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8"/>
              </a:rPr>
              <a:t>First Industrial Supplies 가격</a:t>
            </a:r>
            <a:endParaRPr lang="ko-KR" sz="7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글로벌 경쟁구도 — 상위 4개사 44%, 나머지 56%는 분산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대형사는 폼·은·흡수 드레싱 중심 → 케라틴 복합 겔은 별도 틈새로 공략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15</a:t>
            </a:r>
            <a:endParaRPr lang="ko-KR" sz="750"/>
          </a:p>
        </p:txBody>
      </p:sp>
      <p:sp>
        <p:nvSpPr>
          <p:cNvPr id="7" name="Share card"/>
          <p:cNvSpPr/>
          <p:nvPr/>
        </p:nvSpPr>
        <p:spPr>
          <a:xfrm>
            <a:off x="502920" y="1371600"/>
            <a:ext cx="681228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8" name="Share title"/>
          <p:cNvSpPr txBox="1"/>
          <p:nvPr/>
        </p:nvSpPr>
        <p:spPr>
          <a:xfrm>
            <a:off x="731520" y="14813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Advanced Wound Management 회사별 점유율 (2025 · 시장 $13.1B)</a:t>
            </a:r>
            <a:endParaRPr lang="ko-KR" sz="1200"/>
          </a:p>
        </p:txBody>
      </p:sp>
      <p:sp>
        <p:nvSpPr>
          <p:cNvPr id="9" name="Top4 bar"/>
          <p:cNvSpPr/>
          <p:nvPr/>
        </p:nvSpPr>
        <p:spPr>
          <a:xfrm>
            <a:off x="731520" y="1901952"/>
            <a:ext cx="2796235" cy="566928"/>
          </a:xfrm>
          <a:prstGeom prst="rect">
            <a:avLst/>
          </a:prstGeom>
          <a:solidFill>
            <a:srgbClr val="1D6B52"/>
          </a:solidFill>
          <a:ln>
            <a:noFill/>
          </a:ln>
        </p:spPr>
      </p:sp>
      <p:sp>
        <p:nvSpPr>
          <p:cNvPr id="10" name="Rest bar"/>
          <p:cNvSpPr/>
          <p:nvPr/>
        </p:nvSpPr>
        <p:spPr>
          <a:xfrm>
            <a:off x="3527755" y="1901952"/>
            <a:ext cx="3558845" cy="566928"/>
          </a:xfrm>
          <a:prstGeom prst="rect">
            <a:avLst/>
          </a:prstGeom>
          <a:solidFill>
            <a:srgbClr val="C9D1CE"/>
          </a:solidFill>
          <a:ln>
            <a:noFill/>
          </a:ln>
        </p:spPr>
      </p:sp>
      <p:sp>
        <p:nvSpPr>
          <p:cNvPr id="11" name="Top4 label"/>
          <p:cNvSpPr txBox="1"/>
          <p:nvPr/>
        </p:nvSpPr>
        <p:spPr>
          <a:xfrm>
            <a:off x="731520" y="1901952"/>
            <a:ext cx="2796235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상위 4개사 44%</a:t>
            </a:r>
            <a:endParaRPr lang="ko-KR" sz="1400"/>
          </a:p>
        </p:txBody>
      </p:sp>
      <p:sp>
        <p:nvSpPr>
          <p:cNvPr id="12" name="Rest label"/>
          <p:cNvSpPr txBox="1"/>
          <p:nvPr/>
        </p:nvSpPr>
        <p:spPr>
          <a:xfrm>
            <a:off x="3527755" y="1901952"/>
            <a:ext cx="3558845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기타 56%</a:t>
            </a:r>
            <a:endParaRPr lang="ko-KR" sz="1400"/>
          </a:p>
        </p:txBody>
      </p:sp>
      <p:sp>
        <p:nvSpPr>
          <p:cNvPr id="13" name="Co 0"/>
          <p:cNvSpPr txBox="1"/>
          <p:nvPr/>
        </p:nvSpPr>
        <p:spPr>
          <a:xfrm>
            <a:off x="731520" y="274320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Smith+Nephew</a:t>
            </a:r>
            <a:endParaRPr lang="ko-KR" sz="1200"/>
          </a:p>
        </p:txBody>
      </p:sp>
      <p:sp>
        <p:nvSpPr>
          <p:cNvPr id="14" name="Track 0"/>
          <p:cNvSpPr/>
          <p:nvPr/>
        </p:nvSpPr>
        <p:spPr>
          <a:xfrm>
            <a:off x="2331720" y="2816352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</p:spPr>
      </p:sp>
      <p:sp>
        <p:nvSpPr>
          <p:cNvPr id="15" name="Bar 0"/>
          <p:cNvSpPr/>
          <p:nvPr/>
        </p:nvSpPr>
        <p:spPr>
          <a:xfrm>
            <a:off x="2331720" y="2816352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1C3E68"/>
          </a:solidFill>
          <a:ln>
            <a:noFill/>
          </a:ln>
        </p:spPr>
      </p:sp>
      <p:sp>
        <p:nvSpPr>
          <p:cNvPr id="16" name="Val 0"/>
          <p:cNvSpPr txBox="1"/>
          <p:nvPr/>
        </p:nvSpPr>
        <p:spPr>
          <a:xfrm>
            <a:off x="6400800" y="274320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5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14%</a:t>
            </a:r>
            <a:endParaRPr lang="ko-KR" sz="1500"/>
          </a:p>
        </p:txBody>
      </p:sp>
      <p:sp>
        <p:nvSpPr>
          <p:cNvPr id="17" name="Co 1"/>
          <p:cNvSpPr txBox="1"/>
          <p:nvPr/>
        </p:nvSpPr>
        <p:spPr>
          <a:xfrm>
            <a:off x="731520" y="338328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Solventum</a:t>
            </a:r>
            <a:endParaRPr lang="ko-KR" sz="1200"/>
          </a:p>
        </p:txBody>
      </p:sp>
      <p:sp>
        <p:nvSpPr>
          <p:cNvPr id="18" name="Track 1"/>
          <p:cNvSpPr/>
          <p:nvPr/>
        </p:nvSpPr>
        <p:spPr>
          <a:xfrm>
            <a:off x="2331720" y="3456432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</p:spPr>
      </p:sp>
      <p:sp>
        <p:nvSpPr>
          <p:cNvPr id="19" name="Bar 1"/>
          <p:cNvSpPr/>
          <p:nvPr/>
        </p:nvSpPr>
        <p:spPr>
          <a:xfrm>
            <a:off x="2331720" y="3456432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1D6B52"/>
          </a:solidFill>
          <a:ln>
            <a:noFill/>
          </a:ln>
        </p:spPr>
      </p:sp>
      <p:sp>
        <p:nvSpPr>
          <p:cNvPr id="20" name="Val 1"/>
          <p:cNvSpPr txBox="1"/>
          <p:nvPr/>
        </p:nvSpPr>
        <p:spPr>
          <a:xfrm>
            <a:off x="6400800" y="338328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5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14%</a:t>
            </a:r>
            <a:endParaRPr lang="ko-KR" sz="1500"/>
          </a:p>
        </p:txBody>
      </p:sp>
      <p:sp>
        <p:nvSpPr>
          <p:cNvPr id="21" name="Co 2"/>
          <p:cNvSpPr txBox="1"/>
          <p:nvPr/>
        </p:nvSpPr>
        <p:spPr>
          <a:xfrm>
            <a:off x="731520" y="402336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Mölnlycke</a:t>
            </a:r>
            <a:endParaRPr lang="ko-KR" sz="1200"/>
          </a:p>
        </p:txBody>
      </p:sp>
      <p:sp>
        <p:nvSpPr>
          <p:cNvPr id="22" name="Track 2"/>
          <p:cNvSpPr/>
          <p:nvPr/>
        </p:nvSpPr>
        <p:spPr>
          <a:xfrm>
            <a:off x="2331720" y="4096512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</p:spPr>
      </p:sp>
      <p:sp>
        <p:nvSpPr>
          <p:cNvPr id="23" name="Bar 2"/>
          <p:cNvSpPr/>
          <p:nvPr/>
        </p:nvSpPr>
        <p:spPr>
          <a:xfrm>
            <a:off x="2331720" y="4096512"/>
            <a:ext cx="2873829" cy="274320"/>
          </a:xfrm>
          <a:prstGeom prst="roundRect">
            <a:avLst>
              <a:gd name="adj" fmla="val 50000"/>
            </a:avLst>
          </a:prstGeom>
          <a:solidFill>
            <a:srgbClr val="2F8A6F"/>
          </a:solidFill>
          <a:ln>
            <a:noFill/>
          </a:ln>
        </p:spPr>
      </p:sp>
      <p:sp>
        <p:nvSpPr>
          <p:cNvPr id="24" name="Val 2"/>
          <p:cNvSpPr txBox="1"/>
          <p:nvPr/>
        </p:nvSpPr>
        <p:spPr>
          <a:xfrm>
            <a:off x="6400800" y="402336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500" b="1">
                <a:solidFill>
                  <a:srgbClr val="2F8A6F"/>
                </a:solidFill>
                <a:latin typeface="NanumSquare"/>
                <a:ea typeface="NanumSquare"/>
                <a:cs typeface="NanumSquare"/>
              </a:rPr>
              <a:t>10%</a:t>
            </a:r>
            <a:endParaRPr lang="ko-KR" sz="1500"/>
          </a:p>
        </p:txBody>
      </p:sp>
      <p:sp>
        <p:nvSpPr>
          <p:cNvPr id="25" name="Co 3"/>
          <p:cNvSpPr txBox="1"/>
          <p:nvPr/>
        </p:nvSpPr>
        <p:spPr>
          <a:xfrm>
            <a:off x="731520" y="466344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ConvaTec</a:t>
            </a:r>
            <a:endParaRPr lang="ko-KR" sz="1200"/>
          </a:p>
        </p:txBody>
      </p:sp>
      <p:sp>
        <p:nvSpPr>
          <p:cNvPr id="26" name="Track 3"/>
          <p:cNvSpPr/>
          <p:nvPr/>
        </p:nvSpPr>
        <p:spPr>
          <a:xfrm>
            <a:off x="2331720" y="4736592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EEF1F0"/>
          </a:solidFill>
          <a:ln>
            <a:noFill/>
          </a:ln>
        </p:spPr>
      </p:sp>
      <p:sp>
        <p:nvSpPr>
          <p:cNvPr id="27" name="Bar 3"/>
          <p:cNvSpPr/>
          <p:nvPr/>
        </p:nvSpPr>
        <p:spPr>
          <a:xfrm>
            <a:off x="2331720" y="4736592"/>
            <a:ext cx="1724297" cy="274320"/>
          </a:xfrm>
          <a:prstGeom prst="roundRect">
            <a:avLst>
              <a:gd name="adj" fmla="val 50000"/>
            </a:avLst>
          </a:prstGeom>
          <a:solidFill>
            <a:srgbClr val="7F5AA2"/>
          </a:solidFill>
          <a:ln>
            <a:noFill/>
          </a:ln>
        </p:spPr>
      </p:sp>
      <p:sp>
        <p:nvSpPr>
          <p:cNvPr id="28" name="Val 3"/>
          <p:cNvSpPr txBox="1"/>
          <p:nvPr/>
        </p:nvSpPr>
        <p:spPr>
          <a:xfrm>
            <a:off x="6400800" y="466344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5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6%</a:t>
            </a:r>
            <a:endParaRPr lang="ko-KR" sz="1500"/>
          </a:p>
        </p:txBody>
      </p:sp>
      <p:sp>
        <p:nvSpPr>
          <p:cNvPr id="29" name="Share note"/>
          <p:cNvSpPr txBox="1"/>
          <p:nvPr/>
        </p:nvSpPr>
        <p:spPr>
          <a:xfrm>
            <a:off x="731520" y="528523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회사 전체 점유율 — Mepilex·AQUACEL·KeraStat 등 개별 제품 점유율이 아님</a:t>
            </a:r>
            <a:endParaRPr lang="ko-KR" sz="950"/>
          </a:p>
        </p:txBody>
      </p:sp>
      <p:sp>
        <p:nvSpPr>
          <p:cNvPr id="30" name="Meaning card"/>
          <p:cNvSpPr/>
          <p:nvPr/>
        </p:nvSpPr>
        <p:spPr>
          <a:xfrm>
            <a:off x="7498080" y="1371600"/>
            <a:ext cx="4187952" cy="4251960"/>
          </a:xfrm>
          <a:prstGeom prst="roundRect">
            <a:avLst>
              <a:gd name="adj" fmla="val 4000"/>
            </a:avLst>
          </a:prstGeom>
          <a:solidFill>
            <a:srgbClr val="E6F1ED"/>
          </a:solidFill>
          <a:ln>
            <a:noFill/>
          </a:ln>
        </p:spPr>
      </p:sp>
      <p:sp>
        <p:nvSpPr>
          <p:cNvPr id="31" name="Meaning title"/>
          <p:cNvSpPr txBox="1"/>
          <p:nvPr/>
        </p:nvSpPr>
        <p:spPr>
          <a:xfrm>
            <a:off x="7726680" y="14813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KheAl에 주는 의미</a:t>
            </a:r>
            <a:endParaRPr lang="ko-KR" sz="1300"/>
          </a:p>
        </p:txBody>
      </p:sp>
      <p:sp>
        <p:nvSpPr>
          <p:cNvPr id="32" name="M num 0"/>
          <p:cNvSpPr txBox="1"/>
          <p:nvPr/>
        </p:nvSpPr>
        <p:spPr>
          <a:xfrm>
            <a:off x="7726680" y="1965960"/>
            <a:ext cx="384048" cy="384048"/>
          </a:xfrm>
          <a:prstGeom prst="ellipse">
            <a:avLst/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92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ko-KR" sz="1092"/>
          </a:p>
        </p:txBody>
      </p:sp>
      <p:sp>
        <p:nvSpPr>
          <p:cNvPr id="33" name="M head 0"/>
          <p:cNvSpPr txBox="1"/>
          <p:nvPr/>
        </p:nvSpPr>
        <p:spPr>
          <a:xfrm>
            <a:off x="8229600" y="1947672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시장은 분산</a:t>
            </a:r>
            <a:endParaRPr lang="ko-KR" sz="1250"/>
          </a:p>
        </p:txBody>
      </p:sp>
      <p:sp>
        <p:nvSpPr>
          <p:cNvPr id="34" name="M body 0"/>
          <p:cNvSpPr txBox="1"/>
          <p:nvPr/>
        </p:nvSpPr>
        <p:spPr>
          <a:xfrm>
            <a:off x="8229600" y="2295144"/>
            <a:ext cx="33375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기타 56% — 전문·틈새 제품이 들어갈 자리가 있음</a:t>
            </a:r>
            <a:endParaRPr lang="ko-KR" sz="1100"/>
          </a:p>
        </p:txBody>
      </p:sp>
      <p:sp>
        <p:nvSpPr>
          <p:cNvPr id="35" name="M num 1"/>
          <p:cNvSpPr txBox="1"/>
          <p:nvPr/>
        </p:nvSpPr>
        <p:spPr>
          <a:xfrm>
            <a:off x="7726680" y="3154680"/>
            <a:ext cx="384048" cy="384048"/>
          </a:xfrm>
          <a:prstGeom prst="ellipse">
            <a:avLst/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92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ko-KR" sz="1092"/>
          </a:p>
        </p:txBody>
      </p:sp>
      <p:sp>
        <p:nvSpPr>
          <p:cNvPr id="36" name="M head 1"/>
          <p:cNvSpPr txBox="1"/>
          <p:nvPr/>
        </p:nvSpPr>
        <p:spPr>
          <a:xfrm>
            <a:off x="8229600" y="3136392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대형사 주력은 폼·은·흡수</a:t>
            </a:r>
            <a:endParaRPr lang="ko-KR" sz="1250"/>
          </a:p>
        </p:txBody>
      </p:sp>
      <p:sp>
        <p:nvSpPr>
          <p:cNvPr id="37" name="M body 1"/>
          <p:cNvSpPr txBox="1"/>
          <p:nvPr/>
        </p:nvSpPr>
        <p:spPr>
          <a:xfrm>
            <a:off x="8229600" y="3483864"/>
            <a:ext cx="33375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Mepilex · AQUACEL 등 감염·고삼출 관리 제품</a:t>
            </a:r>
            <a:endParaRPr lang="ko-KR" sz="1100"/>
          </a:p>
        </p:txBody>
      </p:sp>
      <p:sp>
        <p:nvSpPr>
          <p:cNvPr id="38" name="M num 2"/>
          <p:cNvSpPr txBox="1"/>
          <p:nvPr/>
        </p:nvSpPr>
        <p:spPr>
          <a:xfrm>
            <a:off x="7726680" y="4343400"/>
            <a:ext cx="384048" cy="384048"/>
          </a:xfrm>
          <a:prstGeom prst="ellipse">
            <a:avLst/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92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ko-KR" sz="1092"/>
          </a:p>
        </p:txBody>
      </p:sp>
      <p:sp>
        <p:nvSpPr>
          <p:cNvPr id="39" name="M head 2"/>
          <p:cNvSpPr txBox="1"/>
          <p:nvPr/>
        </p:nvSpPr>
        <p:spPr>
          <a:xfrm>
            <a:off x="8229600" y="4325112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케라틴 겔은 별도 집계 없음</a:t>
            </a:r>
            <a:endParaRPr lang="ko-KR" sz="1250"/>
          </a:p>
        </p:txBody>
      </p:sp>
      <p:sp>
        <p:nvSpPr>
          <p:cNvPr id="40" name="M body 2"/>
          <p:cNvSpPr txBox="1"/>
          <p:nvPr/>
        </p:nvSpPr>
        <p:spPr>
          <a:xfrm>
            <a:off x="8229600" y="4672584"/>
            <a:ext cx="33375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시장 규모는 ‘2도 화상 · 습윤 겔’ 적응증 기준으로 산정</a:t>
            </a:r>
            <a:endParaRPr lang="ko-KR" sz="1100"/>
          </a:p>
        </p:txBody>
      </p:sp>
      <p:sp>
        <p:nvSpPr>
          <p:cNvPr id="41" name="Key box"/>
          <p:cNvSpPr/>
          <p:nvPr/>
        </p:nvSpPr>
        <p:spPr>
          <a:xfrm>
            <a:off x="502920" y="5779008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E6F1ED"/>
          </a:solidFill>
          <a:ln>
            <a:noFill/>
          </a:ln>
        </p:spPr>
      </p:sp>
      <p:sp>
        <p:nvSpPr>
          <p:cNvPr id="42" name="Key label"/>
          <p:cNvSpPr txBox="1"/>
          <p:nvPr/>
        </p:nvSpPr>
        <p:spPr>
          <a:xfrm>
            <a:off x="640080" y="5870448"/>
            <a:ext cx="685800" cy="274320"/>
          </a:xfrm>
          <a:prstGeom prst="round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핵심</a:t>
            </a:r>
            <a:endParaRPr lang="ko-KR" sz="1000"/>
          </a:p>
        </p:txBody>
      </p:sp>
      <p:sp>
        <p:nvSpPr>
          <p:cNvPr id="43" name="Key text"/>
          <p:cNvSpPr txBox="1"/>
          <p:nvPr/>
        </p:nvSpPr>
        <p:spPr>
          <a:xfrm>
            <a:off x="1463040" y="57790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KheAl은 대형사와 정면 경쟁이 아니라, 그들이 비워 둔 ‘진물 적은 2도 화상용 바르는 겔’을 노린다</a:t>
            </a:r>
            <a:endParaRPr lang="ko-KR" sz="1250"/>
          </a:p>
        </p:txBody>
      </p:sp>
      <p:sp>
        <p:nvSpPr>
          <p:cNvPr id="44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Smith+Nephew 2025 Annual Report (SEC)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MarketsandMarkets</a:t>
            </a:r>
            <a:endParaRPr lang="ko-KR" sz="7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KheAl의 자리 — 진물 적음~중간 · 굴곡 부위에 바르는 겔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모든 드레싱을 대체하지 않음: 항균·고삼출은 기존 제품, KheAl은 그 사이 빈칸을 겨냥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19</a:t>
            </a:r>
            <a:endParaRPr lang="ko-KR" sz="750"/>
          </a:p>
        </p:txBody>
      </p:sp>
      <p:sp>
        <p:nvSpPr>
          <p:cNvPr id="7" name="Axis"/>
          <p:cNvSpPr/>
          <p:nvPr/>
        </p:nvSpPr>
        <p:spPr>
          <a:xfrm>
            <a:off x="685800" y="1572768"/>
            <a:ext cx="10835640" cy="54864"/>
          </a:xfrm>
          <a:prstGeom prst="rect">
            <a:avLst/>
          </a:prstGeom>
          <a:solidFill>
            <a:srgbClr val="6F7775"/>
          </a:solidFill>
          <a:ln>
            <a:noFill/>
          </a:ln>
        </p:spPr>
      </p:sp>
      <p:sp>
        <p:nvSpPr>
          <p:cNvPr id="8" name="Axis head"/>
          <p:cNvSpPr/>
          <p:nvPr/>
        </p:nvSpPr>
        <p:spPr>
          <a:xfrm>
            <a:off x="11430000" y="1463040"/>
            <a:ext cx="228600" cy="274320"/>
          </a:xfrm>
          <a:prstGeom prst="triangle">
            <a:avLst/>
          </a:prstGeom>
          <a:solidFill>
            <a:srgbClr val="6F7775"/>
          </a:solidFill>
          <a:ln>
            <a:noFill/>
          </a:ln>
        </p:spPr>
      </p:sp>
      <p:sp>
        <p:nvSpPr>
          <p:cNvPr id="9" name="Axis L"/>
          <p:cNvSpPr txBox="1"/>
          <p:nvPr/>
        </p:nvSpPr>
        <p:spPr>
          <a:xfrm>
            <a:off x="685800" y="129844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건조</a:t>
            </a:r>
            <a:endParaRPr lang="ko-KR" sz="1050"/>
          </a:p>
        </p:txBody>
      </p:sp>
      <p:sp>
        <p:nvSpPr>
          <p:cNvPr id="10" name="Axis M"/>
          <p:cNvSpPr txBox="1"/>
          <p:nvPr/>
        </p:nvSpPr>
        <p:spPr>
          <a:xfrm>
            <a:off x="4480560" y="129844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진물 많음</a:t>
            </a:r>
            <a:endParaRPr lang="ko-KR" sz="1050"/>
          </a:p>
        </p:txBody>
      </p:sp>
      <p:sp>
        <p:nvSpPr>
          <p:cNvPr id="11" name="Axis R"/>
          <p:cNvSpPr txBox="1"/>
          <p:nvPr/>
        </p:nvSpPr>
        <p:spPr>
          <a:xfrm>
            <a:off x="8503920" y="12984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ko-KR" sz="10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감염 · 감염 위험</a:t>
            </a:r>
            <a:endParaRPr lang="ko-KR" sz="1050"/>
          </a:p>
        </p:txBody>
      </p:sp>
      <p:sp>
        <p:nvSpPr>
          <p:cNvPr id="12" name="Zone 0"/>
          <p:cNvSpPr/>
          <p:nvPr/>
        </p:nvSpPr>
        <p:spPr>
          <a:xfrm>
            <a:off x="502920" y="1920240"/>
            <a:ext cx="2679192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13" name="Z t 0"/>
          <p:cNvSpPr txBox="1"/>
          <p:nvPr/>
        </p:nvSpPr>
        <p:spPr>
          <a:xfrm>
            <a:off x="640080" y="2121408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수분 공급 · 보호</a:t>
            </a:r>
            <a:endParaRPr lang="ko-KR" sz="1400"/>
          </a:p>
        </p:txBody>
      </p:sp>
      <p:sp>
        <p:nvSpPr>
          <p:cNvPr id="14" name="Z s 0"/>
          <p:cNvSpPr txBox="1"/>
          <p:nvPr/>
        </p:nvSpPr>
        <p:spPr>
          <a:xfrm>
            <a:off x="640080" y="2468880"/>
            <a:ext cx="24048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건조 ~ 진물 적음</a:t>
            </a:r>
            <a:endParaRPr lang="ko-KR" sz="1050"/>
          </a:p>
        </p:txBody>
      </p:sp>
      <p:sp>
        <p:nvSpPr>
          <p:cNvPr id="15" name="Z p 0"/>
          <p:cNvSpPr txBox="1"/>
          <p:nvPr/>
        </p:nvSpPr>
        <p:spPr>
          <a:xfrm>
            <a:off x="640080" y="2880360"/>
            <a:ext cx="24048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KeraStat Gel</a:t>
            </a:r>
            <a:endParaRPr lang="ko-KR" sz="1100"/>
          </a:p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Nu-Gel · 메디폼 H</a:t>
            </a:r>
            <a:endParaRPr lang="ko-KR" sz="1100"/>
          </a:p>
        </p:txBody>
      </p:sp>
      <p:sp>
        <p:nvSpPr>
          <p:cNvPr id="16" name="Z tag 0"/>
          <p:cNvSpPr txBox="1"/>
          <p:nvPr/>
        </p:nvSpPr>
        <p:spPr>
          <a:xfrm>
            <a:off x="914400" y="4096512"/>
            <a:ext cx="1856232" cy="347472"/>
          </a:xfrm>
          <a:prstGeom prst="roundRect">
            <a:avLst>
              <a:gd name="adj" fmla="val 16000"/>
            </a:avLst>
          </a:prstGeom>
          <a:solidFill>
            <a:srgbClr val="1C3E68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인접 · 비교</a:t>
            </a:r>
            <a:endParaRPr lang="ko-KR" sz="1100"/>
          </a:p>
        </p:txBody>
      </p:sp>
      <p:sp>
        <p:nvSpPr>
          <p:cNvPr id="17" name="Zone 1"/>
          <p:cNvSpPr/>
          <p:nvPr/>
        </p:nvSpPr>
        <p:spPr>
          <a:xfrm>
            <a:off x="3337560" y="1783080"/>
            <a:ext cx="2679192" cy="2880360"/>
          </a:xfrm>
          <a:prstGeom prst="roundRect">
            <a:avLst>
              <a:gd name="adj" fmla="val 4000"/>
            </a:avLst>
          </a:prstGeom>
          <a:solidFill>
            <a:srgbClr val="E6F1ED"/>
          </a:solidFill>
          <a:ln w="9525">
            <a:solidFill>
              <a:srgbClr val="1D6B52"/>
            </a:solidFill>
          </a:ln>
        </p:spPr>
      </p:sp>
      <p:sp>
        <p:nvSpPr>
          <p:cNvPr id="18" name="Star"/>
          <p:cNvSpPr txBox="1"/>
          <p:nvPr/>
        </p:nvSpPr>
        <p:spPr>
          <a:xfrm>
            <a:off x="4174236" y="1636776"/>
            <a:ext cx="1005840" cy="274320"/>
          </a:xfrm>
          <a:prstGeom prst="round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★ KheAl</a:t>
            </a:r>
            <a:endParaRPr lang="ko-KR" sz="1000"/>
          </a:p>
        </p:txBody>
      </p:sp>
      <p:sp>
        <p:nvSpPr>
          <p:cNvPr id="19" name="Z t 1"/>
          <p:cNvSpPr txBox="1"/>
          <p:nvPr/>
        </p:nvSpPr>
        <p:spPr>
          <a:xfrm>
            <a:off x="3474720" y="1984248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수분 균형 · 바르기</a:t>
            </a:r>
            <a:endParaRPr lang="ko-KR" sz="1400"/>
          </a:p>
        </p:txBody>
      </p:sp>
      <p:sp>
        <p:nvSpPr>
          <p:cNvPr id="20" name="Z s 1"/>
          <p:cNvSpPr txBox="1"/>
          <p:nvPr/>
        </p:nvSpPr>
        <p:spPr>
          <a:xfrm>
            <a:off x="3474720" y="2331720"/>
            <a:ext cx="24048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진물 적음~중간 · 굴곡 부위</a:t>
            </a:r>
            <a:endParaRPr lang="ko-KR" sz="1050"/>
          </a:p>
        </p:txBody>
      </p:sp>
      <p:sp>
        <p:nvSpPr>
          <p:cNvPr id="21" name="Z p 1"/>
          <p:cNvSpPr txBox="1"/>
          <p:nvPr/>
        </p:nvSpPr>
        <p:spPr>
          <a:xfrm>
            <a:off x="3474720" y="2743200"/>
            <a:ext cx="24048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sz="12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KheAl</a:t>
            </a:r>
            <a:endParaRPr lang="ko-KR" sz="1100"/>
          </a:p>
          <a:p>
            <a:pPr marL="0" indent="0" algn="ctr">
              <a:spcAft>
                <a:spcPts val="300"/>
              </a:spcAft>
              <a:buNone/>
            </a:pPr>
            <a:r>
              <a:rPr lang="ko-KR" sz="12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JUVENCOLL</a:t>
            </a:r>
            <a:endParaRPr lang="ko-KR" sz="1100"/>
          </a:p>
        </p:txBody>
      </p:sp>
      <p:sp>
        <p:nvSpPr>
          <p:cNvPr id="22" name="Z tag 1"/>
          <p:cNvSpPr txBox="1"/>
          <p:nvPr/>
        </p:nvSpPr>
        <p:spPr>
          <a:xfrm>
            <a:off x="3749040" y="4096512"/>
            <a:ext cx="1856232" cy="347472"/>
          </a:xfrm>
          <a:prstGeom prst="round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직접 목표</a:t>
            </a:r>
            <a:endParaRPr lang="ko-KR" sz="1100"/>
          </a:p>
        </p:txBody>
      </p:sp>
      <p:sp>
        <p:nvSpPr>
          <p:cNvPr id="23" name="Zone 2"/>
          <p:cNvSpPr/>
          <p:nvPr/>
        </p:nvSpPr>
        <p:spPr>
          <a:xfrm>
            <a:off x="6172200" y="1920240"/>
            <a:ext cx="2679192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24" name="Z t 2"/>
          <p:cNvSpPr txBox="1"/>
          <p:nvPr/>
        </p:nvSpPr>
        <p:spPr>
          <a:xfrm>
            <a:off x="6309360" y="2121408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흡수 · 겔 형성</a:t>
            </a:r>
            <a:endParaRPr lang="ko-KR" sz="1400"/>
          </a:p>
        </p:txBody>
      </p:sp>
      <p:sp>
        <p:nvSpPr>
          <p:cNvPr id="25" name="Z s 2"/>
          <p:cNvSpPr txBox="1"/>
          <p:nvPr/>
        </p:nvSpPr>
        <p:spPr>
          <a:xfrm>
            <a:off x="6309360" y="2468880"/>
            <a:ext cx="24048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진물 중간 ~ 많음</a:t>
            </a:r>
            <a:endParaRPr lang="ko-KR" sz="1050"/>
          </a:p>
        </p:txBody>
      </p:sp>
      <p:sp>
        <p:nvSpPr>
          <p:cNvPr id="26" name="Z p 2"/>
          <p:cNvSpPr txBox="1"/>
          <p:nvPr/>
        </p:nvSpPr>
        <p:spPr>
          <a:xfrm>
            <a:off x="6309360" y="2880360"/>
            <a:ext cx="24048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폼 · Suprasorb A</a:t>
            </a:r>
            <a:endParaRPr lang="ko-KR" sz="1100"/>
          </a:p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Fibracol</a:t>
            </a:r>
            <a:endParaRPr lang="ko-KR" sz="1100"/>
          </a:p>
        </p:txBody>
      </p:sp>
      <p:sp>
        <p:nvSpPr>
          <p:cNvPr id="27" name="Z tag 2"/>
          <p:cNvSpPr txBox="1"/>
          <p:nvPr/>
        </p:nvSpPr>
        <p:spPr>
          <a:xfrm>
            <a:off x="6583680" y="4096512"/>
            <a:ext cx="1856232" cy="347472"/>
          </a:xfrm>
          <a:prstGeom prst="roundRect">
            <a:avLst>
              <a:gd name="adj" fmla="val 16000"/>
            </a:avLst>
          </a:prstGeom>
          <a:solidFill>
            <a:srgbClr val="1C3E68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일부 겹침</a:t>
            </a:r>
            <a:endParaRPr lang="ko-KR" sz="1100"/>
          </a:p>
        </p:txBody>
      </p:sp>
      <p:sp>
        <p:nvSpPr>
          <p:cNvPr id="28" name="Zone 3"/>
          <p:cNvSpPr/>
          <p:nvPr/>
        </p:nvSpPr>
        <p:spPr>
          <a:xfrm>
            <a:off x="9006840" y="1920240"/>
            <a:ext cx="2679192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29" name="Z t 3"/>
          <p:cNvSpPr txBox="1"/>
          <p:nvPr/>
        </p:nvSpPr>
        <p:spPr>
          <a:xfrm>
            <a:off x="9144000" y="2121408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항균 · 세균막 관리</a:t>
            </a:r>
            <a:endParaRPr lang="ko-KR" sz="1400"/>
          </a:p>
        </p:txBody>
      </p:sp>
      <p:sp>
        <p:nvSpPr>
          <p:cNvPr id="30" name="Z s 3"/>
          <p:cNvSpPr txBox="1"/>
          <p:nvPr/>
        </p:nvSpPr>
        <p:spPr>
          <a:xfrm>
            <a:off x="9144000" y="2468880"/>
            <a:ext cx="24048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감염 또는 감염 위험</a:t>
            </a:r>
            <a:endParaRPr lang="ko-KR" sz="1050"/>
          </a:p>
        </p:txBody>
      </p:sp>
      <p:sp>
        <p:nvSpPr>
          <p:cNvPr id="31" name="Z p 3"/>
          <p:cNvSpPr txBox="1"/>
          <p:nvPr/>
        </p:nvSpPr>
        <p:spPr>
          <a:xfrm>
            <a:off x="9144000" y="2880360"/>
            <a:ext cx="24048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Mepilex Ag</a:t>
            </a:r>
            <a:endParaRPr lang="ko-KR" sz="1100"/>
          </a:p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AQUACEL Ag+</a:t>
            </a:r>
            <a:endParaRPr lang="ko-KR" sz="1100"/>
          </a:p>
        </p:txBody>
      </p:sp>
      <p:sp>
        <p:nvSpPr>
          <p:cNvPr id="32" name="Z tag 3"/>
          <p:cNvSpPr txBox="1"/>
          <p:nvPr/>
        </p:nvSpPr>
        <p:spPr>
          <a:xfrm>
            <a:off x="9418320" y="4096512"/>
            <a:ext cx="1856232" cy="347472"/>
          </a:xfrm>
          <a:prstGeom prst="roundRect">
            <a:avLst>
              <a:gd name="adj" fmla="val 16000"/>
            </a:avLst>
          </a:prstGeom>
          <a:solidFill>
            <a:srgbClr val="B84A4A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경쟁 아님</a:t>
            </a:r>
            <a:endParaRPr lang="ko-KR" sz="1100"/>
          </a:p>
        </p:txBody>
      </p:sp>
      <p:sp>
        <p:nvSpPr>
          <p:cNvPr id="33" name="Indication"/>
          <p:cNvSpPr/>
          <p:nvPr/>
        </p:nvSpPr>
        <p:spPr>
          <a:xfrm>
            <a:off x="502920" y="4846320"/>
            <a:ext cx="548640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34" name="Ind label"/>
          <p:cNvSpPr txBox="1"/>
          <p:nvPr/>
        </p:nvSpPr>
        <p:spPr>
          <a:xfrm>
            <a:off x="685800" y="490118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권장 초기 적응증</a:t>
            </a:r>
            <a:endParaRPr lang="ko-KR" sz="1050"/>
          </a:p>
        </p:txBody>
      </p:sp>
      <p:sp>
        <p:nvSpPr>
          <p:cNvPr id="35" name="Ind text"/>
          <p:cNvSpPr txBox="1"/>
          <p:nvPr/>
        </p:nvSpPr>
        <p:spPr>
          <a:xfrm>
            <a:off x="685800" y="5175504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감염이 조절된 성인 2도 화상 · 진물 적음~중간 · 굴곡 부위</a:t>
            </a:r>
            <a:endParaRPr lang="ko-KR" sz="1250"/>
          </a:p>
        </p:txBody>
      </p:sp>
      <p:sp>
        <p:nvSpPr>
          <p:cNvPr id="36" name="Value"/>
          <p:cNvSpPr/>
          <p:nvPr/>
        </p:nvSpPr>
        <p:spPr>
          <a:xfrm>
            <a:off x="6172200" y="4846320"/>
            <a:ext cx="5513832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37" name="Val label"/>
          <p:cNvSpPr txBox="1"/>
          <p:nvPr/>
        </p:nvSpPr>
        <p:spPr>
          <a:xfrm>
            <a:off x="6355080" y="490118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임상에서 보여줄 가치</a:t>
            </a:r>
            <a:endParaRPr lang="ko-KR" sz="1050"/>
          </a:p>
        </p:txBody>
      </p:sp>
      <p:sp>
        <p:nvSpPr>
          <p:cNvPr id="38" name="Val 0"/>
          <p:cNvSpPr txBox="1"/>
          <p:nvPr/>
        </p:nvSpPr>
        <p:spPr>
          <a:xfrm>
            <a:off x="6355080" y="5212080"/>
            <a:ext cx="960120" cy="310896"/>
          </a:xfrm>
          <a:prstGeom prst="roundRect">
            <a:avLst>
              <a:gd name="adj" fmla="val 16000"/>
            </a:avLst>
          </a:prstGeom>
          <a:solidFill>
            <a:srgbClr val="E6F1ED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피부 재생</a:t>
            </a:r>
            <a:endParaRPr lang="ko-KR" sz="1000"/>
          </a:p>
        </p:txBody>
      </p:sp>
      <p:sp>
        <p:nvSpPr>
          <p:cNvPr id="39" name="Val 1"/>
          <p:cNvSpPr txBox="1"/>
          <p:nvPr/>
        </p:nvSpPr>
        <p:spPr>
          <a:xfrm>
            <a:off x="7406640" y="5212080"/>
            <a:ext cx="960120" cy="310896"/>
          </a:xfrm>
          <a:prstGeom prst="roundRect">
            <a:avLst>
              <a:gd name="adj" fmla="val 16000"/>
            </a:avLst>
          </a:prstGeom>
          <a:solidFill>
            <a:srgbClr val="E6F1ED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통증</a:t>
            </a:r>
            <a:endParaRPr lang="ko-KR" sz="1000"/>
          </a:p>
        </p:txBody>
      </p:sp>
      <p:sp>
        <p:nvSpPr>
          <p:cNvPr id="40" name="Val 2"/>
          <p:cNvSpPr txBox="1"/>
          <p:nvPr/>
        </p:nvSpPr>
        <p:spPr>
          <a:xfrm>
            <a:off x="8458200" y="5212080"/>
            <a:ext cx="960120" cy="310896"/>
          </a:xfrm>
          <a:prstGeom prst="roundRect">
            <a:avLst>
              <a:gd name="adj" fmla="val 16000"/>
            </a:avLst>
          </a:prstGeom>
          <a:solidFill>
            <a:srgbClr val="E6F1ED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교체 횟수</a:t>
            </a:r>
            <a:endParaRPr lang="ko-KR" sz="1000"/>
          </a:p>
        </p:txBody>
      </p:sp>
      <p:sp>
        <p:nvSpPr>
          <p:cNvPr id="41" name="Val 3"/>
          <p:cNvSpPr txBox="1"/>
          <p:nvPr/>
        </p:nvSpPr>
        <p:spPr>
          <a:xfrm>
            <a:off x="9509760" y="5212080"/>
            <a:ext cx="960120" cy="310896"/>
          </a:xfrm>
          <a:prstGeom prst="roundRect">
            <a:avLst>
              <a:gd name="adj" fmla="val 16000"/>
            </a:avLst>
          </a:prstGeom>
          <a:solidFill>
            <a:srgbClr val="E6F1ED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처치 시간</a:t>
            </a:r>
            <a:endParaRPr lang="ko-KR" sz="1000"/>
          </a:p>
        </p:txBody>
      </p:sp>
      <p:sp>
        <p:nvSpPr>
          <p:cNvPr id="42" name="Val 4"/>
          <p:cNvSpPr txBox="1"/>
          <p:nvPr/>
        </p:nvSpPr>
        <p:spPr>
          <a:xfrm>
            <a:off x="10561320" y="5212080"/>
            <a:ext cx="960120" cy="310896"/>
          </a:xfrm>
          <a:prstGeom prst="roundRect">
            <a:avLst>
              <a:gd name="adj" fmla="val 16000"/>
            </a:avLst>
          </a:prstGeom>
          <a:solidFill>
            <a:srgbClr val="E6F1ED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덧대는 드레싱</a:t>
            </a:r>
            <a:endParaRPr lang="ko-KR" sz="1000"/>
          </a:p>
        </p:txBody>
      </p:sp>
      <p:sp>
        <p:nvSpPr>
          <p:cNvPr id="43" name="Key box"/>
          <p:cNvSpPr/>
          <p:nvPr/>
        </p:nvSpPr>
        <p:spPr>
          <a:xfrm>
            <a:off x="502920" y="5779008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E6F1ED"/>
          </a:solidFill>
          <a:ln>
            <a:noFill/>
          </a:ln>
        </p:spPr>
      </p:sp>
      <p:sp>
        <p:nvSpPr>
          <p:cNvPr id="44" name="Key label"/>
          <p:cNvSpPr txBox="1"/>
          <p:nvPr/>
        </p:nvSpPr>
        <p:spPr>
          <a:xfrm>
            <a:off x="640080" y="5870448"/>
            <a:ext cx="685800" cy="274320"/>
          </a:xfrm>
          <a:prstGeom prst="round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핵심</a:t>
            </a:r>
            <a:endParaRPr lang="ko-KR" sz="1000"/>
          </a:p>
        </p:txBody>
      </p:sp>
      <p:sp>
        <p:nvSpPr>
          <p:cNvPr id="45" name="Key text"/>
          <p:cNvSpPr txBox="1"/>
          <p:nvPr/>
        </p:nvSpPr>
        <p:spPr>
          <a:xfrm>
            <a:off x="1463040" y="57790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첫 시장 = 감염 없는 성인 2도 화상. 항균이 필요한 상처는 KheAl이 대체하지 않는다</a:t>
            </a:r>
            <a:endParaRPr lang="ko-KR" sz="1250"/>
          </a:p>
        </p:txBody>
      </p:sp>
      <p:sp>
        <p:nvSpPr>
          <p:cNvPr id="46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WoundSource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제조사 제품자료</a:t>
            </a:r>
            <a:endParaRPr lang="ko-KR" sz="7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케라틴 효과 — 실험에선 신호, 사람에선 아직 미확증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KeraStat도 사람 대상 우월성은 입증하지 못함 → 제대로 설계된 비교임상이 KheAl의 차별점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20</a:t>
            </a:r>
            <a:endParaRPr lang="ko-KR" sz="750"/>
          </a:p>
        </p:txBody>
      </p:sp>
      <p:sp>
        <p:nvSpPr>
          <p:cNvPr id="7" name="Ev 0"/>
          <p:cNvSpPr/>
          <p:nvPr/>
        </p:nvSpPr>
        <p:spPr>
          <a:xfrm>
            <a:off x="502920" y="1371600"/>
            <a:ext cx="242316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8" name="Ev head 0"/>
          <p:cNvSpPr txBox="1"/>
          <p:nvPr/>
        </p:nvSpPr>
        <p:spPr>
          <a:xfrm>
            <a:off x="502920" y="1371600"/>
            <a:ext cx="2423160" cy="457200"/>
          </a:xfrm>
          <a:prstGeom prst="round2Same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  세포 실험</a:t>
            </a:r>
            <a:endParaRPr lang="ko-KR" sz="1200"/>
          </a:p>
        </p:txBody>
      </p:sp>
      <p:sp>
        <p:nvSpPr>
          <p:cNvPr id="9" name="Ev st 0"/>
          <p:cNvSpPr txBox="1"/>
          <p:nvPr/>
        </p:nvSpPr>
        <p:spPr>
          <a:xfrm>
            <a:off x="1120140" y="1965960"/>
            <a:ext cx="1188720" cy="310896"/>
          </a:xfrm>
          <a:prstGeom prst="roundRect">
            <a:avLst>
              <a:gd name="adj" fmla="val 16000"/>
            </a:avLst>
          </a:prstGeom>
          <a:solidFill>
            <a:srgbClr val="E6F1ED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신호 있음</a:t>
            </a:r>
            <a:endParaRPr lang="ko-KR" sz="1050"/>
          </a:p>
        </p:txBody>
      </p:sp>
      <p:sp>
        <p:nvSpPr>
          <p:cNvPr id="10" name="Ev big 0"/>
          <p:cNvSpPr txBox="1"/>
          <p:nvPr/>
        </p:nvSpPr>
        <p:spPr>
          <a:xfrm>
            <a:off x="594360" y="237744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0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세포 보호</a:t>
            </a:r>
            <a:endParaRPr lang="ko-KR" sz="2000"/>
          </a:p>
        </p:txBody>
      </p:sp>
      <p:sp>
        <p:nvSpPr>
          <p:cNvPr id="11" name="Ev lines 0"/>
          <p:cNvSpPr txBox="1"/>
          <p:nvPr/>
        </p:nvSpPr>
        <p:spPr>
          <a:xfrm>
            <a:off x="685800" y="3063240"/>
            <a:ext cx="205740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700"/>
              </a:spcAft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열 손상 세포 생존 개선</a:t>
            </a:r>
            <a:endParaRPr lang="ko-KR" sz="1200"/>
          </a:p>
          <a:p>
            <a:pPr marL="0" indent="0" algn="ctr">
              <a:spcAft>
                <a:spcPts val="700"/>
              </a:spcAft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염증 줄이는 면역세포(M2) 반응</a:t>
            </a:r>
            <a:endParaRPr lang="ko-KR" sz="1200"/>
          </a:p>
        </p:txBody>
      </p:sp>
      <p:sp>
        <p:nvSpPr>
          <p:cNvPr id="12" name="Ev 1"/>
          <p:cNvSpPr/>
          <p:nvPr/>
        </p:nvSpPr>
        <p:spPr>
          <a:xfrm>
            <a:off x="3017520" y="1371600"/>
            <a:ext cx="260604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13" name="Ev head 1"/>
          <p:cNvSpPr txBox="1"/>
          <p:nvPr/>
        </p:nvSpPr>
        <p:spPr>
          <a:xfrm>
            <a:off x="3017520" y="1371600"/>
            <a:ext cx="2606040" cy="457200"/>
          </a:xfrm>
          <a:prstGeom prst="round2SameRect">
            <a:avLst>
              <a:gd name="adj" fmla="val 16000"/>
            </a:avLst>
          </a:prstGeom>
          <a:solidFill>
            <a:srgbClr val="1C3E6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  동물 (돼지 화상)</a:t>
            </a:r>
            <a:endParaRPr lang="ko-KR" sz="1200"/>
          </a:p>
        </p:txBody>
      </p:sp>
      <p:sp>
        <p:nvSpPr>
          <p:cNvPr id="14" name="Ev st 1"/>
          <p:cNvSpPr txBox="1"/>
          <p:nvPr/>
        </p:nvSpPr>
        <p:spPr>
          <a:xfrm>
            <a:off x="3726180" y="1965960"/>
            <a:ext cx="1188720" cy="310896"/>
          </a:xfrm>
          <a:prstGeom prst="roundRect">
            <a:avLst>
              <a:gd name="adj" fmla="val 16000"/>
            </a:avLst>
          </a:prstGeom>
          <a:solidFill>
            <a:srgbClr val="EAF0F7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신호 · 한계</a:t>
            </a:r>
            <a:endParaRPr lang="ko-KR" sz="1050"/>
          </a:p>
        </p:txBody>
      </p:sp>
      <p:sp>
        <p:nvSpPr>
          <p:cNvPr id="15" name="Ev big 1"/>
          <p:cNvSpPr txBox="1"/>
          <p:nvPr/>
        </p:nvSpPr>
        <p:spPr>
          <a:xfrm>
            <a:off x="3108960" y="2377440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7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25.0일 vs 34.6일</a:t>
            </a:r>
            <a:endParaRPr lang="ko-KR" sz="1700"/>
          </a:p>
        </p:txBody>
      </p:sp>
      <p:sp>
        <p:nvSpPr>
          <p:cNvPr id="16" name="Ev lines 1"/>
          <p:cNvSpPr txBox="1"/>
          <p:nvPr/>
        </p:nvSpPr>
        <p:spPr>
          <a:xfrm>
            <a:off x="3200400" y="3063240"/>
            <a:ext cx="224028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700"/>
              </a:spcAft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상처 닫힘: 케라틴 겔 vs 은연고(SSD)</a:t>
            </a:r>
            <a:endParaRPr lang="ko-KR" sz="1200"/>
          </a:p>
        </p:txBody>
      </p:sp>
      <p:sp>
        <p:nvSpPr>
          <p:cNvPr id="17" name="Ev cav 1"/>
          <p:cNvSpPr txBox="1"/>
          <p:nvPr/>
        </p:nvSpPr>
        <p:spPr>
          <a:xfrm>
            <a:off x="3154680" y="4846320"/>
            <a:ext cx="2331720" cy="640080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콜라겐 겔 24.2일 → 케라틴만의 우위 아님</a:t>
            </a:r>
            <a:endParaRPr lang="ko-KR" sz="1000"/>
          </a:p>
        </p:txBody>
      </p:sp>
      <p:sp>
        <p:nvSpPr>
          <p:cNvPr id="18" name="Ev 2"/>
          <p:cNvSpPr/>
          <p:nvPr/>
        </p:nvSpPr>
        <p:spPr>
          <a:xfrm>
            <a:off x="5715000" y="1371600"/>
            <a:ext cx="365760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19" name="Ev head 2"/>
          <p:cNvSpPr txBox="1"/>
          <p:nvPr/>
        </p:nvSpPr>
        <p:spPr>
          <a:xfrm>
            <a:off x="5715000" y="1371600"/>
            <a:ext cx="3657600" cy="457200"/>
          </a:xfrm>
          <a:prstGeom prst="round2SameRect">
            <a:avLst>
              <a:gd name="adj" fmla="val 16000"/>
            </a:avLst>
          </a:prstGeom>
          <a:solidFill>
            <a:srgbClr val="B84A4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  사람 (KeraStat)</a:t>
            </a:r>
            <a:endParaRPr lang="ko-KR" sz="1200"/>
          </a:p>
        </p:txBody>
      </p:sp>
      <p:sp>
        <p:nvSpPr>
          <p:cNvPr id="20" name="Ev st 2"/>
          <p:cNvSpPr txBox="1"/>
          <p:nvPr/>
        </p:nvSpPr>
        <p:spPr>
          <a:xfrm>
            <a:off x="6949440" y="1965960"/>
            <a:ext cx="1188720" cy="310896"/>
          </a:xfrm>
          <a:prstGeom prst="roundRect">
            <a:avLst>
              <a:gd name="adj" fmla="val 16000"/>
            </a:avLst>
          </a:prstGeom>
          <a:solidFill>
            <a:srgbClr val="FBECEC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미확증</a:t>
            </a:r>
            <a:endParaRPr lang="ko-KR" sz="1050"/>
          </a:p>
        </p:txBody>
      </p:sp>
      <p:sp>
        <p:nvSpPr>
          <p:cNvPr id="21" name="Ev big 2"/>
          <p:cNvSpPr txBox="1"/>
          <p:nvPr/>
        </p:nvSpPr>
        <p:spPr>
          <a:xfrm>
            <a:off x="5806440" y="23774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00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유의차 없음</a:t>
            </a:r>
            <a:endParaRPr lang="ko-KR" sz="2000"/>
          </a:p>
        </p:txBody>
      </p:sp>
      <p:sp>
        <p:nvSpPr>
          <p:cNvPr id="22" name="Ev lines 2"/>
          <p:cNvSpPr txBox="1"/>
          <p:nvPr/>
        </p:nvSpPr>
        <p:spPr>
          <a:xfrm>
            <a:off x="5897880" y="3063240"/>
            <a:ext cx="329184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700"/>
              </a:spcAft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유방 방사선피부염 30.8% vs 54.5% (24명, p=0.408)</a:t>
            </a:r>
            <a:endParaRPr lang="ko-KR" sz="1200"/>
          </a:p>
          <a:p>
            <a:pPr marL="0" indent="0" algn="l">
              <a:spcAft>
                <a:spcPts val="700"/>
              </a:spcAft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두경부 방사선피부염: 차이 없음 (24명)</a:t>
            </a:r>
            <a:endParaRPr lang="ko-KR" sz="1200"/>
          </a:p>
          <a:p>
            <a:pPr marL="0" indent="0" algn="l">
              <a:spcAft>
                <a:spcPts val="700"/>
              </a:spcAft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화상 시험: 30명 계획 → 14명 등록 후 종료</a:t>
            </a:r>
            <a:endParaRPr lang="ko-KR" sz="1200"/>
          </a:p>
          <a:p>
            <a:pPr marL="0" indent="0" algn="l">
              <a:spcAft>
                <a:spcPts val="700"/>
              </a:spcAft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ProgenaMatrix 당뇨발 77% / 69% (비교군 없음)</a:t>
            </a:r>
            <a:endParaRPr lang="ko-KR" sz="1200"/>
          </a:p>
        </p:txBody>
      </p:sp>
      <p:sp>
        <p:nvSpPr>
          <p:cNvPr id="23" name="Ev 3"/>
          <p:cNvSpPr/>
          <p:nvPr/>
        </p:nvSpPr>
        <p:spPr>
          <a:xfrm>
            <a:off x="9464040" y="1371600"/>
            <a:ext cx="2221992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24" name="Ev head 3"/>
          <p:cNvSpPr txBox="1"/>
          <p:nvPr/>
        </p:nvSpPr>
        <p:spPr>
          <a:xfrm>
            <a:off x="9464040" y="1371600"/>
            <a:ext cx="2221992" cy="457200"/>
          </a:xfrm>
          <a:prstGeom prst="round2SameRect">
            <a:avLst>
              <a:gd name="adj" fmla="val 16000"/>
            </a:avLst>
          </a:prstGeom>
          <a:solidFill>
            <a:srgbClr val="D98B2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  FDA 허가 범위</a:t>
            </a:r>
            <a:endParaRPr lang="ko-KR" sz="1200"/>
          </a:p>
        </p:txBody>
      </p:sp>
      <p:sp>
        <p:nvSpPr>
          <p:cNvPr id="25" name="Ev st 3"/>
          <p:cNvSpPr txBox="1"/>
          <p:nvPr/>
        </p:nvSpPr>
        <p:spPr>
          <a:xfrm>
            <a:off x="9980676" y="1965960"/>
            <a:ext cx="1188720" cy="310896"/>
          </a:xfrm>
          <a:prstGeom prst="roundRect">
            <a:avLst>
              <a:gd name="adj" fmla="val 16000"/>
            </a:avLst>
          </a:prstGeom>
          <a:solidFill>
            <a:srgbClr val="FBF1E3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D98B2B"/>
                </a:solidFill>
                <a:latin typeface="NanumSquare"/>
                <a:ea typeface="NanumSquare"/>
                <a:cs typeface="NanumSquare"/>
              </a:rPr>
              <a:t>기능만 인정</a:t>
            </a:r>
            <a:endParaRPr lang="ko-KR" sz="1050"/>
          </a:p>
        </p:txBody>
      </p:sp>
      <p:sp>
        <p:nvSpPr>
          <p:cNvPr id="26" name="Ev big 3"/>
          <p:cNvSpPr txBox="1"/>
          <p:nvPr/>
        </p:nvSpPr>
        <p:spPr>
          <a:xfrm>
            <a:off x="9555480" y="2377440"/>
            <a:ext cx="203911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700" b="1">
                <a:solidFill>
                  <a:srgbClr val="D98B2B"/>
                </a:solidFill>
                <a:latin typeface="NanumSquare"/>
                <a:ea typeface="NanumSquare"/>
                <a:cs typeface="NanumSquare"/>
              </a:rPr>
              <a:t>보호 · 흡수 · 습윤</a:t>
            </a:r>
            <a:endParaRPr lang="ko-KR" sz="1700"/>
          </a:p>
        </p:txBody>
      </p:sp>
      <p:sp>
        <p:nvSpPr>
          <p:cNvPr id="27" name="Ev lines 3"/>
          <p:cNvSpPr txBox="1"/>
          <p:nvPr/>
        </p:nvSpPr>
        <p:spPr>
          <a:xfrm>
            <a:off x="9646920" y="3063240"/>
            <a:ext cx="1856232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700"/>
              </a:spcAft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KeraStat 510(k)의 인정 작용</a:t>
            </a:r>
            <a:endParaRPr lang="ko-KR" sz="1200"/>
          </a:p>
        </p:txBody>
      </p:sp>
      <p:sp>
        <p:nvSpPr>
          <p:cNvPr id="28" name="Ev cav 3"/>
          <p:cNvSpPr txBox="1"/>
          <p:nvPr/>
        </p:nvSpPr>
        <p:spPr>
          <a:xfrm>
            <a:off x="9601200" y="4846320"/>
            <a:ext cx="1947672" cy="640080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피부 재생 촉진 등 약효 인정 아님</a:t>
            </a:r>
            <a:endParaRPr lang="ko-KR" sz="1000"/>
          </a:p>
        </p:txBody>
      </p:sp>
      <p:sp>
        <p:nvSpPr>
          <p:cNvPr id="29" name="Key box"/>
          <p:cNvSpPr/>
          <p:nvPr/>
        </p:nvSpPr>
        <p:spPr>
          <a:xfrm>
            <a:off x="502920" y="5779008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E6F1ED"/>
          </a:solidFill>
          <a:ln>
            <a:noFill/>
          </a:ln>
        </p:spPr>
      </p:sp>
      <p:sp>
        <p:nvSpPr>
          <p:cNvPr id="30" name="Key label"/>
          <p:cNvSpPr txBox="1"/>
          <p:nvPr/>
        </p:nvSpPr>
        <p:spPr>
          <a:xfrm>
            <a:off x="640080" y="5870448"/>
            <a:ext cx="685800" cy="274320"/>
          </a:xfrm>
          <a:prstGeom prst="round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핵심</a:t>
            </a:r>
            <a:endParaRPr lang="ko-KR" sz="1000"/>
          </a:p>
        </p:txBody>
      </p:sp>
      <p:sp>
        <p:nvSpPr>
          <p:cNvPr id="31" name="Key text"/>
          <p:cNvSpPr txBox="1"/>
          <p:nvPr/>
        </p:nvSpPr>
        <p:spPr>
          <a:xfrm>
            <a:off x="1463040" y="57790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KheAl 기회: 같은 적응증 · 충분한 환자 수 · 명확한 비교군 · 사전 정의한 재상피화 평가로 ‘확증 근거’를 만든다</a:t>
            </a:r>
            <a:endParaRPr lang="ko-KR" sz="1250"/>
          </a:p>
        </p:txBody>
      </p:sp>
      <p:sp>
        <p:nvSpPr>
          <p:cNvPr id="32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Poranki 2014 (세포)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Waters 2018 (대식세포)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3"/>
              </a:rPr>
              <a:t>Poranki 2016 (돼지 화상)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4"/>
              </a:rPr>
              <a:t>Breast RD Pilot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5"/>
              </a:rPr>
              <a:t>Head &amp; Neck RD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6"/>
              </a:rPr>
              <a:t>NCT03564795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7"/>
              </a:rPr>
              <a:t>ProgenaMatrix DFU</a:t>
            </a:r>
            <a:endParaRPr lang="ko-KR" sz="7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KheAl 검증 4단계 — 케라틴의 기여는 따로 증명한다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임상시험은 완제품 성능만 보여줌 → 케라틴의 몫은 ‘케라틴을 뺀 조성’과 비교해야 분리됨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21</a:t>
            </a:r>
            <a:endParaRPr lang="ko-KR" sz="750"/>
          </a:p>
        </p:txBody>
      </p:sp>
      <p:sp>
        <p:nvSpPr>
          <p:cNvPr id="7" name="Product card"/>
          <p:cNvSpPr/>
          <p:nvPr/>
        </p:nvSpPr>
        <p:spPr>
          <a:xfrm>
            <a:off x="502920" y="1371600"/>
            <a:ext cx="283464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pic>
        <p:nvPicPr>
          <p:cNvPr id="8" name="KheAl product" descr="KheAl 제품 사진"/>
          <p:cNvPicPr>
            <a:picLocks noChangeAspect="1"/>
          </p:cNvPicPr>
          <p:nvPr/>
        </p:nvPicPr>
        <p:blipFill>
          <a:blip r:embed="rI1"/>
          <a:stretch>
            <a:fillRect/>
          </a:stretch>
        </p:blipFill>
        <p:spPr>
          <a:xfrm>
            <a:off x="685800" y="1634490"/>
            <a:ext cx="2468880" cy="1851660"/>
          </a:xfrm>
          <a:prstGeom prst="rect">
            <a:avLst/>
          </a:prstGeom>
        </p:spPr>
      </p:pic>
      <p:sp>
        <p:nvSpPr>
          <p:cNvPr id="9" name="Prod name"/>
          <p:cNvSpPr txBox="1"/>
          <p:nvPr/>
        </p:nvSpPr>
        <p:spPr>
          <a:xfrm>
            <a:off x="502920" y="36576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KheAl 완제품</a:t>
            </a:r>
            <a:endParaRPr lang="ko-KR" sz="1400"/>
          </a:p>
        </p:txBody>
      </p:sp>
      <p:sp>
        <p:nvSpPr>
          <p:cNvPr id="10" name="Prod comp"/>
          <p:cNvSpPr txBox="1"/>
          <p:nvPr/>
        </p:nvSpPr>
        <p:spPr>
          <a:xfrm>
            <a:off x="502920" y="402336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1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Keratin + Alginate + HA</a:t>
            </a:r>
            <a:endParaRPr lang="ko-KR" sz="1100"/>
          </a:p>
        </p:txBody>
      </p:sp>
      <p:sp>
        <p:nvSpPr>
          <p:cNvPr id="11" name="Prod note"/>
          <p:cNvSpPr txBox="1"/>
          <p:nvPr/>
        </p:nvSpPr>
        <p:spPr>
          <a:xfrm>
            <a:off x="685800" y="4526280"/>
            <a:ext cx="2468880" cy="868680"/>
          </a:xfrm>
          <a:prstGeom prst="roundRect">
            <a:avLst>
              <a:gd name="adj" fmla="val 10000"/>
            </a:avLst>
          </a:prstGeom>
          <a:solidFill>
            <a:srgbClr val="EAF0F7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보호·습윤은 알지네이트·HA만으로도 가능 → 케라틴의 추가 효과를 보여줘야 차별화</a:t>
            </a:r>
            <a:endParaRPr lang="ko-KR" sz="1050"/>
          </a:p>
        </p:txBody>
      </p:sp>
      <p:sp>
        <p:nvSpPr>
          <p:cNvPr id="12" name="Row 0"/>
          <p:cNvSpPr/>
          <p:nvPr/>
        </p:nvSpPr>
        <p:spPr>
          <a:xfrm>
            <a:off x="3520440" y="1371600"/>
            <a:ext cx="8165592" cy="9692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13" name="Row num 0"/>
          <p:cNvSpPr txBox="1"/>
          <p:nvPr/>
        </p:nvSpPr>
        <p:spPr>
          <a:xfrm>
            <a:off x="3703320" y="1627632"/>
            <a:ext cx="457200" cy="457200"/>
          </a:xfrm>
          <a:prstGeom prst="ellipse">
            <a:avLst/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ko-KR" sz="1300"/>
          </a:p>
        </p:txBody>
      </p:sp>
      <p:sp>
        <p:nvSpPr>
          <p:cNvPr id="14" name="Row t 0"/>
          <p:cNvSpPr txBox="1"/>
          <p:nvPr/>
        </p:nvSpPr>
        <p:spPr>
          <a:xfrm>
            <a:off x="4343400" y="1463040"/>
            <a:ext cx="182880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원료 품질</a:t>
            </a:r>
            <a:endParaRPr lang="ko-KR" sz="1400"/>
          </a:p>
        </p:txBody>
      </p:sp>
      <p:sp>
        <p:nvSpPr>
          <p:cNvPr id="15" name="Row q 0"/>
          <p:cNvSpPr txBox="1"/>
          <p:nvPr/>
        </p:nvSpPr>
        <p:spPr>
          <a:xfrm>
            <a:off x="6126480" y="1463040"/>
            <a:ext cx="310896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멸균·보관 후에도 케라틴 특성이 유지되나?</a:t>
            </a:r>
            <a:endParaRPr lang="ko-KR" sz="1200"/>
          </a:p>
        </p:txBody>
      </p:sp>
      <p:sp>
        <p:nvSpPr>
          <p:cNvPr id="16" name="Row m 0"/>
          <p:cNvSpPr txBox="1"/>
          <p:nvPr/>
        </p:nvSpPr>
        <p:spPr>
          <a:xfrm>
            <a:off x="9326880" y="1609344"/>
            <a:ext cx="2212848" cy="493776"/>
          </a:xfrm>
          <a:prstGeom prst="roundRect">
            <a:avLst>
              <a:gd name="adj" fmla="val 16000"/>
            </a:avLst>
          </a:prstGeom>
          <a:solidFill>
            <a:srgbClr val="E6F1ED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원료 분석 · 완제품 비교</a:t>
            </a:r>
            <a:endParaRPr lang="ko-KR" sz="1000"/>
          </a:p>
        </p:txBody>
      </p:sp>
      <p:sp>
        <p:nvSpPr>
          <p:cNvPr id="17" name="Row 1"/>
          <p:cNvSpPr/>
          <p:nvPr/>
        </p:nvSpPr>
        <p:spPr>
          <a:xfrm>
            <a:off x="3520440" y="2450592"/>
            <a:ext cx="8165592" cy="9692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18" name="Row num 1"/>
          <p:cNvSpPr txBox="1"/>
          <p:nvPr/>
        </p:nvSpPr>
        <p:spPr>
          <a:xfrm>
            <a:off x="3703320" y="2706624"/>
            <a:ext cx="457200" cy="457200"/>
          </a:xfrm>
          <a:prstGeom prst="ellipse">
            <a:avLst/>
          </a:prstGeom>
          <a:solidFill>
            <a:srgbClr val="7F5AA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ko-KR" sz="1300"/>
          </a:p>
        </p:txBody>
      </p:sp>
      <p:sp>
        <p:nvSpPr>
          <p:cNvPr id="19" name="Row t 1"/>
          <p:cNvSpPr txBox="1"/>
          <p:nvPr/>
        </p:nvSpPr>
        <p:spPr>
          <a:xfrm>
            <a:off x="4343400" y="2542032"/>
            <a:ext cx="182880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케라틴 기여</a:t>
            </a:r>
            <a:endParaRPr lang="ko-KR" sz="1400"/>
          </a:p>
        </p:txBody>
      </p:sp>
      <p:sp>
        <p:nvSpPr>
          <p:cNvPr id="20" name="Row q 1"/>
          <p:cNvSpPr txBox="1"/>
          <p:nvPr/>
        </p:nvSpPr>
        <p:spPr>
          <a:xfrm>
            <a:off x="6126480" y="2542032"/>
            <a:ext cx="310896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케라틴을 뺀 조성보다 세포·면역 반응이 더 좋은가?</a:t>
            </a:r>
            <a:endParaRPr lang="ko-KR" sz="1200"/>
          </a:p>
        </p:txBody>
      </p:sp>
      <p:sp>
        <p:nvSpPr>
          <p:cNvPr id="21" name="Row m 1"/>
          <p:cNvSpPr txBox="1"/>
          <p:nvPr/>
        </p:nvSpPr>
        <p:spPr>
          <a:xfrm>
            <a:off x="9326880" y="2688336"/>
            <a:ext cx="2212848" cy="493776"/>
          </a:xfrm>
          <a:prstGeom prst="roundRect">
            <a:avLst>
              <a:gd name="adj" fmla="val 16000"/>
            </a:avLst>
          </a:prstGeom>
          <a:solidFill>
            <a:srgbClr val="F1ECF6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KheAl vs 알지네이트+HA vs 케라틴 단독</a:t>
            </a:r>
            <a:endParaRPr lang="ko-KR" sz="1000"/>
          </a:p>
        </p:txBody>
      </p:sp>
      <p:sp>
        <p:nvSpPr>
          <p:cNvPr id="22" name="Row 2"/>
          <p:cNvSpPr/>
          <p:nvPr/>
        </p:nvSpPr>
        <p:spPr>
          <a:xfrm>
            <a:off x="3520440" y="3529584"/>
            <a:ext cx="8165592" cy="9692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23" name="Row num 2"/>
          <p:cNvSpPr txBox="1"/>
          <p:nvPr/>
        </p:nvSpPr>
        <p:spPr>
          <a:xfrm>
            <a:off x="3703320" y="3785616"/>
            <a:ext cx="457200" cy="457200"/>
          </a:xfrm>
          <a:prstGeom prst="ellipse">
            <a:avLst/>
          </a:prstGeom>
          <a:solidFill>
            <a:srgbClr val="1C3E6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ko-KR" sz="1300"/>
          </a:p>
        </p:txBody>
      </p:sp>
      <p:sp>
        <p:nvSpPr>
          <p:cNvPr id="24" name="Row t 2"/>
          <p:cNvSpPr txBox="1"/>
          <p:nvPr/>
        </p:nvSpPr>
        <p:spPr>
          <a:xfrm>
            <a:off x="4343400" y="3621024"/>
            <a:ext cx="182880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사용 편의</a:t>
            </a:r>
            <a:endParaRPr lang="ko-KR" sz="1400"/>
          </a:p>
        </p:txBody>
      </p:sp>
      <p:sp>
        <p:nvSpPr>
          <p:cNvPr id="25" name="Row q 2"/>
          <p:cNvSpPr txBox="1"/>
          <p:nvPr/>
        </p:nvSpPr>
        <p:spPr>
          <a:xfrm>
            <a:off x="6126480" y="3621024"/>
            <a:ext cx="310896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흡수·보습·바르기·잔류·제거가 더 나은가?</a:t>
            </a:r>
            <a:endParaRPr lang="ko-KR" sz="1200"/>
          </a:p>
        </p:txBody>
      </p:sp>
      <p:sp>
        <p:nvSpPr>
          <p:cNvPr id="26" name="Row m 2"/>
          <p:cNvSpPr txBox="1"/>
          <p:nvPr/>
        </p:nvSpPr>
        <p:spPr>
          <a:xfrm>
            <a:off x="9326880" y="3767328"/>
            <a:ext cx="2212848" cy="493776"/>
          </a:xfrm>
          <a:prstGeom prst="roundRect">
            <a:avLst>
              <a:gd name="adj" fmla="val 16000"/>
            </a:avLst>
          </a:prstGeom>
          <a:solidFill>
            <a:srgbClr val="EAF0F7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실험실 · 사용성 비교</a:t>
            </a:r>
            <a:endParaRPr lang="ko-KR" sz="1000"/>
          </a:p>
        </p:txBody>
      </p:sp>
      <p:sp>
        <p:nvSpPr>
          <p:cNvPr id="27" name="Row 3"/>
          <p:cNvSpPr/>
          <p:nvPr/>
        </p:nvSpPr>
        <p:spPr>
          <a:xfrm>
            <a:off x="3520440" y="4608576"/>
            <a:ext cx="8165592" cy="9692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28" name="Row num 3"/>
          <p:cNvSpPr txBox="1"/>
          <p:nvPr/>
        </p:nvSpPr>
        <p:spPr>
          <a:xfrm>
            <a:off x="3703320" y="4864608"/>
            <a:ext cx="457200" cy="457200"/>
          </a:xfrm>
          <a:prstGeom prst="ellipse">
            <a:avLst/>
          </a:prstGeom>
          <a:solidFill>
            <a:srgbClr val="D98B2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lang="ko-KR" sz="1300"/>
          </a:p>
        </p:txBody>
      </p:sp>
      <p:sp>
        <p:nvSpPr>
          <p:cNvPr id="29" name="Row t 3"/>
          <p:cNvSpPr txBox="1"/>
          <p:nvPr/>
        </p:nvSpPr>
        <p:spPr>
          <a:xfrm>
            <a:off x="4343400" y="4700016"/>
            <a:ext cx="182880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D98B2B"/>
                </a:solidFill>
                <a:latin typeface="NanumSquare"/>
                <a:ea typeface="NanumSquare"/>
                <a:cs typeface="NanumSquare"/>
              </a:rPr>
              <a:t>임상 효과</a:t>
            </a:r>
            <a:endParaRPr lang="ko-KR" sz="1400"/>
          </a:p>
        </p:txBody>
      </p:sp>
      <p:sp>
        <p:nvSpPr>
          <p:cNvPr id="30" name="Row q 3"/>
          <p:cNvSpPr txBox="1"/>
          <p:nvPr/>
        </p:nvSpPr>
        <p:spPr>
          <a:xfrm>
            <a:off x="6126480" y="4700016"/>
            <a:ext cx="310896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피부 재생·통증·교체 횟수·처치 시간이 나아지나?</a:t>
            </a:r>
            <a:endParaRPr lang="ko-KR" sz="1200"/>
          </a:p>
        </p:txBody>
      </p:sp>
      <p:sp>
        <p:nvSpPr>
          <p:cNvPr id="31" name="Row m 3"/>
          <p:cNvSpPr txBox="1"/>
          <p:nvPr/>
        </p:nvSpPr>
        <p:spPr>
          <a:xfrm>
            <a:off x="9326880" y="4846320"/>
            <a:ext cx="2212848" cy="493776"/>
          </a:xfrm>
          <a:prstGeom prst="roundRect">
            <a:avLst>
              <a:gd name="adj" fmla="val 16000"/>
            </a:avLst>
          </a:prstGeom>
          <a:solidFill>
            <a:srgbClr val="FBF1E3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D98B2B"/>
                </a:solidFill>
                <a:latin typeface="NanumSquare"/>
                <a:ea typeface="NanumSquare"/>
                <a:cs typeface="NanumSquare"/>
              </a:rPr>
              <a:t>성인 2도 화상 비교임상</a:t>
            </a:r>
            <a:endParaRPr lang="ko-KR" sz="1000"/>
          </a:p>
        </p:txBody>
      </p:sp>
      <p:sp>
        <p:nvSpPr>
          <p:cNvPr id="32" name="Order label"/>
          <p:cNvSpPr txBox="1"/>
          <p:nvPr/>
        </p:nvSpPr>
        <p:spPr>
          <a:xfrm>
            <a:off x="502920" y="5779008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주장 순서</a:t>
            </a:r>
            <a:endParaRPr lang="ko-KR" sz="1200"/>
          </a:p>
        </p:txBody>
      </p:sp>
      <p:sp>
        <p:nvSpPr>
          <p:cNvPr id="33" name="Order 0"/>
          <p:cNvSpPr txBox="1"/>
          <p:nvPr/>
        </p:nvSpPr>
        <p:spPr>
          <a:xfrm>
            <a:off x="1783080" y="5779008"/>
            <a:ext cx="2542032" cy="457200"/>
          </a:xfrm>
          <a:prstGeom prst="homePlate">
            <a:avLst>
              <a:gd name="adj" fmla="val 30000"/>
            </a:avLst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보호 · 습윤</a:t>
            </a:r>
            <a:endParaRPr lang="ko-KR" sz="1200"/>
          </a:p>
        </p:txBody>
      </p:sp>
      <p:sp>
        <p:nvSpPr>
          <p:cNvPr id="34" name="Order 1"/>
          <p:cNvSpPr txBox="1"/>
          <p:nvPr/>
        </p:nvSpPr>
        <p:spPr>
          <a:xfrm>
            <a:off x="4233672" y="5779008"/>
            <a:ext cx="2542032" cy="457200"/>
          </a:xfrm>
          <a:prstGeom prst="chevron">
            <a:avLst>
              <a:gd name="adj" fmla="val 30000"/>
            </a:avLst>
          </a:prstGeom>
          <a:solidFill>
            <a:srgbClr val="1C3E6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사용 편의</a:t>
            </a:r>
            <a:endParaRPr lang="ko-KR" sz="1200"/>
          </a:p>
        </p:txBody>
      </p:sp>
      <p:sp>
        <p:nvSpPr>
          <p:cNvPr id="35" name="Order 2"/>
          <p:cNvSpPr txBox="1"/>
          <p:nvPr/>
        </p:nvSpPr>
        <p:spPr>
          <a:xfrm>
            <a:off x="6684264" y="5779008"/>
            <a:ext cx="2542032" cy="457200"/>
          </a:xfrm>
          <a:prstGeom prst="chevron">
            <a:avLst>
              <a:gd name="adj" fmla="val 30000"/>
            </a:avLst>
          </a:prstGeom>
          <a:solidFill>
            <a:srgbClr val="D98B2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임상 성능</a:t>
            </a:r>
            <a:endParaRPr lang="ko-KR" sz="1200"/>
          </a:p>
        </p:txBody>
      </p:sp>
      <p:sp>
        <p:nvSpPr>
          <p:cNvPr id="36" name="Order 3"/>
          <p:cNvSpPr txBox="1"/>
          <p:nvPr/>
        </p:nvSpPr>
        <p:spPr>
          <a:xfrm>
            <a:off x="9134856" y="5779008"/>
            <a:ext cx="2542032" cy="457200"/>
          </a:xfrm>
          <a:prstGeom prst="chevron">
            <a:avLst>
              <a:gd name="adj" fmla="val 30000"/>
            </a:avLst>
          </a:prstGeom>
          <a:solidFill>
            <a:srgbClr val="7F5AA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케라틴 기여</a:t>
            </a:r>
            <a:endParaRPr lang="ko-KR" sz="1200"/>
          </a:p>
        </p:txBody>
      </p:sp>
      <p:sp>
        <p:nvSpPr>
          <p:cNvPr id="37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FDA K162759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Keratin Macrophage Study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3"/>
              </a:rPr>
              <a:t>BioFriends KheAl 제품자료</a:t>
            </a:r>
            <a:endParaRPr lang="ko-KR" sz="7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국내 인허가 로드맵 — 6단계, 3개 축을 동시에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임상 승인 전에 품질·비임상 자료를 병렬로 끝내야 전체 일정이 줄어듦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22</a:t>
            </a:r>
            <a:endParaRPr lang="ko-KR" sz="750"/>
          </a:p>
        </p:txBody>
      </p:sp>
      <p:sp>
        <p:nvSpPr>
          <p:cNvPr id="7" name="Step 0"/>
          <p:cNvSpPr txBox="1"/>
          <p:nvPr/>
        </p:nvSpPr>
        <p:spPr>
          <a:xfrm>
            <a:off x="502920" y="1417320"/>
            <a:ext cx="1938528" cy="566928"/>
          </a:xfrm>
          <a:prstGeom prst="homePlate">
            <a:avLst>
              <a:gd name="adj" fmla="val 25000"/>
            </a:avLst>
          </a:prstGeom>
          <a:solidFill>
            <a:srgbClr val="1D6B52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  품목·사용목적 확정</a:t>
            </a:r>
            <a:endParaRPr lang="ko-KR" sz="1150"/>
          </a:p>
        </p:txBody>
      </p:sp>
      <p:sp>
        <p:nvSpPr>
          <p:cNvPr id="8" name="Step sub 0"/>
          <p:cNvSpPr txBox="1"/>
          <p:nvPr/>
        </p:nvSpPr>
        <p:spPr>
          <a:xfrm>
            <a:off x="594360" y="2057400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흡수·분해·사용기간</a:t>
            </a:r>
            <a:endParaRPr lang="ko-KR" sz="1050"/>
          </a:p>
        </p:txBody>
      </p:sp>
      <p:sp>
        <p:nvSpPr>
          <p:cNvPr id="9" name="Step 1"/>
          <p:cNvSpPr txBox="1"/>
          <p:nvPr/>
        </p:nvSpPr>
        <p:spPr>
          <a:xfrm>
            <a:off x="2350008" y="1417320"/>
            <a:ext cx="1938528" cy="566928"/>
          </a:xfrm>
          <a:prstGeom prst="chevron">
            <a:avLst>
              <a:gd name="adj" fmla="val 25000"/>
            </a:avLst>
          </a:prstGeom>
          <a:solidFill>
            <a:srgbClr val="1D6B52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  부족한 자료 점검</a:t>
            </a:r>
            <a:endParaRPr lang="ko-KR" sz="1150"/>
          </a:p>
        </p:txBody>
      </p:sp>
      <p:sp>
        <p:nvSpPr>
          <p:cNvPr id="10" name="Step sub 1"/>
          <p:cNvSpPr txBox="1"/>
          <p:nvPr/>
        </p:nvSpPr>
        <p:spPr>
          <a:xfrm>
            <a:off x="2441448" y="2057400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성능·안전성·멸균·안정성</a:t>
            </a:r>
            <a:endParaRPr lang="ko-KR" sz="1050"/>
          </a:p>
        </p:txBody>
      </p:sp>
      <p:sp>
        <p:nvSpPr>
          <p:cNvPr id="11" name="Step 2"/>
          <p:cNvSpPr txBox="1"/>
          <p:nvPr/>
        </p:nvSpPr>
        <p:spPr>
          <a:xfrm>
            <a:off x="4197096" y="1417320"/>
            <a:ext cx="1938528" cy="566928"/>
          </a:xfrm>
          <a:prstGeom prst="chevron">
            <a:avLst>
              <a:gd name="adj" fmla="val 25000"/>
            </a:avLst>
          </a:prstGeom>
          <a:solidFill>
            <a:srgbClr val="1D6B52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  임상 계획</a:t>
            </a:r>
            <a:endParaRPr lang="ko-KR" sz="1150"/>
          </a:p>
        </p:txBody>
      </p:sp>
      <p:sp>
        <p:nvSpPr>
          <p:cNvPr id="12" name="Step sub 2"/>
          <p:cNvSpPr txBox="1"/>
          <p:nvPr/>
        </p:nvSpPr>
        <p:spPr>
          <a:xfrm>
            <a:off x="4288536" y="2057400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비교군·평가·환자 수·예산</a:t>
            </a:r>
            <a:endParaRPr lang="ko-KR" sz="1050"/>
          </a:p>
        </p:txBody>
      </p:sp>
      <p:sp>
        <p:nvSpPr>
          <p:cNvPr id="13" name="Step 3"/>
          <p:cNvSpPr txBox="1"/>
          <p:nvPr/>
        </p:nvSpPr>
        <p:spPr>
          <a:xfrm>
            <a:off x="6044184" y="1417320"/>
            <a:ext cx="1938528" cy="566928"/>
          </a:xfrm>
          <a:prstGeom prst="chevron">
            <a:avLst>
              <a:gd name="adj" fmla="val 25000"/>
            </a:avLst>
          </a:prstGeom>
          <a:solidFill>
            <a:srgbClr val="1C3E68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  식약처·IRB 승인</a:t>
            </a:r>
            <a:endParaRPr lang="ko-KR" sz="1150"/>
          </a:p>
        </p:txBody>
      </p:sp>
      <p:sp>
        <p:nvSpPr>
          <p:cNvPr id="14" name="Step sub 3"/>
          <p:cNvSpPr txBox="1"/>
          <p:nvPr/>
        </p:nvSpPr>
        <p:spPr>
          <a:xfrm>
            <a:off x="6135624" y="2057400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계획 승인·보험·계약</a:t>
            </a:r>
            <a:endParaRPr lang="ko-KR" sz="1050"/>
          </a:p>
        </p:txBody>
      </p:sp>
      <p:sp>
        <p:nvSpPr>
          <p:cNvPr id="15" name="Step 4"/>
          <p:cNvSpPr txBox="1"/>
          <p:nvPr/>
        </p:nvSpPr>
        <p:spPr>
          <a:xfrm>
            <a:off x="7891272" y="1417320"/>
            <a:ext cx="1938528" cy="566928"/>
          </a:xfrm>
          <a:prstGeom prst="chevron">
            <a:avLst>
              <a:gd name="adj" fmla="val 25000"/>
            </a:avLst>
          </a:prstGeom>
          <a:solidFill>
            <a:srgbClr val="1C3E68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5  임상 수행·분석</a:t>
            </a:r>
            <a:endParaRPr lang="ko-KR" sz="1150"/>
          </a:p>
        </p:txBody>
      </p:sp>
      <p:sp>
        <p:nvSpPr>
          <p:cNvPr id="16" name="Step sub 4"/>
          <p:cNvSpPr txBox="1"/>
          <p:nvPr/>
        </p:nvSpPr>
        <p:spPr>
          <a:xfrm>
            <a:off x="7982712" y="2057400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등록·추적·통계·보고서</a:t>
            </a:r>
            <a:endParaRPr lang="ko-KR" sz="1050"/>
          </a:p>
        </p:txBody>
      </p:sp>
      <p:sp>
        <p:nvSpPr>
          <p:cNvPr id="17" name="Step 5"/>
          <p:cNvSpPr txBox="1"/>
          <p:nvPr/>
        </p:nvSpPr>
        <p:spPr>
          <a:xfrm>
            <a:off x="9738360" y="1417320"/>
            <a:ext cx="1938528" cy="566928"/>
          </a:xfrm>
          <a:prstGeom prst="chevron">
            <a:avLst>
              <a:gd name="adj" fmla="val 25000"/>
            </a:avLst>
          </a:prstGeom>
          <a:solidFill>
            <a:srgbClr val="D98B2B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6  품목허가</a:t>
            </a:r>
            <a:endParaRPr lang="ko-KR" sz="1150"/>
          </a:p>
        </p:txBody>
      </p:sp>
      <p:sp>
        <p:nvSpPr>
          <p:cNvPr id="18" name="Step sub 5"/>
          <p:cNvSpPr txBox="1"/>
          <p:nvPr/>
        </p:nvSpPr>
        <p:spPr>
          <a:xfrm>
            <a:off x="9829800" y="2057400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기술문서 · GMP</a:t>
            </a:r>
            <a:endParaRPr lang="ko-KR" sz="1050"/>
          </a:p>
        </p:txBody>
      </p:sp>
      <p:sp>
        <p:nvSpPr>
          <p:cNvPr id="19" name="Lane title"/>
          <p:cNvSpPr txBox="1"/>
          <p:nvPr/>
        </p:nvSpPr>
        <p:spPr>
          <a:xfrm>
            <a:off x="502920" y="2606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병렬로 준비할 3개 축</a:t>
            </a:r>
            <a:endParaRPr lang="ko-KR" sz="1200"/>
          </a:p>
        </p:txBody>
      </p:sp>
      <p:sp>
        <p:nvSpPr>
          <p:cNvPr id="20" name="Lane l 0"/>
          <p:cNvSpPr txBox="1"/>
          <p:nvPr/>
        </p:nvSpPr>
        <p:spPr>
          <a:xfrm>
            <a:off x="502920" y="297180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품질 · GMP</a:t>
            </a:r>
            <a:endParaRPr lang="ko-KR" sz="1100"/>
          </a:p>
        </p:txBody>
      </p:sp>
      <p:sp>
        <p:nvSpPr>
          <p:cNvPr id="21" name="Lane bg 0"/>
          <p:cNvSpPr/>
          <p:nvPr/>
        </p:nvSpPr>
        <p:spPr>
          <a:xfrm>
            <a:off x="1783080" y="3044952"/>
            <a:ext cx="9902952" cy="512064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</p:spPr>
      </p:sp>
      <p:sp>
        <p:nvSpPr>
          <p:cNvPr id="22" name="Lane bar 0"/>
          <p:cNvSpPr txBox="1"/>
          <p:nvPr/>
        </p:nvSpPr>
        <p:spPr>
          <a:xfrm>
            <a:off x="1783080" y="3044952"/>
            <a:ext cx="9902952" cy="512064"/>
          </a:xfrm>
          <a:prstGeom prst="roundRect">
            <a:avLst>
              <a:gd name="adj" fmla="val 50000"/>
            </a:avLst>
          </a:prstGeom>
          <a:solidFill>
            <a:srgbClr val="E6F1ED"/>
          </a:solidFill>
          <a:ln w="9525">
            <a:solidFill>
              <a:srgbClr val="1D6B52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제조공정 · 원료관리 · 멸균 · 포장 · 안정성</a:t>
            </a:r>
            <a:endParaRPr lang="ko-KR" sz="1100"/>
          </a:p>
        </p:txBody>
      </p:sp>
      <p:sp>
        <p:nvSpPr>
          <p:cNvPr id="23" name="Lane l 1"/>
          <p:cNvSpPr txBox="1"/>
          <p:nvPr/>
        </p:nvSpPr>
        <p:spPr>
          <a:xfrm>
            <a:off x="502920" y="3813048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비임상 · 성능</a:t>
            </a:r>
            <a:endParaRPr lang="ko-KR" sz="1100"/>
          </a:p>
        </p:txBody>
      </p:sp>
      <p:sp>
        <p:nvSpPr>
          <p:cNvPr id="24" name="Lane bg 1"/>
          <p:cNvSpPr/>
          <p:nvPr/>
        </p:nvSpPr>
        <p:spPr>
          <a:xfrm>
            <a:off x="1783080" y="3886200"/>
            <a:ext cx="9902952" cy="512064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</p:spPr>
      </p:sp>
      <p:sp>
        <p:nvSpPr>
          <p:cNvPr id="25" name="Lane bar 1"/>
          <p:cNvSpPr txBox="1"/>
          <p:nvPr/>
        </p:nvSpPr>
        <p:spPr>
          <a:xfrm>
            <a:off x="1783080" y="3886200"/>
            <a:ext cx="6601968" cy="512064"/>
          </a:xfrm>
          <a:prstGeom prst="roundRect">
            <a:avLst>
              <a:gd name="adj" fmla="val 50000"/>
            </a:avLst>
          </a:prstGeom>
          <a:solidFill>
            <a:srgbClr val="F1ECF6"/>
          </a:solidFill>
          <a:ln w="9525">
            <a:solidFill>
              <a:srgbClr val="7F5AA2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생물학적 안전성 · 흡수 · 보습 · 바르기 · 사용적합성</a:t>
            </a:r>
            <a:endParaRPr lang="ko-KR" sz="1100"/>
          </a:p>
        </p:txBody>
      </p:sp>
      <p:sp>
        <p:nvSpPr>
          <p:cNvPr id="26" name="Lane l 2"/>
          <p:cNvSpPr txBox="1"/>
          <p:nvPr/>
        </p:nvSpPr>
        <p:spPr>
          <a:xfrm>
            <a:off x="502920" y="4654296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임상 · 규제</a:t>
            </a:r>
            <a:endParaRPr lang="ko-KR" sz="1100"/>
          </a:p>
        </p:txBody>
      </p:sp>
      <p:sp>
        <p:nvSpPr>
          <p:cNvPr id="27" name="Lane bg 2"/>
          <p:cNvSpPr/>
          <p:nvPr/>
        </p:nvSpPr>
        <p:spPr>
          <a:xfrm>
            <a:off x="1783080" y="4727448"/>
            <a:ext cx="9902952" cy="512064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</p:spPr>
      </p:sp>
      <p:sp>
        <p:nvSpPr>
          <p:cNvPr id="28" name="Lane bar 2"/>
          <p:cNvSpPr txBox="1"/>
          <p:nvPr/>
        </p:nvSpPr>
        <p:spPr>
          <a:xfrm>
            <a:off x="5084064" y="4727448"/>
            <a:ext cx="6601968" cy="512064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1C3E68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식약처 계획승인 · IRB · 병원 · 비교군 · 통계</a:t>
            </a:r>
            <a:endParaRPr lang="ko-KR" sz="1100"/>
          </a:p>
        </p:txBody>
      </p:sp>
      <p:sp>
        <p:nvSpPr>
          <p:cNvPr id="29" name="Road note"/>
          <p:cNvSpPr txBox="1"/>
          <p:nvPr/>
        </p:nvSpPr>
        <p:spPr>
          <a:xfrm>
            <a:off x="502920" y="548640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구간은 준비 순서 예시 — 확정 일정 아님</a:t>
            </a:r>
            <a:endParaRPr lang="ko-KR" sz="950"/>
          </a:p>
        </p:txBody>
      </p:sp>
      <p:sp>
        <p:nvSpPr>
          <p:cNvPr id="30" name="Key box"/>
          <p:cNvSpPr/>
          <p:nvPr/>
        </p:nvSpPr>
        <p:spPr>
          <a:xfrm>
            <a:off x="502920" y="5779008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E6F1ED"/>
          </a:solidFill>
          <a:ln>
            <a:noFill/>
          </a:ln>
        </p:spPr>
      </p:sp>
      <p:sp>
        <p:nvSpPr>
          <p:cNvPr id="31" name="Key label"/>
          <p:cNvSpPr txBox="1"/>
          <p:nvPr/>
        </p:nvSpPr>
        <p:spPr>
          <a:xfrm>
            <a:off x="640080" y="5870448"/>
            <a:ext cx="685800" cy="274320"/>
          </a:xfrm>
          <a:prstGeom prst="round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핵심</a:t>
            </a:r>
            <a:endParaRPr lang="ko-KR" sz="1000"/>
          </a:p>
        </p:txBody>
      </p:sp>
      <p:sp>
        <p:nvSpPr>
          <p:cNvPr id="32" name="Key text"/>
          <p:cNvSpPr txBox="1"/>
          <p:nvPr/>
        </p:nvSpPr>
        <p:spPr>
          <a:xfrm>
            <a:off x="1463040" y="57790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목표: 4등급 생체유래 창상피복재. 최종 등급·임상자료 수준은 흡수성·신규성·동등성 자료로 확정</a:t>
            </a:r>
            <a:endParaRPr lang="ko-KR" sz="1250"/>
          </a:p>
        </p:txBody>
      </p:sp>
      <p:sp>
        <p:nvSpPr>
          <p:cNvPr id="33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의료기기 품목 및 품목별 등급 규정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의료기기법 시행규칙</a:t>
            </a:r>
            <a:endParaRPr lang="ko-KR" sz="7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임상시험 설계안 — 성인 2도 화상 60명, 기존 드레싱과 비교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60명은 예산 기준 가정 · 실제 환자 수는 프로토콜 확정 후 통계로 산출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23</a:t>
            </a:r>
            <a:endParaRPr lang="ko-KR" sz="750"/>
          </a:p>
        </p:txBody>
      </p:sp>
      <p:sp>
        <p:nvSpPr>
          <p:cNvPr id="7" name="Pico 0"/>
          <p:cNvSpPr/>
          <p:nvPr/>
        </p:nvSpPr>
        <p:spPr>
          <a:xfrm>
            <a:off x="502920" y="1371600"/>
            <a:ext cx="24688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8" name="Pico h 0"/>
          <p:cNvSpPr txBox="1"/>
          <p:nvPr/>
        </p:nvSpPr>
        <p:spPr>
          <a:xfrm>
            <a:off x="502920" y="1371600"/>
            <a:ext cx="2468880" cy="438912"/>
          </a:xfrm>
          <a:prstGeom prst="round2Same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대상</a:t>
            </a:r>
            <a:endParaRPr lang="ko-KR" sz="1300"/>
          </a:p>
        </p:txBody>
      </p:sp>
      <p:sp>
        <p:nvSpPr>
          <p:cNvPr id="9" name="Pico l 0"/>
          <p:cNvSpPr txBox="1"/>
          <p:nvPr/>
        </p:nvSpPr>
        <p:spPr>
          <a:xfrm>
            <a:off x="640080" y="1920240"/>
            <a:ext cx="2194560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500"/>
              </a:spcAft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성인</a:t>
            </a:r>
            <a:endParaRPr lang="ko-KR" sz="1100"/>
          </a:p>
          <a:p>
            <a:pPr marL="0" indent="0" algn="ctr">
              <a:spcAft>
                <a:spcPts val="500"/>
              </a:spcAft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감염이 조절된 2도 화상</a:t>
            </a:r>
            <a:endParaRPr lang="ko-KR" sz="1100"/>
          </a:p>
          <a:p>
            <a:pPr marL="0" indent="0" algn="ctr">
              <a:spcAft>
                <a:spcPts val="500"/>
              </a:spcAft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3도 · 활동성 감염 제외</a:t>
            </a:r>
            <a:endParaRPr lang="ko-KR" sz="1100"/>
          </a:p>
        </p:txBody>
      </p:sp>
      <p:sp>
        <p:nvSpPr>
          <p:cNvPr id="10" name="Pico 1"/>
          <p:cNvSpPr/>
          <p:nvPr/>
        </p:nvSpPr>
        <p:spPr>
          <a:xfrm>
            <a:off x="3072384" y="1371600"/>
            <a:ext cx="265176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11" name="Pico h 1"/>
          <p:cNvSpPr txBox="1"/>
          <p:nvPr/>
        </p:nvSpPr>
        <p:spPr>
          <a:xfrm>
            <a:off x="3072384" y="1371600"/>
            <a:ext cx="2651760" cy="438912"/>
          </a:xfrm>
          <a:prstGeom prst="round2SameRect">
            <a:avLst>
              <a:gd name="adj" fmla="val 16000"/>
            </a:avLst>
          </a:prstGeom>
          <a:solidFill>
            <a:srgbClr val="1C3E6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비교</a:t>
            </a:r>
            <a:endParaRPr lang="ko-KR" sz="1300"/>
          </a:p>
        </p:txBody>
      </p:sp>
      <p:sp>
        <p:nvSpPr>
          <p:cNvPr id="12" name="Pico l 1"/>
          <p:cNvSpPr txBox="1"/>
          <p:nvPr/>
        </p:nvSpPr>
        <p:spPr>
          <a:xfrm>
            <a:off x="3209544" y="1920240"/>
            <a:ext cx="2377440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500"/>
              </a:spcAft>
              <a:buNone/>
            </a:pPr>
            <a:r>
              <a:rPr lang="ko-KR" sz="12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KheAl</a:t>
            </a:r>
            <a:endParaRPr lang="ko-KR" sz="1100"/>
          </a:p>
          <a:p>
            <a:pPr marL="0" indent="0" algn="ctr">
              <a:spcAft>
                <a:spcPts val="500"/>
              </a:spcAft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vs</a:t>
            </a:r>
            <a:endParaRPr lang="ko-KR" sz="1100"/>
          </a:p>
          <a:p>
            <a:pPr marL="0" indent="0" algn="ctr">
              <a:spcAft>
                <a:spcPts val="500"/>
              </a:spcAft>
              <a:buNone/>
            </a:pPr>
            <a:r>
              <a:rPr lang="ko-KR" sz="12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기존 습윤 드레싱 또는 병원 표준처치</a:t>
            </a:r>
            <a:endParaRPr lang="ko-KR" sz="1100"/>
          </a:p>
        </p:txBody>
      </p:sp>
      <p:sp>
        <p:nvSpPr>
          <p:cNvPr id="13" name="Pico 2"/>
          <p:cNvSpPr/>
          <p:nvPr/>
        </p:nvSpPr>
        <p:spPr>
          <a:xfrm>
            <a:off x="5824728" y="1371600"/>
            <a:ext cx="228600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14" name="Pico h 2"/>
          <p:cNvSpPr txBox="1"/>
          <p:nvPr/>
        </p:nvSpPr>
        <p:spPr>
          <a:xfrm>
            <a:off x="5824728" y="1371600"/>
            <a:ext cx="2286000" cy="438912"/>
          </a:xfrm>
          <a:prstGeom prst="round2SameRect">
            <a:avLst>
              <a:gd name="adj" fmla="val 16000"/>
            </a:avLst>
          </a:prstGeom>
          <a:solidFill>
            <a:srgbClr val="7F5AA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규모</a:t>
            </a:r>
            <a:endParaRPr lang="ko-KR" sz="1300"/>
          </a:p>
        </p:txBody>
      </p:sp>
      <p:sp>
        <p:nvSpPr>
          <p:cNvPr id="15" name="Big60"/>
          <p:cNvSpPr txBox="1"/>
          <p:nvPr/>
        </p:nvSpPr>
        <p:spPr>
          <a:xfrm>
            <a:off x="5824728" y="187452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30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60명</a:t>
            </a:r>
            <a:endParaRPr lang="ko-KR" sz="3000"/>
          </a:p>
        </p:txBody>
      </p:sp>
      <p:sp>
        <p:nvSpPr>
          <p:cNvPr id="16" name="Pico l 2"/>
          <p:cNvSpPr txBox="1"/>
          <p:nvPr/>
        </p:nvSpPr>
        <p:spPr>
          <a:xfrm>
            <a:off x="5961888" y="260604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ko-KR" sz="11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2개 병원</a:t>
            </a:r>
            <a:endParaRPr lang="ko-KR" sz="1150"/>
          </a:p>
          <a:p>
            <a:pPr marL="0" indent="0" algn="ctr">
              <a:spcAft>
                <a:spcPts val="200"/>
              </a:spcAft>
              <a:buNone/>
            </a:pPr>
            <a:r>
              <a:rPr lang="ko-KR" sz="11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무작위 배정</a:t>
            </a:r>
            <a:endParaRPr lang="ko-KR" sz="1150"/>
          </a:p>
        </p:txBody>
      </p:sp>
      <p:sp>
        <p:nvSpPr>
          <p:cNvPr id="17" name="Pico 3"/>
          <p:cNvSpPr/>
          <p:nvPr/>
        </p:nvSpPr>
        <p:spPr>
          <a:xfrm>
            <a:off x="8211312" y="1371600"/>
            <a:ext cx="3410712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18" name="Pico h 3"/>
          <p:cNvSpPr txBox="1"/>
          <p:nvPr/>
        </p:nvSpPr>
        <p:spPr>
          <a:xfrm>
            <a:off x="8211312" y="1371600"/>
            <a:ext cx="3410712" cy="438912"/>
          </a:xfrm>
          <a:prstGeom prst="round2SameRect">
            <a:avLst>
              <a:gd name="adj" fmla="val 16000"/>
            </a:avLst>
          </a:prstGeom>
          <a:solidFill>
            <a:srgbClr val="D98B2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평가</a:t>
            </a:r>
            <a:endParaRPr lang="ko-KR" sz="1300"/>
          </a:p>
        </p:txBody>
      </p:sp>
      <p:sp>
        <p:nvSpPr>
          <p:cNvPr id="19" name="Pico l 3"/>
          <p:cNvSpPr txBox="1"/>
          <p:nvPr/>
        </p:nvSpPr>
        <p:spPr>
          <a:xfrm>
            <a:off x="8348472" y="1920240"/>
            <a:ext cx="3136392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ko-KR" sz="11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1차  상처가 완전히 덮이는 시간</a:t>
            </a:r>
            <a:endParaRPr lang="ko-KR" sz="110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1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2차  통증 · 교체 횟수 · 처치 시간</a:t>
            </a:r>
            <a:endParaRPr lang="ko-KR" sz="110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1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안전성 · 환자당 총 처치비</a:t>
            </a:r>
            <a:endParaRPr lang="ko-KR" sz="1100"/>
          </a:p>
        </p:txBody>
      </p:sp>
      <p:sp>
        <p:nvSpPr>
          <p:cNvPr id="20" name="Timeline card"/>
          <p:cNvSpPr/>
          <p:nvPr/>
        </p:nvSpPr>
        <p:spPr>
          <a:xfrm>
            <a:off x="502920" y="3675888"/>
            <a:ext cx="11183112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21" name="TL title"/>
          <p:cNvSpPr txBox="1"/>
          <p:nvPr/>
        </p:nvSpPr>
        <p:spPr>
          <a:xfrm>
            <a:off x="685800" y="3749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방문 일정 (1인당 5회)</a:t>
            </a:r>
            <a:endParaRPr lang="ko-KR" sz="1150"/>
          </a:p>
        </p:txBody>
      </p:sp>
      <p:sp>
        <p:nvSpPr>
          <p:cNvPr id="22" name="TL line"/>
          <p:cNvSpPr/>
          <p:nvPr/>
        </p:nvSpPr>
        <p:spPr>
          <a:xfrm>
            <a:off x="1188720" y="4206240"/>
            <a:ext cx="9966960" cy="45720"/>
          </a:xfrm>
          <a:prstGeom prst="rect">
            <a:avLst/>
          </a:prstGeom>
          <a:solidFill>
            <a:srgbClr val="D9DEDC"/>
          </a:solidFill>
          <a:ln>
            <a:noFill/>
          </a:ln>
        </p:spPr>
      </p:sp>
      <p:sp>
        <p:nvSpPr>
          <p:cNvPr id="23" name="TL dot 0"/>
          <p:cNvSpPr/>
          <p:nvPr/>
        </p:nvSpPr>
        <p:spPr>
          <a:xfrm>
            <a:off x="1069848" y="4105656"/>
            <a:ext cx="237744" cy="237744"/>
          </a:xfrm>
          <a:prstGeom prst="ellipse">
            <a:avLst/>
          </a:prstGeom>
          <a:solidFill>
            <a:srgbClr val="1D6B52"/>
          </a:solidFill>
          <a:ln>
            <a:noFill/>
          </a:ln>
        </p:spPr>
      </p:sp>
      <p:sp>
        <p:nvSpPr>
          <p:cNvPr id="24" name="TL lab 0"/>
          <p:cNvSpPr txBox="1"/>
          <p:nvPr/>
        </p:nvSpPr>
        <p:spPr>
          <a:xfrm>
            <a:off x="365760" y="4370832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선별</a:t>
            </a:r>
            <a:endParaRPr lang="ko-KR" sz="1100"/>
          </a:p>
        </p:txBody>
      </p:sp>
      <p:sp>
        <p:nvSpPr>
          <p:cNvPr id="25" name="TL dot 1"/>
          <p:cNvSpPr/>
          <p:nvPr/>
        </p:nvSpPr>
        <p:spPr>
          <a:xfrm>
            <a:off x="3561588" y="4105656"/>
            <a:ext cx="237744" cy="237744"/>
          </a:xfrm>
          <a:prstGeom prst="ellipse">
            <a:avLst/>
          </a:prstGeom>
          <a:solidFill>
            <a:srgbClr val="1D6B52"/>
          </a:solidFill>
          <a:ln>
            <a:noFill/>
          </a:ln>
        </p:spPr>
      </p:sp>
      <p:sp>
        <p:nvSpPr>
          <p:cNvPr id="26" name="TL lab 1"/>
          <p:cNvSpPr txBox="1"/>
          <p:nvPr/>
        </p:nvSpPr>
        <p:spPr>
          <a:xfrm>
            <a:off x="2857500" y="4370832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Day 1</a:t>
            </a:r>
            <a:endParaRPr lang="ko-KR" sz="1100"/>
          </a:p>
          <a:p>
            <a:pPr marL="0" indent="0" algn="ctr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첫 적용</a:t>
            </a:r>
            <a:endParaRPr lang="ko-KR" sz="1100"/>
          </a:p>
        </p:txBody>
      </p:sp>
      <p:sp>
        <p:nvSpPr>
          <p:cNvPr id="27" name="TL dot 2"/>
          <p:cNvSpPr/>
          <p:nvPr/>
        </p:nvSpPr>
        <p:spPr>
          <a:xfrm>
            <a:off x="6053328" y="4105656"/>
            <a:ext cx="237744" cy="237744"/>
          </a:xfrm>
          <a:prstGeom prst="ellipse">
            <a:avLst/>
          </a:prstGeom>
          <a:solidFill>
            <a:srgbClr val="1D6B52"/>
          </a:solidFill>
          <a:ln>
            <a:noFill/>
          </a:ln>
        </p:spPr>
      </p:sp>
      <p:sp>
        <p:nvSpPr>
          <p:cNvPr id="28" name="TL lab 2"/>
          <p:cNvSpPr txBox="1"/>
          <p:nvPr/>
        </p:nvSpPr>
        <p:spPr>
          <a:xfrm>
            <a:off x="5349240" y="4370832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Day 7</a:t>
            </a:r>
            <a:endParaRPr lang="ko-KR" sz="1100"/>
          </a:p>
        </p:txBody>
      </p:sp>
      <p:sp>
        <p:nvSpPr>
          <p:cNvPr id="29" name="TL dot 3"/>
          <p:cNvSpPr/>
          <p:nvPr/>
        </p:nvSpPr>
        <p:spPr>
          <a:xfrm>
            <a:off x="8545068" y="4105656"/>
            <a:ext cx="237744" cy="237744"/>
          </a:xfrm>
          <a:prstGeom prst="ellipse">
            <a:avLst/>
          </a:prstGeom>
          <a:solidFill>
            <a:srgbClr val="1D6B52"/>
          </a:solidFill>
          <a:ln>
            <a:noFill/>
          </a:ln>
        </p:spPr>
      </p:sp>
      <p:sp>
        <p:nvSpPr>
          <p:cNvPr id="30" name="TL lab 3"/>
          <p:cNvSpPr txBox="1"/>
          <p:nvPr/>
        </p:nvSpPr>
        <p:spPr>
          <a:xfrm>
            <a:off x="7840980" y="4370832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Day 14</a:t>
            </a:r>
            <a:endParaRPr lang="ko-KR" sz="1100"/>
          </a:p>
        </p:txBody>
      </p:sp>
      <p:sp>
        <p:nvSpPr>
          <p:cNvPr id="31" name="TL dot 4"/>
          <p:cNvSpPr/>
          <p:nvPr/>
        </p:nvSpPr>
        <p:spPr>
          <a:xfrm>
            <a:off x="11036808" y="4105656"/>
            <a:ext cx="237744" cy="237744"/>
          </a:xfrm>
          <a:prstGeom prst="ellipse">
            <a:avLst/>
          </a:prstGeom>
          <a:solidFill>
            <a:srgbClr val="1D6B52"/>
          </a:solidFill>
          <a:ln>
            <a:noFill/>
          </a:ln>
        </p:spPr>
      </p:sp>
      <p:sp>
        <p:nvSpPr>
          <p:cNvPr id="32" name="TL lab 4"/>
          <p:cNvSpPr txBox="1"/>
          <p:nvPr/>
        </p:nvSpPr>
        <p:spPr>
          <a:xfrm>
            <a:off x="10332720" y="4370832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Day 21</a:t>
            </a:r>
            <a:endParaRPr lang="ko-KR" sz="1100"/>
          </a:p>
          <a:p>
            <a:pPr marL="0" indent="0" algn="ctr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또는 완치</a:t>
            </a:r>
            <a:endParaRPr lang="ko-KR" sz="1100"/>
          </a:p>
        </p:txBody>
      </p:sp>
      <p:sp>
        <p:nvSpPr>
          <p:cNvPr id="33" name="TL note"/>
          <p:cNvSpPr txBox="1"/>
          <p:nvPr/>
        </p:nvSpPr>
        <p:spPr>
          <a:xfrm>
            <a:off x="6949440" y="3749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ko-KR" sz="10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장기 흉터 추적을 넣으면 비용·기간 별도 증가</a:t>
            </a:r>
            <a:endParaRPr lang="ko-KR" sz="1000"/>
          </a:p>
        </p:txBody>
      </p:sp>
      <p:sp>
        <p:nvSpPr>
          <p:cNvPr id="34" name="Lesson"/>
          <p:cNvSpPr txBox="1"/>
          <p:nvPr/>
        </p:nvSpPr>
        <p:spPr>
          <a:xfrm>
            <a:off x="502920" y="4983480"/>
            <a:ext cx="11183112" cy="640080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교훈 — KeraStat 화상 시험은 30명 계획 중 14명만 모집돼 조기 종료 → 계약 전 병원별 모집 가능성 조사 필수</a:t>
            </a:r>
            <a:endParaRPr lang="ko-KR" sz="1200"/>
          </a:p>
        </p:txBody>
      </p:sp>
      <p:sp>
        <p:nvSpPr>
          <p:cNvPr id="35" name="Key box"/>
          <p:cNvSpPr/>
          <p:nvPr/>
        </p:nvSpPr>
        <p:spPr>
          <a:xfrm>
            <a:off x="502920" y="5779008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E6F1ED"/>
          </a:solidFill>
          <a:ln>
            <a:noFill/>
          </a:ln>
        </p:spPr>
      </p:sp>
      <p:sp>
        <p:nvSpPr>
          <p:cNvPr id="36" name="Key label"/>
          <p:cNvSpPr txBox="1"/>
          <p:nvPr/>
        </p:nvSpPr>
        <p:spPr>
          <a:xfrm>
            <a:off x="640080" y="5870448"/>
            <a:ext cx="685800" cy="274320"/>
          </a:xfrm>
          <a:prstGeom prst="round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핵심</a:t>
            </a:r>
            <a:endParaRPr lang="ko-KR" sz="1000"/>
          </a:p>
        </p:txBody>
      </p:sp>
      <p:sp>
        <p:nvSpPr>
          <p:cNvPr id="37" name="Key text"/>
          <p:cNvSpPr txBox="1"/>
          <p:nvPr/>
        </p:nvSpPr>
        <p:spPr>
          <a:xfrm>
            <a:off x="1463040" y="57790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작게 좁혀 확실하게: 적응증을 성인 2도 화상으로 한정해 모집·평가 변동을 줄인다</a:t>
            </a:r>
            <a:endParaRPr lang="ko-KR" sz="1250"/>
          </a:p>
        </p:txBody>
      </p:sp>
      <p:sp>
        <p:nvSpPr>
          <p:cNvPr id="38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ClinicalTrials.gov NCT03564795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KeraStat Burn Protocol</a:t>
            </a:r>
            <a:endParaRPr lang="ko-KR" sz="7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국내 임상 예산 5억원 — 조건이 지켜지면 완료 가능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계획 모델: 성인 60명 · 2기관 · 1인 5회 방문 · 12개월 (병원·CRO 확정 견적 전)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24</a:t>
            </a:r>
            <a:endParaRPr lang="ko-KR" sz="750"/>
          </a:p>
        </p:txBody>
      </p:sp>
      <p:sp>
        <p:nvSpPr>
          <p:cNvPr id="7" name="Total lbl"/>
          <p:cNvSpPr txBox="1"/>
          <p:nvPr/>
        </p:nvSpPr>
        <p:spPr>
          <a:xfrm>
            <a:off x="502920" y="13716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총 임상예산</a:t>
            </a:r>
            <a:endParaRPr lang="ko-KR" sz="1100"/>
          </a:p>
        </p:txBody>
      </p:sp>
      <p:sp>
        <p:nvSpPr>
          <p:cNvPr id="8" name="Total"/>
          <p:cNvSpPr txBox="1"/>
          <p:nvPr/>
        </p:nvSpPr>
        <p:spPr>
          <a:xfrm>
            <a:off x="502920" y="1627632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34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5.00억</a:t>
            </a:r>
            <a:endParaRPr lang="ko-KR" sz="3400"/>
          </a:p>
        </p:txBody>
      </p:sp>
      <p:sp>
        <p:nvSpPr>
          <p:cNvPr id="9" name="Stack 0"/>
          <p:cNvSpPr/>
          <p:nvPr/>
        </p:nvSpPr>
        <p:spPr>
          <a:xfrm>
            <a:off x="2788920" y="1536192"/>
            <a:ext cx="7117690" cy="566928"/>
          </a:xfrm>
          <a:prstGeom prst="rect">
            <a:avLst/>
          </a:prstGeom>
          <a:solidFill>
            <a:srgbClr val="1D6B52"/>
          </a:solidFill>
          <a:ln>
            <a:noFill/>
          </a:ln>
        </p:spPr>
      </p:sp>
      <p:sp>
        <p:nvSpPr>
          <p:cNvPr id="10" name="Stack lab 0"/>
          <p:cNvSpPr txBox="1"/>
          <p:nvPr/>
        </p:nvSpPr>
        <p:spPr>
          <a:xfrm>
            <a:off x="2788920" y="1536192"/>
            <a:ext cx="711769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수행비 4.00억</a:t>
            </a:r>
            <a:endParaRPr lang="ko-KR" sz="1300"/>
          </a:p>
        </p:txBody>
      </p:sp>
      <p:sp>
        <p:nvSpPr>
          <p:cNvPr id="11" name="Stack 1"/>
          <p:cNvSpPr/>
          <p:nvPr/>
        </p:nvSpPr>
        <p:spPr>
          <a:xfrm>
            <a:off x="9906610" y="1536192"/>
            <a:ext cx="427061" cy="566928"/>
          </a:xfrm>
          <a:prstGeom prst="rect">
            <a:avLst/>
          </a:prstGeom>
          <a:solidFill>
            <a:srgbClr val="1C3E68"/>
          </a:solidFill>
          <a:ln>
            <a:noFill/>
          </a:ln>
        </p:spPr>
      </p:sp>
      <p:sp>
        <p:nvSpPr>
          <p:cNvPr id="12" name="Stack 2"/>
          <p:cNvSpPr/>
          <p:nvPr/>
        </p:nvSpPr>
        <p:spPr>
          <a:xfrm>
            <a:off x="10333671" y="1536192"/>
            <a:ext cx="373679" cy="566928"/>
          </a:xfrm>
          <a:prstGeom prst="rect">
            <a:avLst/>
          </a:prstGeom>
          <a:solidFill>
            <a:srgbClr val="D98B2B"/>
          </a:solidFill>
          <a:ln>
            <a:noFill/>
          </a:ln>
        </p:spPr>
      </p:sp>
      <p:sp>
        <p:nvSpPr>
          <p:cNvPr id="13" name="Stack 3"/>
          <p:cNvSpPr/>
          <p:nvPr/>
        </p:nvSpPr>
        <p:spPr>
          <a:xfrm>
            <a:off x="10707350" y="1536192"/>
            <a:ext cx="978682" cy="566928"/>
          </a:xfrm>
          <a:prstGeom prst="rect">
            <a:avLst/>
          </a:prstGeom>
          <a:solidFill>
            <a:srgbClr val="7F5AA2"/>
          </a:solidFill>
          <a:ln>
            <a:noFill/>
          </a:ln>
        </p:spPr>
      </p:sp>
      <p:sp>
        <p:nvSpPr>
          <p:cNvPr id="14" name="Leg sw 0"/>
          <p:cNvSpPr/>
          <p:nvPr/>
        </p:nvSpPr>
        <p:spPr>
          <a:xfrm>
            <a:off x="6949440" y="2212848"/>
            <a:ext cx="146304" cy="146304"/>
          </a:xfrm>
          <a:prstGeom prst="rect">
            <a:avLst/>
          </a:prstGeom>
          <a:solidFill>
            <a:srgbClr val="1C3E68"/>
          </a:solidFill>
          <a:ln>
            <a:noFill/>
          </a:ln>
        </p:spPr>
      </p:sp>
      <p:sp>
        <p:nvSpPr>
          <p:cNvPr id="15" name="Leg 0"/>
          <p:cNvSpPr txBox="1"/>
          <p:nvPr/>
        </p:nvSpPr>
        <p:spPr>
          <a:xfrm>
            <a:off x="7132320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간접비 0.24억</a:t>
            </a:r>
            <a:endParaRPr lang="ko-KR" sz="950"/>
          </a:p>
        </p:txBody>
      </p:sp>
      <p:sp>
        <p:nvSpPr>
          <p:cNvPr id="16" name="Leg sw 1"/>
          <p:cNvSpPr/>
          <p:nvPr/>
        </p:nvSpPr>
        <p:spPr>
          <a:xfrm>
            <a:off x="8549640" y="2212848"/>
            <a:ext cx="146304" cy="146304"/>
          </a:xfrm>
          <a:prstGeom prst="rect">
            <a:avLst/>
          </a:prstGeom>
          <a:solidFill>
            <a:srgbClr val="D98B2B"/>
          </a:solidFill>
          <a:ln>
            <a:noFill/>
          </a:ln>
        </p:spPr>
      </p:sp>
      <p:sp>
        <p:nvSpPr>
          <p:cNvPr id="17" name="Leg 1"/>
          <p:cNvSpPr txBox="1"/>
          <p:nvPr/>
        </p:nvSpPr>
        <p:spPr>
          <a:xfrm>
            <a:off x="8732520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계약·VAT 완충 0.21억</a:t>
            </a:r>
            <a:endParaRPr lang="ko-KR" sz="950"/>
          </a:p>
        </p:txBody>
      </p:sp>
      <p:sp>
        <p:nvSpPr>
          <p:cNvPr id="18" name="Leg sw 2"/>
          <p:cNvSpPr/>
          <p:nvPr/>
        </p:nvSpPr>
        <p:spPr>
          <a:xfrm>
            <a:off x="10149840" y="2212848"/>
            <a:ext cx="146304" cy="146304"/>
          </a:xfrm>
          <a:prstGeom prst="rect">
            <a:avLst/>
          </a:prstGeom>
          <a:solidFill>
            <a:srgbClr val="7F5AA2"/>
          </a:solidFill>
          <a:ln>
            <a:noFill/>
          </a:ln>
        </p:spPr>
      </p:sp>
      <p:sp>
        <p:nvSpPr>
          <p:cNvPr id="19" name="Leg 2"/>
          <p:cNvSpPr txBox="1"/>
          <p:nvPr/>
        </p:nvSpPr>
        <p:spPr>
          <a:xfrm>
            <a:off x="10332720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예비비 0.55억</a:t>
            </a:r>
            <a:endParaRPr lang="ko-KR" sz="950"/>
          </a:p>
        </p:txBody>
      </p:sp>
      <p:sp>
        <p:nvSpPr>
          <p:cNvPr id="20" name="Steps card"/>
          <p:cNvSpPr/>
          <p:nvPr/>
        </p:nvSpPr>
        <p:spPr>
          <a:xfrm>
            <a:off x="502920" y="2560320"/>
            <a:ext cx="6766560" cy="3090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21" name="Steps title"/>
          <p:cNvSpPr txBox="1"/>
          <p:nvPr/>
        </p:nvSpPr>
        <p:spPr>
          <a:xfrm>
            <a:off x="685800" y="26334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수행비 8단계 (백만원)</a:t>
            </a:r>
            <a:endParaRPr lang="ko-KR" sz="1150"/>
          </a:p>
        </p:txBody>
      </p:sp>
      <p:sp>
        <p:nvSpPr>
          <p:cNvPr id="22" name="St n 0"/>
          <p:cNvSpPr txBox="1"/>
          <p:nvPr/>
        </p:nvSpPr>
        <p:spPr>
          <a:xfrm>
            <a:off x="685800" y="29718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1  설계·통계</a:t>
            </a:r>
            <a:endParaRPr lang="ko-KR" sz="1050"/>
          </a:p>
        </p:txBody>
      </p:sp>
      <p:sp>
        <p:nvSpPr>
          <p:cNvPr id="23" name="St bar 0"/>
          <p:cNvSpPr/>
          <p:nvPr/>
        </p:nvSpPr>
        <p:spPr>
          <a:xfrm>
            <a:off x="2697480" y="3026664"/>
            <a:ext cx="604684" cy="182880"/>
          </a:xfrm>
          <a:prstGeom prst="rect">
            <a:avLst/>
          </a:prstGeom>
          <a:solidFill>
            <a:srgbClr val="7FB3A0"/>
          </a:solidFill>
          <a:ln>
            <a:noFill/>
          </a:ln>
        </p:spPr>
      </p:sp>
      <p:sp>
        <p:nvSpPr>
          <p:cNvPr id="24" name="St v 0"/>
          <p:cNvSpPr txBox="1"/>
          <p:nvPr/>
        </p:nvSpPr>
        <p:spPr>
          <a:xfrm>
            <a:off x="3375316" y="2971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25</a:t>
            </a:r>
            <a:endParaRPr lang="ko-KR" sz="1050"/>
          </a:p>
        </p:txBody>
      </p:sp>
      <p:sp>
        <p:nvSpPr>
          <p:cNvPr id="25" name="St n 1"/>
          <p:cNvSpPr txBox="1"/>
          <p:nvPr/>
        </p:nvSpPr>
        <p:spPr>
          <a:xfrm>
            <a:off x="685800" y="32918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2  병원 선정·예산</a:t>
            </a:r>
            <a:endParaRPr lang="ko-KR" sz="1050"/>
          </a:p>
        </p:txBody>
      </p:sp>
      <p:sp>
        <p:nvSpPr>
          <p:cNvPr id="26" name="St bar 1"/>
          <p:cNvSpPr/>
          <p:nvPr/>
        </p:nvSpPr>
        <p:spPr>
          <a:xfrm>
            <a:off x="2697480" y="3346704"/>
            <a:ext cx="193499" cy="182880"/>
          </a:xfrm>
          <a:prstGeom prst="rect">
            <a:avLst/>
          </a:prstGeom>
          <a:solidFill>
            <a:srgbClr val="7FB3A0"/>
          </a:solidFill>
          <a:ln>
            <a:noFill/>
          </a:ln>
        </p:spPr>
      </p:sp>
      <p:sp>
        <p:nvSpPr>
          <p:cNvPr id="27" name="St v 1"/>
          <p:cNvSpPr txBox="1"/>
          <p:nvPr/>
        </p:nvSpPr>
        <p:spPr>
          <a:xfrm>
            <a:off x="2964131" y="32918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8</a:t>
            </a:r>
            <a:endParaRPr lang="ko-KR" sz="1050"/>
          </a:p>
        </p:txBody>
      </p:sp>
      <p:sp>
        <p:nvSpPr>
          <p:cNvPr id="28" name="St n 2"/>
          <p:cNvSpPr txBox="1"/>
          <p:nvPr/>
        </p:nvSpPr>
        <p:spPr>
          <a:xfrm>
            <a:off x="685800" y="36118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3  식약처·IRB·계약</a:t>
            </a:r>
            <a:endParaRPr lang="ko-KR" sz="1050"/>
          </a:p>
        </p:txBody>
      </p:sp>
      <p:sp>
        <p:nvSpPr>
          <p:cNvPr id="29" name="St bar 2"/>
          <p:cNvSpPr/>
          <p:nvPr/>
        </p:nvSpPr>
        <p:spPr>
          <a:xfrm>
            <a:off x="2697480" y="3666744"/>
            <a:ext cx="290248" cy="182880"/>
          </a:xfrm>
          <a:prstGeom prst="rect">
            <a:avLst/>
          </a:prstGeom>
          <a:solidFill>
            <a:srgbClr val="7FB3A0"/>
          </a:solidFill>
          <a:ln>
            <a:noFill/>
          </a:ln>
        </p:spPr>
      </p:sp>
      <p:sp>
        <p:nvSpPr>
          <p:cNvPr id="30" name="St v 2"/>
          <p:cNvSpPr txBox="1"/>
          <p:nvPr/>
        </p:nvSpPr>
        <p:spPr>
          <a:xfrm>
            <a:off x="3060880" y="36118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12</a:t>
            </a:r>
            <a:endParaRPr lang="ko-KR" sz="1050"/>
          </a:p>
        </p:txBody>
      </p:sp>
      <p:sp>
        <p:nvSpPr>
          <p:cNvPr id="31" name="St n 3"/>
          <p:cNvSpPr txBox="1"/>
          <p:nvPr/>
        </p:nvSpPr>
        <p:spPr>
          <a:xfrm>
            <a:off x="685800" y="393192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4  시험 개시</a:t>
            </a:r>
            <a:endParaRPr lang="ko-KR" sz="1050"/>
          </a:p>
        </p:txBody>
      </p:sp>
      <p:sp>
        <p:nvSpPr>
          <p:cNvPr id="32" name="St bar 3"/>
          <p:cNvSpPr/>
          <p:nvPr/>
        </p:nvSpPr>
        <p:spPr>
          <a:xfrm>
            <a:off x="2697480" y="3986784"/>
            <a:ext cx="483747" cy="182880"/>
          </a:xfrm>
          <a:prstGeom prst="rect">
            <a:avLst/>
          </a:prstGeom>
          <a:solidFill>
            <a:srgbClr val="7FB3A0"/>
          </a:solidFill>
          <a:ln>
            <a:noFill/>
          </a:ln>
        </p:spPr>
      </p:sp>
      <p:sp>
        <p:nvSpPr>
          <p:cNvPr id="33" name="St v 3"/>
          <p:cNvSpPr txBox="1"/>
          <p:nvPr/>
        </p:nvSpPr>
        <p:spPr>
          <a:xfrm>
            <a:off x="3254379" y="39319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20</a:t>
            </a:r>
            <a:endParaRPr lang="ko-KR" sz="1050"/>
          </a:p>
        </p:txBody>
      </p:sp>
      <p:sp>
        <p:nvSpPr>
          <p:cNvPr id="34" name="St n 4"/>
          <p:cNvSpPr txBox="1"/>
          <p:nvPr/>
        </p:nvSpPr>
        <p:spPr>
          <a:xfrm>
            <a:off x="685800" y="42519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5  선별·등록 (60명)</a:t>
            </a:r>
            <a:endParaRPr lang="ko-KR" sz="1050"/>
          </a:p>
        </p:txBody>
      </p:sp>
      <p:sp>
        <p:nvSpPr>
          <p:cNvPr id="35" name="St bar 4"/>
          <p:cNvSpPr/>
          <p:nvPr/>
        </p:nvSpPr>
        <p:spPr>
          <a:xfrm>
            <a:off x="2697480" y="4306824"/>
            <a:ext cx="1088431" cy="182880"/>
          </a:xfrm>
          <a:prstGeom prst="rect">
            <a:avLst/>
          </a:prstGeom>
          <a:solidFill>
            <a:srgbClr val="7FB3A0"/>
          </a:solidFill>
          <a:ln>
            <a:noFill/>
          </a:ln>
        </p:spPr>
      </p:sp>
      <p:sp>
        <p:nvSpPr>
          <p:cNvPr id="36" name="St v 4"/>
          <p:cNvSpPr txBox="1"/>
          <p:nvPr/>
        </p:nvSpPr>
        <p:spPr>
          <a:xfrm>
            <a:off x="3859063" y="42519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45</a:t>
            </a:r>
            <a:endParaRPr lang="ko-KR" sz="1050"/>
          </a:p>
        </p:txBody>
      </p:sp>
      <p:sp>
        <p:nvSpPr>
          <p:cNvPr id="37" name="St n 5"/>
          <p:cNvSpPr txBox="1"/>
          <p:nvPr/>
        </p:nvSpPr>
        <p:spPr>
          <a:xfrm>
            <a:off x="685800" y="45720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6  치료·추적 (300회 방문)</a:t>
            </a:r>
            <a:endParaRPr lang="ko-KR" sz="1050"/>
          </a:p>
        </p:txBody>
      </p:sp>
      <p:sp>
        <p:nvSpPr>
          <p:cNvPr id="38" name="St bar 5"/>
          <p:cNvSpPr/>
          <p:nvPr/>
        </p:nvSpPr>
        <p:spPr>
          <a:xfrm>
            <a:off x="2697480" y="4626864"/>
            <a:ext cx="3749040" cy="182880"/>
          </a:xfrm>
          <a:prstGeom prst="rect">
            <a:avLst/>
          </a:prstGeom>
          <a:solidFill>
            <a:srgbClr val="1D6B52"/>
          </a:solidFill>
          <a:ln>
            <a:noFill/>
          </a:ln>
        </p:spPr>
      </p:sp>
      <p:sp>
        <p:nvSpPr>
          <p:cNvPr id="39" name="St v 5"/>
          <p:cNvSpPr txBox="1"/>
          <p:nvPr/>
        </p:nvSpPr>
        <p:spPr>
          <a:xfrm>
            <a:off x="6519672" y="45720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155</a:t>
            </a:r>
            <a:endParaRPr lang="ko-KR" sz="1050"/>
          </a:p>
        </p:txBody>
      </p:sp>
      <p:sp>
        <p:nvSpPr>
          <p:cNvPr id="40" name="St n 6"/>
          <p:cNvSpPr txBox="1"/>
          <p:nvPr/>
        </p:nvSpPr>
        <p:spPr>
          <a:xfrm>
            <a:off x="685800" y="48920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7  모니터링·안전성</a:t>
            </a:r>
            <a:endParaRPr lang="ko-KR" sz="1050"/>
          </a:p>
        </p:txBody>
      </p:sp>
      <p:sp>
        <p:nvSpPr>
          <p:cNvPr id="41" name="St bar 6"/>
          <p:cNvSpPr/>
          <p:nvPr/>
        </p:nvSpPr>
        <p:spPr>
          <a:xfrm>
            <a:off x="2697480" y="4946904"/>
            <a:ext cx="1934988" cy="182880"/>
          </a:xfrm>
          <a:prstGeom prst="rect">
            <a:avLst/>
          </a:prstGeom>
          <a:solidFill>
            <a:srgbClr val="7FB3A0"/>
          </a:solidFill>
          <a:ln>
            <a:noFill/>
          </a:ln>
        </p:spPr>
      </p:sp>
      <p:sp>
        <p:nvSpPr>
          <p:cNvPr id="42" name="St v 6"/>
          <p:cNvSpPr txBox="1"/>
          <p:nvPr/>
        </p:nvSpPr>
        <p:spPr>
          <a:xfrm>
            <a:off x="4705620" y="48920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80</a:t>
            </a:r>
            <a:endParaRPr lang="ko-KR" sz="1050"/>
          </a:p>
        </p:txBody>
      </p:sp>
      <p:sp>
        <p:nvSpPr>
          <p:cNvPr id="43" name="St n 7"/>
          <p:cNvSpPr txBox="1"/>
          <p:nvPr/>
        </p:nvSpPr>
        <p:spPr>
          <a:xfrm>
            <a:off x="685800" y="52120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8  분석·보고·종료</a:t>
            </a:r>
            <a:endParaRPr lang="ko-KR" sz="1050"/>
          </a:p>
        </p:txBody>
      </p:sp>
      <p:sp>
        <p:nvSpPr>
          <p:cNvPr id="44" name="St bar 7"/>
          <p:cNvSpPr/>
          <p:nvPr/>
        </p:nvSpPr>
        <p:spPr>
          <a:xfrm>
            <a:off x="2697480" y="5266944"/>
            <a:ext cx="1330305" cy="182880"/>
          </a:xfrm>
          <a:prstGeom prst="rect">
            <a:avLst/>
          </a:prstGeom>
          <a:solidFill>
            <a:srgbClr val="7FB3A0"/>
          </a:solidFill>
          <a:ln>
            <a:noFill/>
          </a:ln>
        </p:spPr>
      </p:sp>
      <p:sp>
        <p:nvSpPr>
          <p:cNvPr id="45" name="St v 7"/>
          <p:cNvSpPr txBox="1"/>
          <p:nvPr/>
        </p:nvSpPr>
        <p:spPr>
          <a:xfrm>
            <a:off x="4100937" y="5212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55</a:t>
            </a:r>
            <a:endParaRPr lang="ko-KR" sz="1050"/>
          </a:p>
        </p:txBody>
      </p:sp>
      <p:sp>
        <p:nvSpPr>
          <p:cNvPr id="46" name="Cond card"/>
          <p:cNvSpPr/>
          <p:nvPr/>
        </p:nvSpPr>
        <p:spPr>
          <a:xfrm>
            <a:off x="7434072" y="2560320"/>
            <a:ext cx="4251960" cy="1481328"/>
          </a:xfrm>
          <a:prstGeom prst="roundRect">
            <a:avLst>
              <a:gd name="adj" fmla="val 4000"/>
            </a:avLst>
          </a:prstGeom>
          <a:solidFill>
            <a:srgbClr val="E6F1ED"/>
          </a:solidFill>
          <a:ln>
            <a:noFill/>
          </a:ln>
        </p:spPr>
      </p:sp>
      <p:sp>
        <p:nvSpPr>
          <p:cNvPr id="47" name="Cond"/>
          <p:cNvSpPr txBox="1"/>
          <p:nvPr/>
        </p:nvSpPr>
        <p:spPr>
          <a:xfrm>
            <a:off x="7589520" y="2633472"/>
            <a:ext cx="402336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✓ 이 조건이면 완료 가능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임상용 제품 · 비임상 · GMP 준비 완료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60명 · 2기관 · 5회 방문 유지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장기 흉터 추적 제외 · 큰 변경 없음</a:t>
            </a:r>
            <a:endParaRPr lang="ko-KR" sz="1050"/>
          </a:p>
        </p:txBody>
      </p:sp>
      <p:sp>
        <p:nvSpPr>
          <p:cNvPr id="48" name="Risk card"/>
          <p:cNvSpPr/>
          <p:nvPr/>
        </p:nvSpPr>
        <p:spPr>
          <a:xfrm>
            <a:off x="7434072" y="4169664"/>
            <a:ext cx="4251960" cy="1481328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>
            <a:noFill/>
          </a:ln>
        </p:spPr>
      </p:sp>
      <p:sp>
        <p:nvSpPr>
          <p:cNvPr id="49" name="Risk"/>
          <p:cNvSpPr txBox="1"/>
          <p:nvPr/>
        </p:nvSpPr>
        <p:spPr>
          <a:xfrm>
            <a:off x="7589520" y="4242816"/>
            <a:ext cx="402336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115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! 이러면 예산 초과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모집 지연 · 선별 탈락 증가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6~12개월 흉터 추적 추가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비교 제품·드레싱·사진판독 증가 · 중대한 이상사례</a:t>
            </a:r>
            <a:endParaRPr lang="ko-KR" sz="1050"/>
          </a:p>
        </p:txBody>
      </p:sp>
      <p:sp>
        <p:nvSpPr>
          <p:cNvPr id="50" name="Key box"/>
          <p:cNvSpPr/>
          <p:nvPr/>
        </p:nvSpPr>
        <p:spPr>
          <a:xfrm>
            <a:off x="502920" y="5779008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E6F1ED"/>
          </a:solidFill>
          <a:ln>
            <a:noFill/>
          </a:ln>
        </p:spPr>
      </p:sp>
      <p:sp>
        <p:nvSpPr>
          <p:cNvPr id="51" name="Key label"/>
          <p:cNvSpPr txBox="1"/>
          <p:nvPr/>
        </p:nvSpPr>
        <p:spPr>
          <a:xfrm>
            <a:off x="640080" y="5870448"/>
            <a:ext cx="685800" cy="274320"/>
          </a:xfrm>
          <a:prstGeom prst="round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핵심</a:t>
            </a:r>
            <a:endParaRPr lang="ko-KR" sz="1000"/>
          </a:p>
        </p:txBody>
      </p:sp>
      <p:sp>
        <p:nvSpPr>
          <p:cNvPr id="52" name="Key text"/>
          <p:cNvSpPr txBox="1"/>
          <p:nvPr/>
        </p:nvSpPr>
        <p:spPr>
          <a:xfrm>
            <a:off x="1463040" y="57790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가장 큰 비용은 ‘치료·추적 1.55억’ → 모집 속도와 방문 횟수가 예산을 좌우한다</a:t>
            </a:r>
            <a:endParaRPr lang="ko-KR" sz="1250"/>
          </a:p>
        </p:txBody>
      </p:sp>
      <p:sp>
        <p:nvSpPr>
          <p:cNvPr id="53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한강성심병원 IRB 심의비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한강성심병원 연구비·간접비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3"/>
              </a:rPr>
              <a:t>서울대병원 HRPP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4"/>
              </a:rPr>
              <a:t>세브란스 IRB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5"/>
              </a:rPr>
              <a:t>C&amp;R Research 공시</a:t>
            </a:r>
            <a:endParaRPr lang="ko-KR" sz="75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국가별 임상비용 — 조건이 달라 순위 비교는 불가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멕시코는 실제 견적(40명·1기관), 한국·미국은 계획 모델(60명·2기관) — 예산 계획 참고용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25</a:t>
            </a:r>
            <a:endParaRPr lang="ko-KR" sz="750"/>
          </a:p>
        </p:txBody>
      </p:sp>
      <p:sp>
        <p:nvSpPr>
          <p:cNvPr id="7" name="Chart card"/>
          <p:cNvSpPr/>
          <p:nvPr/>
        </p:nvSpPr>
        <p:spPr>
          <a:xfrm>
            <a:off x="502920" y="1371600"/>
            <a:ext cx="6675120" cy="4279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8" name="C val 0"/>
          <p:cNvSpPr txBox="1"/>
          <p:nvPr/>
        </p:nvSpPr>
        <p:spPr>
          <a:xfrm>
            <a:off x="594360" y="304323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0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2.31억</a:t>
            </a:r>
            <a:endParaRPr lang="ko-KR" sz="2000"/>
          </a:p>
        </p:txBody>
      </p:sp>
      <p:sp>
        <p:nvSpPr>
          <p:cNvPr id="9" name="C bar 0"/>
          <p:cNvSpPr/>
          <p:nvPr/>
        </p:nvSpPr>
        <p:spPr>
          <a:xfrm>
            <a:off x="1097280" y="3500438"/>
            <a:ext cx="914400" cy="660082"/>
          </a:xfrm>
          <a:prstGeom prst="rect">
            <a:avLst/>
          </a:prstGeom>
          <a:solidFill>
            <a:srgbClr val="1D6B52"/>
          </a:solidFill>
          <a:ln>
            <a:noFill/>
          </a:ln>
        </p:spPr>
      </p:sp>
      <p:sp>
        <p:nvSpPr>
          <p:cNvPr id="10" name="C nm 0"/>
          <p:cNvSpPr txBox="1"/>
          <p:nvPr/>
        </p:nvSpPr>
        <p:spPr>
          <a:xfrm>
            <a:off x="594360" y="42062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멕시코</a:t>
            </a:r>
            <a:endParaRPr lang="ko-KR" sz="1300"/>
          </a:p>
        </p:txBody>
      </p:sp>
      <p:sp>
        <p:nvSpPr>
          <p:cNvPr id="11" name="C kind 0"/>
          <p:cNvSpPr txBox="1"/>
          <p:nvPr/>
        </p:nvSpPr>
        <p:spPr>
          <a:xfrm>
            <a:off x="960120" y="4526280"/>
            <a:ext cx="1188720" cy="274320"/>
          </a:xfrm>
          <a:prstGeom prst="round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실제 견적</a:t>
            </a:r>
            <a:endParaRPr lang="ko-KR" sz="950"/>
          </a:p>
        </p:txBody>
      </p:sp>
      <p:sp>
        <p:nvSpPr>
          <p:cNvPr id="12" name="C cond 0"/>
          <p:cNvSpPr txBox="1"/>
          <p:nvPr/>
        </p:nvSpPr>
        <p:spPr>
          <a:xfrm>
            <a:off x="548640" y="4846320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40명 · 1기관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등록비 제외 · VAT·위원회비·출장비 별도</a:t>
            </a:r>
            <a:endParaRPr lang="ko-KR" sz="1100"/>
          </a:p>
        </p:txBody>
      </p:sp>
      <p:sp>
        <p:nvSpPr>
          <p:cNvPr id="13" name="C val 1"/>
          <p:cNvSpPr txBox="1"/>
          <p:nvPr/>
        </p:nvSpPr>
        <p:spPr>
          <a:xfrm>
            <a:off x="2743200" y="227457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0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5.00억</a:t>
            </a:r>
            <a:endParaRPr lang="ko-KR" sz="2000"/>
          </a:p>
        </p:txBody>
      </p:sp>
      <p:sp>
        <p:nvSpPr>
          <p:cNvPr id="14" name="C bar 1"/>
          <p:cNvSpPr/>
          <p:nvPr/>
        </p:nvSpPr>
        <p:spPr>
          <a:xfrm>
            <a:off x="3246120" y="2731770"/>
            <a:ext cx="914400" cy="1428750"/>
          </a:xfrm>
          <a:prstGeom prst="rect">
            <a:avLst/>
          </a:prstGeom>
          <a:solidFill>
            <a:srgbClr val="1C3E68"/>
          </a:solidFill>
          <a:ln>
            <a:noFill/>
          </a:ln>
        </p:spPr>
      </p:sp>
      <p:sp>
        <p:nvSpPr>
          <p:cNvPr id="15" name="C nm 1"/>
          <p:cNvSpPr txBox="1"/>
          <p:nvPr/>
        </p:nvSpPr>
        <p:spPr>
          <a:xfrm>
            <a:off x="2743200" y="42062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한국</a:t>
            </a:r>
            <a:endParaRPr lang="ko-KR" sz="1300"/>
          </a:p>
        </p:txBody>
      </p:sp>
      <p:sp>
        <p:nvSpPr>
          <p:cNvPr id="16" name="C kind 1"/>
          <p:cNvSpPr txBox="1"/>
          <p:nvPr/>
        </p:nvSpPr>
        <p:spPr>
          <a:xfrm>
            <a:off x="3108960" y="4526280"/>
            <a:ext cx="1188720" cy="274320"/>
          </a:xfrm>
          <a:prstGeom prst="roundRect">
            <a:avLst>
              <a:gd name="adj" fmla="val 16000"/>
            </a:avLst>
          </a:prstGeom>
          <a:solidFill>
            <a:srgbClr val="6F777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계획 모델</a:t>
            </a:r>
            <a:endParaRPr lang="ko-KR" sz="950"/>
          </a:p>
        </p:txBody>
      </p:sp>
      <p:sp>
        <p:nvSpPr>
          <p:cNvPr id="17" name="C cond 1"/>
          <p:cNvSpPr txBox="1"/>
          <p:nvPr/>
        </p:nvSpPr>
        <p:spPr>
          <a:xfrm>
            <a:off x="2697480" y="4846320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60명 · 2기관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IRB·간접비 포함</a:t>
            </a:r>
            <a:endParaRPr lang="ko-KR" sz="1100"/>
          </a:p>
        </p:txBody>
      </p:sp>
      <p:sp>
        <p:nvSpPr>
          <p:cNvPr id="18" name="C val 2"/>
          <p:cNvSpPr txBox="1"/>
          <p:nvPr/>
        </p:nvSpPr>
        <p:spPr>
          <a:xfrm>
            <a:off x="4892040" y="16002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0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7.36억</a:t>
            </a:r>
            <a:endParaRPr lang="ko-KR" sz="2000"/>
          </a:p>
        </p:txBody>
      </p:sp>
      <p:sp>
        <p:nvSpPr>
          <p:cNvPr id="19" name="C bar 2"/>
          <p:cNvSpPr/>
          <p:nvPr/>
        </p:nvSpPr>
        <p:spPr>
          <a:xfrm>
            <a:off x="5394960" y="2057400"/>
            <a:ext cx="914400" cy="2103120"/>
          </a:xfrm>
          <a:prstGeom prst="rect">
            <a:avLst/>
          </a:prstGeom>
          <a:solidFill>
            <a:srgbClr val="7F5AA2"/>
          </a:solidFill>
          <a:ln>
            <a:noFill/>
          </a:ln>
        </p:spPr>
      </p:sp>
      <p:sp>
        <p:nvSpPr>
          <p:cNvPr id="20" name="C nm 2"/>
          <p:cNvSpPr txBox="1"/>
          <p:nvPr/>
        </p:nvSpPr>
        <p:spPr>
          <a:xfrm>
            <a:off x="4892040" y="42062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미국</a:t>
            </a:r>
            <a:endParaRPr lang="ko-KR" sz="1300"/>
          </a:p>
        </p:txBody>
      </p:sp>
      <p:sp>
        <p:nvSpPr>
          <p:cNvPr id="21" name="C kind 2"/>
          <p:cNvSpPr txBox="1"/>
          <p:nvPr/>
        </p:nvSpPr>
        <p:spPr>
          <a:xfrm>
            <a:off x="5257800" y="4526280"/>
            <a:ext cx="1188720" cy="274320"/>
          </a:xfrm>
          <a:prstGeom prst="roundRect">
            <a:avLst>
              <a:gd name="adj" fmla="val 16000"/>
            </a:avLst>
          </a:prstGeom>
          <a:solidFill>
            <a:srgbClr val="6F777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계획 모델</a:t>
            </a:r>
            <a:endParaRPr lang="ko-KR" sz="950"/>
          </a:p>
        </p:txBody>
      </p:sp>
      <p:sp>
        <p:nvSpPr>
          <p:cNvPr id="22" name="C cond 2"/>
          <p:cNvSpPr txBox="1"/>
          <p:nvPr/>
        </p:nvSpPr>
        <p:spPr>
          <a:xfrm>
            <a:off x="4846320" y="4846320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60명 · 2기관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예비비 15% 포함 · FDA 비용 제외</a:t>
            </a:r>
            <a:endParaRPr lang="ko-KR" sz="1100"/>
          </a:p>
        </p:txBody>
      </p:sp>
      <p:sp>
        <p:nvSpPr>
          <p:cNvPr id="23" name="Baseline"/>
          <p:cNvSpPr/>
          <p:nvPr/>
        </p:nvSpPr>
        <p:spPr>
          <a:xfrm>
            <a:off x="777240" y="4160520"/>
            <a:ext cx="6126480" cy="27432"/>
          </a:xfrm>
          <a:prstGeom prst="rect">
            <a:avLst/>
          </a:prstGeom>
          <a:solidFill>
            <a:srgbClr val="D9DEDC"/>
          </a:solidFill>
          <a:ln>
            <a:noFill/>
          </a:ln>
        </p:spPr>
      </p:sp>
      <p:sp>
        <p:nvSpPr>
          <p:cNvPr id="24" name="Detail card"/>
          <p:cNvSpPr/>
          <p:nvPr/>
        </p:nvSpPr>
        <p:spPr>
          <a:xfrm>
            <a:off x="7342632" y="1371600"/>
            <a:ext cx="4343400" cy="4279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25" name="D title"/>
          <p:cNvSpPr txBox="1"/>
          <p:nvPr/>
        </p:nvSpPr>
        <p:spPr>
          <a:xfrm>
            <a:off x="7543800" y="146304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견적 · 모델 구성</a:t>
            </a:r>
            <a:endParaRPr lang="ko-KR" sz="1200"/>
          </a:p>
        </p:txBody>
      </p:sp>
      <p:sp>
        <p:nvSpPr>
          <p:cNvPr id="26" name="D mex"/>
          <p:cNvSpPr txBox="1"/>
          <p:nvPr/>
        </p:nvSpPr>
        <p:spPr>
          <a:xfrm>
            <a:off x="7543800" y="1828800"/>
            <a:ext cx="397764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11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멕시코 CORVIA 견적  $165.3k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기관 연구비 1.03억 · 규제·PM 0.73억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DB·보고·종료 0.28억 · 모니터링 0.27억</a:t>
            </a:r>
            <a:endParaRPr lang="ko-KR" sz="1050"/>
          </a:p>
        </p:txBody>
      </p:sp>
      <p:sp>
        <p:nvSpPr>
          <p:cNvPr id="27" name="D us"/>
          <p:cNvSpPr txBox="1"/>
          <p:nvPr/>
        </p:nvSpPr>
        <p:spPr>
          <a:xfrm>
            <a:off x="7543800" y="2788920"/>
            <a:ext cx="397764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11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미국 공개단가 모델  $525.9k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대상자 방문·처치 2.87억 (최대 항목)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기관 간접비 0.81억 · 모니터링 0.79억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그 외 5개 항목 1.94억 + 예비비 15% 0.96억</a:t>
            </a:r>
            <a:endParaRPr lang="ko-KR" sz="1050"/>
          </a:p>
        </p:txBody>
      </p:sp>
      <p:sp>
        <p:nvSpPr>
          <p:cNvPr id="28" name="D kr"/>
          <p:cNvSpPr txBox="1"/>
          <p:nvPr/>
        </p:nvSpPr>
        <p:spPr>
          <a:xfrm>
            <a:off x="7543800" y="4069080"/>
            <a:ext cx="39776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11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한국 계획 모델  5.00억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상세 구성은 24쪽</a:t>
            </a:r>
            <a:endParaRPr lang="ko-KR" sz="1050"/>
          </a:p>
        </p:txBody>
      </p:sp>
      <p:sp>
        <p:nvSpPr>
          <p:cNvPr id="29" name="Key box"/>
          <p:cNvSpPr/>
          <p:nvPr/>
        </p:nvSpPr>
        <p:spPr>
          <a:xfrm>
            <a:off x="502920" y="5779008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E6F1ED"/>
          </a:solidFill>
          <a:ln>
            <a:noFill/>
          </a:ln>
        </p:spPr>
      </p:sp>
      <p:sp>
        <p:nvSpPr>
          <p:cNvPr id="30" name="Key label"/>
          <p:cNvSpPr txBox="1"/>
          <p:nvPr/>
        </p:nvSpPr>
        <p:spPr>
          <a:xfrm>
            <a:off x="640080" y="5870448"/>
            <a:ext cx="685800" cy="274320"/>
          </a:xfrm>
          <a:prstGeom prst="round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핵심</a:t>
            </a:r>
            <a:endParaRPr lang="ko-KR" sz="1000"/>
          </a:p>
        </p:txBody>
      </p:sp>
      <p:sp>
        <p:nvSpPr>
          <p:cNvPr id="31" name="Key text"/>
          <p:cNvSpPr txBox="1"/>
          <p:nvPr/>
        </p:nvSpPr>
        <p:spPr>
          <a:xfrm>
            <a:off x="1463040" y="57790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같은 조건(인원·기관·포함 범위)의 비교 견적을 받아야 국가 선택을 판단할 수 있다</a:t>
            </a:r>
            <a:endParaRPr lang="ko-KR" sz="1250"/>
          </a:p>
        </p:txBody>
      </p:sp>
      <p:sp>
        <p:nvSpPr>
          <p:cNvPr id="32" name="FX"/>
          <p:cNvSpPr txBox="1"/>
          <p:nvPr/>
        </p:nvSpPr>
        <p:spPr>
          <a:xfrm>
            <a:off x="685800" y="537667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환율 1달러 = 1,400원 계획값</a:t>
            </a:r>
            <a:endParaRPr lang="ko-KR" sz="900"/>
          </a:p>
        </p:txBody>
      </p:sp>
      <p:sp>
        <p:nvSpPr>
          <p:cNvPr id="33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CORVIA COR-COT-25-013 (회사 제공견적)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Colorado Anschutz 연구지원 단가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3"/>
              </a:rPr>
              <a:t>UVA Clinical Research Fees</a:t>
            </a:r>
            <a:endParaRPr lang="ko-KR" sz="75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임상비 지원사업 — 2026년 공고는 모두 마감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2027년 공고는 미발표 → 재원에 넣지 않고, 공고 즉시 낼 수 있게 서류를 미리 준비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26</a:t>
            </a:r>
            <a:endParaRPr lang="ko-KR" sz="750"/>
          </a:p>
        </p:txBody>
      </p:sp>
      <p:sp>
        <p:nvSpPr>
          <p:cNvPr id="7" name="Gantt card"/>
          <p:cNvSpPr/>
          <p:nvPr/>
        </p:nvSpPr>
        <p:spPr>
          <a:xfrm>
            <a:off x="502920" y="1371600"/>
            <a:ext cx="11183112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8" name="M 0"/>
          <p:cNvSpPr txBox="1"/>
          <p:nvPr/>
        </p:nvSpPr>
        <p:spPr>
          <a:xfrm>
            <a:off x="3749040" y="14630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1월</a:t>
            </a:r>
            <a:endParaRPr lang="ko-KR" sz="950"/>
          </a:p>
        </p:txBody>
      </p:sp>
      <p:sp>
        <p:nvSpPr>
          <p:cNvPr id="9" name="M bg 0"/>
          <p:cNvSpPr/>
          <p:nvPr/>
        </p:nvSpPr>
        <p:spPr>
          <a:xfrm>
            <a:off x="3749040" y="1737360"/>
            <a:ext cx="457200" cy="2286000"/>
          </a:xfrm>
          <a:prstGeom prst="rect">
            <a:avLst/>
          </a:prstGeom>
          <a:solidFill>
            <a:srgbClr val="F4F6F5"/>
          </a:solidFill>
          <a:ln>
            <a:noFill/>
          </a:ln>
        </p:spPr>
      </p:sp>
      <p:sp>
        <p:nvSpPr>
          <p:cNvPr id="10" name="M 1"/>
          <p:cNvSpPr txBox="1"/>
          <p:nvPr/>
        </p:nvSpPr>
        <p:spPr>
          <a:xfrm>
            <a:off x="4206240" y="14630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2월</a:t>
            </a:r>
            <a:endParaRPr lang="ko-KR" sz="950"/>
          </a:p>
        </p:txBody>
      </p:sp>
      <p:sp>
        <p:nvSpPr>
          <p:cNvPr id="11" name="M 2"/>
          <p:cNvSpPr txBox="1"/>
          <p:nvPr/>
        </p:nvSpPr>
        <p:spPr>
          <a:xfrm>
            <a:off x="4663440" y="14630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3월</a:t>
            </a:r>
            <a:endParaRPr lang="ko-KR" sz="950"/>
          </a:p>
        </p:txBody>
      </p:sp>
      <p:sp>
        <p:nvSpPr>
          <p:cNvPr id="12" name="M bg 2"/>
          <p:cNvSpPr/>
          <p:nvPr/>
        </p:nvSpPr>
        <p:spPr>
          <a:xfrm>
            <a:off x="4663440" y="1737360"/>
            <a:ext cx="457200" cy="2286000"/>
          </a:xfrm>
          <a:prstGeom prst="rect">
            <a:avLst/>
          </a:prstGeom>
          <a:solidFill>
            <a:srgbClr val="F4F6F5"/>
          </a:solidFill>
          <a:ln>
            <a:noFill/>
          </a:ln>
        </p:spPr>
      </p:sp>
      <p:sp>
        <p:nvSpPr>
          <p:cNvPr id="13" name="M 3"/>
          <p:cNvSpPr txBox="1"/>
          <p:nvPr/>
        </p:nvSpPr>
        <p:spPr>
          <a:xfrm>
            <a:off x="5120640" y="14630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4월</a:t>
            </a:r>
            <a:endParaRPr lang="ko-KR" sz="950"/>
          </a:p>
        </p:txBody>
      </p:sp>
      <p:sp>
        <p:nvSpPr>
          <p:cNvPr id="14" name="M 4"/>
          <p:cNvSpPr txBox="1"/>
          <p:nvPr/>
        </p:nvSpPr>
        <p:spPr>
          <a:xfrm>
            <a:off x="5577840" y="14630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5월</a:t>
            </a:r>
            <a:endParaRPr lang="ko-KR" sz="950"/>
          </a:p>
        </p:txBody>
      </p:sp>
      <p:sp>
        <p:nvSpPr>
          <p:cNvPr id="15" name="M bg 4"/>
          <p:cNvSpPr/>
          <p:nvPr/>
        </p:nvSpPr>
        <p:spPr>
          <a:xfrm>
            <a:off x="5577840" y="1737360"/>
            <a:ext cx="457200" cy="2286000"/>
          </a:xfrm>
          <a:prstGeom prst="rect">
            <a:avLst/>
          </a:prstGeom>
          <a:solidFill>
            <a:srgbClr val="F4F6F5"/>
          </a:solidFill>
          <a:ln>
            <a:noFill/>
          </a:ln>
        </p:spPr>
      </p:sp>
      <p:sp>
        <p:nvSpPr>
          <p:cNvPr id="16" name="M 5"/>
          <p:cNvSpPr txBox="1"/>
          <p:nvPr/>
        </p:nvSpPr>
        <p:spPr>
          <a:xfrm>
            <a:off x="6035040" y="14630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6월</a:t>
            </a:r>
            <a:endParaRPr lang="ko-KR" sz="950"/>
          </a:p>
        </p:txBody>
      </p:sp>
      <p:sp>
        <p:nvSpPr>
          <p:cNvPr id="17" name="M 6"/>
          <p:cNvSpPr txBox="1"/>
          <p:nvPr/>
        </p:nvSpPr>
        <p:spPr>
          <a:xfrm>
            <a:off x="6492240" y="14630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7월</a:t>
            </a:r>
            <a:endParaRPr lang="ko-KR" sz="950"/>
          </a:p>
        </p:txBody>
      </p:sp>
      <p:sp>
        <p:nvSpPr>
          <p:cNvPr id="18" name="M bg 6"/>
          <p:cNvSpPr/>
          <p:nvPr/>
        </p:nvSpPr>
        <p:spPr>
          <a:xfrm>
            <a:off x="6492240" y="1737360"/>
            <a:ext cx="457200" cy="2286000"/>
          </a:xfrm>
          <a:prstGeom prst="rect">
            <a:avLst/>
          </a:prstGeom>
          <a:solidFill>
            <a:srgbClr val="F4F6F5"/>
          </a:solidFill>
          <a:ln>
            <a:noFill/>
          </a:ln>
        </p:spPr>
      </p:sp>
      <p:sp>
        <p:nvSpPr>
          <p:cNvPr id="19" name="M 7"/>
          <p:cNvSpPr txBox="1"/>
          <p:nvPr/>
        </p:nvSpPr>
        <p:spPr>
          <a:xfrm>
            <a:off x="6949440" y="14630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8월</a:t>
            </a:r>
            <a:endParaRPr lang="ko-KR" sz="950"/>
          </a:p>
        </p:txBody>
      </p:sp>
      <p:sp>
        <p:nvSpPr>
          <p:cNvPr id="20" name="M 8"/>
          <p:cNvSpPr txBox="1"/>
          <p:nvPr/>
        </p:nvSpPr>
        <p:spPr>
          <a:xfrm>
            <a:off x="7406640" y="14630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9월</a:t>
            </a:r>
            <a:endParaRPr lang="ko-KR" sz="950"/>
          </a:p>
        </p:txBody>
      </p:sp>
      <p:sp>
        <p:nvSpPr>
          <p:cNvPr id="21" name="M bg 8"/>
          <p:cNvSpPr/>
          <p:nvPr/>
        </p:nvSpPr>
        <p:spPr>
          <a:xfrm>
            <a:off x="7406640" y="1737360"/>
            <a:ext cx="457200" cy="2286000"/>
          </a:xfrm>
          <a:prstGeom prst="rect">
            <a:avLst/>
          </a:prstGeom>
          <a:solidFill>
            <a:srgbClr val="F4F6F5"/>
          </a:solidFill>
          <a:ln>
            <a:noFill/>
          </a:ln>
        </p:spPr>
      </p:sp>
      <p:sp>
        <p:nvSpPr>
          <p:cNvPr id="22" name="M 9"/>
          <p:cNvSpPr txBox="1"/>
          <p:nvPr/>
        </p:nvSpPr>
        <p:spPr>
          <a:xfrm>
            <a:off x="7863840" y="14630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10월</a:t>
            </a:r>
            <a:endParaRPr lang="ko-KR" sz="950"/>
          </a:p>
        </p:txBody>
      </p:sp>
      <p:sp>
        <p:nvSpPr>
          <p:cNvPr id="23" name="M 10"/>
          <p:cNvSpPr txBox="1"/>
          <p:nvPr/>
        </p:nvSpPr>
        <p:spPr>
          <a:xfrm>
            <a:off x="8321040" y="14630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11월</a:t>
            </a:r>
            <a:endParaRPr lang="ko-KR" sz="950"/>
          </a:p>
        </p:txBody>
      </p:sp>
      <p:sp>
        <p:nvSpPr>
          <p:cNvPr id="24" name="M bg 10"/>
          <p:cNvSpPr/>
          <p:nvPr/>
        </p:nvSpPr>
        <p:spPr>
          <a:xfrm>
            <a:off x="8321040" y="1737360"/>
            <a:ext cx="457200" cy="2286000"/>
          </a:xfrm>
          <a:prstGeom prst="rect">
            <a:avLst/>
          </a:prstGeom>
          <a:solidFill>
            <a:srgbClr val="F4F6F5"/>
          </a:solidFill>
          <a:ln>
            <a:noFill/>
          </a:ln>
        </p:spPr>
      </p:sp>
      <p:sp>
        <p:nvSpPr>
          <p:cNvPr id="25" name="M 11"/>
          <p:cNvSpPr txBox="1"/>
          <p:nvPr/>
        </p:nvSpPr>
        <p:spPr>
          <a:xfrm>
            <a:off x="8778240" y="14630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12월</a:t>
            </a:r>
            <a:endParaRPr lang="ko-KR" sz="950"/>
          </a:p>
        </p:txBody>
      </p:sp>
      <p:sp>
        <p:nvSpPr>
          <p:cNvPr id="26" name="G nm 0"/>
          <p:cNvSpPr txBox="1"/>
          <p:nvPr/>
        </p:nvSpPr>
        <p:spPr>
          <a:xfrm>
            <a:off x="685800" y="182880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범부처 첨단 의료기기 R&amp;D 1차</a:t>
            </a:r>
            <a:endParaRPr lang="ko-KR" sz="1100"/>
          </a:p>
          <a:p>
            <a:pPr marL="0" indent="0" algn="l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KMDF</a:t>
            </a:r>
            <a:endParaRPr lang="ko-KR" sz="1100"/>
          </a:p>
        </p:txBody>
      </p:sp>
      <p:sp>
        <p:nvSpPr>
          <p:cNvPr id="27" name="G bar 0"/>
          <p:cNvSpPr/>
          <p:nvPr/>
        </p:nvSpPr>
        <p:spPr>
          <a:xfrm>
            <a:off x="4476063" y="1965960"/>
            <a:ext cx="307298" cy="292608"/>
          </a:xfrm>
          <a:prstGeom prst="roundRect">
            <a:avLst>
              <a:gd name="adj" fmla="val 30000"/>
            </a:avLst>
          </a:prstGeom>
          <a:solidFill>
            <a:srgbClr val="6F7775"/>
          </a:solidFill>
          <a:ln>
            <a:noFill/>
          </a:ln>
        </p:spPr>
      </p:sp>
      <p:sp>
        <p:nvSpPr>
          <p:cNvPr id="28" name="G dt 0"/>
          <p:cNvSpPr txBox="1"/>
          <p:nvPr/>
        </p:nvSpPr>
        <p:spPr>
          <a:xfrm>
            <a:off x="4838225" y="192024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~3.9 종료</a:t>
            </a:r>
            <a:endParaRPr lang="ko-KR" sz="950"/>
          </a:p>
        </p:txBody>
      </p:sp>
      <p:sp>
        <p:nvSpPr>
          <p:cNvPr id="29" name="G desc 0"/>
          <p:cNvSpPr txBox="1"/>
          <p:nvPr/>
        </p:nvSpPr>
        <p:spPr>
          <a:xfrm>
            <a:off x="9326880" y="1828800"/>
            <a:ext cx="230428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허가용 국내·국외 임상 포함 · RFP별</a:t>
            </a:r>
            <a:endParaRPr lang="ko-KR" sz="900"/>
          </a:p>
        </p:txBody>
      </p:sp>
      <p:sp>
        <p:nvSpPr>
          <p:cNvPr id="30" name="G nm 1"/>
          <p:cNvSpPr txBox="1"/>
          <p:nvPr/>
        </p:nvSpPr>
        <p:spPr>
          <a:xfrm>
            <a:off x="685800" y="254203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범부처 첨단 의료기기 R&amp;D 2차</a:t>
            </a:r>
            <a:endParaRPr lang="ko-KR" sz="1100"/>
          </a:p>
          <a:p>
            <a:pPr marL="0" indent="0" algn="l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KMDF</a:t>
            </a:r>
            <a:endParaRPr lang="ko-KR" sz="1100"/>
          </a:p>
        </p:txBody>
      </p:sp>
      <p:sp>
        <p:nvSpPr>
          <p:cNvPr id="31" name="G bar 1"/>
          <p:cNvSpPr/>
          <p:nvPr/>
        </p:nvSpPr>
        <p:spPr>
          <a:xfrm>
            <a:off x="6154961" y="2679192"/>
            <a:ext cx="299803" cy="292608"/>
          </a:xfrm>
          <a:prstGeom prst="roundRect">
            <a:avLst>
              <a:gd name="adj" fmla="val 30000"/>
            </a:avLst>
          </a:prstGeom>
          <a:solidFill>
            <a:srgbClr val="6F7775"/>
          </a:solidFill>
          <a:ln>
            <a:noFill/>
          </a:ln>
        </p:spPr>
      </p:sp>
      <p:sp>
        <p:nvSpPr>
          <p:cNvPr id="32" name="G dt 1"/>
          <p:cNvSpPr txBox="1"/>
          <p:nvPr/>
        </p:nvSpPr>
        <p:spPr>
          <a:xfrm>
            <a:off x="6509629" y="2633472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~6.29 종료</a:t>
            </a:r>
            <a:endParaRPr lang="ko-KR" sz="950"/>
          </a:p>
        </p:txBody>
      </p:sp>
      <p:sp>
        <p:nvSpPr>
          <p:cNvPr id="33" name="G desc 1"/>
          <p:cNvSpPr txBox="1"/>
          <p:nvPr/>
        </p:nvSpPr>
        <p:spPr>
          <a:xfrm>
            <a:off x="9326880" y="2542032"/>
            <a:ext cx="230428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국내 임상 직접 연결 · 과제 2026-3-1</a:t>
            </a:r>
            <a:endParaRPr lang="ko-KR" sz="900"/>
          </a:p>
        </p:txBody>
      </p:sp>
      <p:sp>
        <p:nvSpPr>
          <p:cNvPr id="34" name="G nm 2"/>
          <p:cNvSpPr txBox="1"/>
          <p:nvPr/>
        </p:nvSpPr>
        <p:spPr>
          <a:xfrm>
            <a:off x="685800" y="3255264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국산의료기기 사용자 임상평가</a:t>
            </a:r>
            <a:endParaRPr lang="ko-KR" sz="1100"/>
          </a:p>
          <a:p>
            <a:pPr marL="0" indent="0" algn="l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KHIDI</a:t>
            </a:r>
            <a:endParaRPr lang="ko-KR" sz="1100"/>
          </a:p>
        </p:txBody>
      </p:sp>
      <p:sp>
        <p:nvSpPr>
          <p:cNvPr id="35" name="G bar 2"/>
          <p:cNvSpPr/>
          <p:nvPr/>
        </p:nvSpPr>
        <p:spPr>
          <a:xfrm>
            <a:off x="3749040" y="3392424"/>
            <a:ext cx="532151" cy="292608"/>
          </a:xfrm>
          <a:prstGeom prst="roundRect">
            <a:avLst>
              <a:gd name="adj" fmla="val 30000"/>
            </a:avLst>
          </a:prstGeom>
          <a:solidFill>
            <a:srgbClr val="AEB6B3"/>
          </a:solidFill>
          <a:ln>
            <a:noFill/>
          </a:ln>
        </p:spPr>
      </p:sp>
      <p:sp>
        <p:nvSpPr>
          <p:cNvPr id="36" name="G dt 2"/>
          <p:cNvSpPr txBox="1"/>
          <p:nvPr/>
        </p:nvSpPr>
        <p:spPr>
          <a:xfrm>
            <a:off x="4336055" y="3346704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~2.6 종료</a:t>
            </a:r>
            <a:endParaRPr lang="ko-KR" sz="950"/>
          </a:p>
        </p:txBody>
      </p:sp>
      <p:sp>
        <p:nvSpPr>
          <p:cNvPr id="37" name="G desc 2"/>
          <p:cNvSpPr txBox="1"/>
          <p:nvPr/>
        </p:nvSpPr>
        <p:spPr>
          <a:xfrm>
            <a:off x="9326880" y="3255264"/>
            <a:ext cx="230428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단일 0.75/1.2억 · 다기관 1/2억 (허가 후)</a:t>
            </a:r>
            <a:endParaRPr lang="ko-KR" sz="900"/>
          </a:p>
        </p:txBody>
      </p:sp>
      <p:sp>
        <p:nvSpPr>
          <p:cNvPr id="38" name="Today"/>
          <p:cNvSpPr/>
          <p:nvPr/>
        </p:nvSpPr>
        <p:spPr>
          <a:xfrm>
            <a:off x="8238594" y="1737360"/>
            <a:ext cx="27432" cy="2286000"/>
          </a:xfrm>
          <a:prstGeom prst="rect">
            <a:avLst/>
          </a:prstGeom>
          <a:solidFill>
            <a:srgbClr val="1D6B52"/>
          </a:solidFill>
          <a:ln>
            <a:noFill/>
          </a:ln>
        </p:spPr>
      </p:sp>
      <p:sp>
        <p:nvSpPr>
          <p:cNvPr id="39" name="Today lbl"/>
          <p:cNvSpPr txBox="1"/>
          <p:nvPr/>
        </p:nvSpPr>
        <p:spPr>
          <a:xfrm>
            <a:off x="7781394" y="3767328"/>
            <a:ext cx="914400" cy="256032"/>
          </a:xfrm>
          <a:prstGeom prst="round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오늘 10.26</a:t>
            </a:r>
            <a:endParaRPr lang="ko-KR" sz="900"/>
          </a:p>
        </p:txBody>
      </p:sp>
      <p:sp>
        <p:nvSpPr>
          <p:cNvPr id="40" name="G 2027"/>
          <p:cNvSpPr txBox="1"/>
          <p:nvPr/>
        </p:nvSpPr>
        <p:spPr>
          <a:xfrm>
            <a:off x="685800" y="37490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D98B2B"/>
                </a:solidFill>
                <a:latin typeface="NanumSquare"/>
                <a:ea typeface="NanumSquare"/>
                <a:cs typeface="NanumSquare"/>
              </a:rPr>
              <a:t>2027년: 공고 미발표 → 재원 미반영</a:t>
            </a:r>
            <a:endParaRPr lang="ko-KR" sz="1050"/>
          </a:p>
        </p:txBody>
      </p:sp>
      <p:sp>
        <p:nvSpPr>
          <p:cNvPr id="41" name="Prep title"/>
          <p:cNvSpPr txBox="1"/>
          <p:nvPr/>
        </p:nvSpPr>
        <p:spPr>
          <a:xfrm>
            <a:off x="502920" y="42976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2027 공고 전에 준비할 6가지</a:t>
            </a:r>
            <a:endParaRPr lang="ko-KR" sz="1200"/>
          </a:p>
        </p:txBody>
      </p:sp>
      <p:sp>
        <p:nvSpPr>
          <p:cNvPr id="42" name="P num 0"/>
          <p:cNvSpPr txBox="1"/>
          <p:nvPr/>
        </p:nvSpPr>
        <p:spPr>
          <a:xfrm>
            <a:off x="502920" y="4690872"/>
            <a:ext cx="347472" cy="347472"/>
          </a:xfrm>
          <a:prstGeom prst="ellipse">
            <a:avLst/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88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ko-KR" sz="988"/>
          </a:p>
        </p:txBody>
      </p:sp>
      <p:sp>
        <p:nvSpPr>
          <p:cNvPr id="43" name="P 0"/>
          <p:cNvSpPr txBox="1"/>
          <p:nvPr/>
        </p:nvSpPr>
        <p:spPr>
          <a:xfrm>
            <a:off x="941832" y="4645152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식약처 임상계획 승인 (또는 일정)</a:t>
            </a:r>
            <a:endParaRPr lang="ko-KR" sz="1150"/>
          </a:p>
        </p:txBody>
      </p:sp>
      <p:sp>
        <p:nvSpPr>
          <p:cNvPr id="44" name="P num 1"/>
          <p:cNvSpPr txBox="1"/>
          <p:nvPr/>
        </p:nvSpPr>
        <p:spPr>
          <a:xfrm>
            <a:off x="4251960" y="4690872"/>
            <a:ext cx="347472" cy="347472"/>
          </a:xfrm>
          <a:prstGeom prst="ellipse">
            <a:avLst/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88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ko-KR" sz="988"/>
          </a:p>
        </p:txBody>
      </p:sp>
      <p:sp>
        <p:nvSpPr>
          <p:cNvPr id="45" name="P 1"/>
          <p:cNvSpPr txBox="1"/>
          <p:nvPr/>
        </p:nvSpPr>
        <p:spPr>
          <a:xfrm>
            <a:off x="4690872" y="4645152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임상기관 · 책임연구자</a:t>
            </a:r>
            <a:endParaRPr lang="ko-KR" sz="1150"/>
          </a:p>
        </p:txBody>
      </p:sp>
      <p:sp>
        <p:nvSpPr>
          <p:cNvPr id="46" name="P num 2"/>
          <p:cNvSpPr txBox="1"/>
          <p:nvPr/>
        </p:nvSpPr>
        <p:spPr>
          <a:xfrm>
            <a:off x="8001000" y="4690872"/>
            <a:ext cx="347472" cy="347472"/>
          </a:xfrm>
          <a:prstGeom prst="ellipse">
            <a:avLst/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88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ko-KR" sz="988"/>
          </a:p>
        </p:txBody>
      </p:sp>
      <p:sp>
        <p:nvSpPr>
          <p:cNvPr id="47" name="P 2"/>
          <p:cNvSpPr txBox="1"/>
          <p:nvPr/>
        </p:nvSpPr>
        <p:spPr>
          <a:xfrm>
            <a:off x="8439912" y="4645152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Protocol · SAP · 환자 수</a:t>
            </a:r>
            <a:endParaRPr lang="ko-KR" sz="1150"/>
          </a:p>
        </p:txBody>
      </p:sp>
      <p:sp>
        <p:nvSpPr>
          <p:cNvPr id="48" name="P num 3"/>
          <p:cNvSpPr txBox="1"/>
          <p:nvPr/>
        </p:nvSpPr>
        <p:spPr>
          <a:xfrm>
            <a:off x="502920" y="5221224"/>
            <a:ext cx="347472" cy="347472"/>
          </a:xfrm>
          <a:prstGeom prst="ellipse">
            <a:avLst/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88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lang="ko-KR" sz="988"/>
          </a:p>
        </p:txBody>
      </p:sp>
      <p:sp>
        <p:nvSpPr>
          <p:cNvPr id="49" name="P 3"/>
          <p:cNvSpPr txBox="1"/>
          <p:nvPr/>
        </p:nvSpPr>
        <p:spPr>
          <a:xfrm>
            <a:off x="941832" y="5175504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병원 · CRO 견적</a:t>
            </a:r>
            <a:endParaRPr lang="ko-KR" sz="1150"/>
          </a:p>
        </p:txBody>
      </p:sp>
      <p:sp>
        <p:nvSpPr>
          <p:cNvPr id="50" name="P num 4"/>
          <p:cNvSpPr txBox="1"/>
          <p:nvPr/>
        </p:nvSpPr>
        <p:spPr>
          <a:xfrm>
            <a:off x="4251960" y="5221224"/>
            <a:ext cx="347472" cy="347472"/>
          </a:xfrm>
          <a:prstGeom prst="ellipse">
            <a:avLst/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88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5</a:t>
            </a:r>
            <a:endParaRPr lang="ko-KR" sz="988"/>
          </a:p>
        </p:txBody>
      </p:sp>
      <p:sp>
        <p:nvSpPr>
          <p:cNvPr id="51" name="P 4"/>
          <p:cNvSpPr txBox="1"/>
          <p:nvPr/>
        </p:nvSpPr>
        <p:spPr>
          <a:xfrm>
            <a:off x="4690872" y="5175504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기존 과제 중복 확인</a:t>
            </a:r>
            <a:endParaRPr lang="ko-KR" sz="1150"/>
          </a:p>
        </p:txBody>
      </p:sp>
      <p:sp>
        <p:nvSpPr>
          <p:cNvPr id="52" name="P num 5"/>
          <p:cNvSpPr txBox="1"/>
          <p:nvPr/>
        </p:nvSpPr>
        <p:spPr>
          <a:xfrm>
            <a:off x="8001000" y="5221224"/>
            <a:ext cx="347472" cy="347472"/>
          </a:xfrm>
          <a:prstGeom prst="ellipse">
            <a:avLst/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88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6</a:t>
            </a:r>
            <a:endParaRPr lang="ko-KR" sz="988"/>
          </a:p>
        </p:txBody>
      </p:sp>
      <p:sp>
        <p:nvSpPr>
          <p:cNvPr id="53" name="P 5"/>
          <p:cNvSpPr txBox="1"/>
          <p:nvPr/>
        </p:nvSpPr>
        <p:spPr>
          <a:xfrm>
            <a:off x="8439912" y="5175504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기업 현금부담 계획</a:t>
            </a:r>
            <a:endParaRPr lang="ko-KR" sz="1150"/>
          </a:p>
        </p:txBody>
      </p:sp>
      <p:sp>
        <p:nvSpPr>
          <p:cNvPr id="54" name="Key box"/>
          <p:cNvSpPr/>
          <p:nvPr/>
        </p:nvSpPr>
        <p:spPr>
          <a:xfrm>
            <a:off x="502920" y="5779008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E6F1ED"/>
          </a:solidFill>
          <a:ln>
            <a:noFill/>
          </a:ln>
        </p:spPr>
      </p:sp>
      <p:sp>
        <p:nvSpPr>
          <p:cNvPr id="55" name="Key label"/>
          <p:cNvSpPr txBox="1"/>
          <p:nvPr/>
        </p:nvSpPr>
        <p:spPr>
          <a:xfrm>
            <a:off x="640080" y="5870448"/>
            <a:ext cx="685800" cy="274320"/>
          </a:xfrm>
          <a:prstGeom prst="round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핵심</a:t>
            </a:r>
            <a:endParaRPr lang="ko-KR" sz="1000"/>
          </a:p>
        </p:txBody>
      </p:sp>
      <p:sp>
        <p:nvSpPr>
          <p:cNvPr id="56" name="Key text"/>
          <p:cNvSpPr txBox="1"/>
          <p:nvPr/>
        </p:nvSpPr>
        <p:spPr>
          <a:xfrm>
            <a:off x="1463040" y="57790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KMDF는 연초, KHIDI는 상반기 공고가 예상됨 → 연말까지 임상계획 승인 일정과 병원·CRO 견적부터 확보</a:t>
            </a:r>
            <a:endParaRPr lang="ko-KR" sz="1250"/>
          </a:p>
        </p:txBody>
      </p:sp>
      <p:sp>
        <p:nvSpPr>
          <p:cNvPr id="57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KMDF 2026 제1차 공고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KMDF 2026 제2차 공고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3"/>
              </a:rPr>
              <a:t>KHIDI 사용자 임상평가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4"/>
              </a:rPr>
              <a:t>KHIDI 의료기기산업 종합지원센터</a:t>
            </a:r>
            <a:endParaRPr lang="ko-KR" sz="75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고객 진입 순서 — 연구자 → 병원 → 유통 → 처방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첫 고객은 성인 2도 화상을 다루는 화상·성형외과 연구자와 병원 구매부서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27</a:t>
            </a:r>
            <a:endParaRPr lang="ko-KR" sz="750"/>
          </a:p>
        </p:txBody>
      </p:sp>
      <p:sp>
        <p:nvSpPr>
          <p:cNvPr id="7" name="P head 0"/>
          <p:cNvSpPr txBox="1"/>
          <p:nvPr/>
        </p:nvSpPr>
        <p:spPr>
          <a:xfrm>
            <a:off x="502920" y="1417320"/>
            <a:ext cx="2871216" cy="777240"/>
          </a:xfrm>
          <a:prstGeom prst="homePlate">
            <a:avLst>
              <a:gd name="adj" fmla="val 22000"/>
            </a:avLst>
          </a:prstGeom>
          <a:solidFill>
            <a:srgbClr val="1D6B52"/>
          </a:solidFill>
          <a:ln>
            <a:noFill/>
          </a:ln>
        </p:spPr>
        <p:txBody>
          <a:bodyPr wrap="square" lIns="274320" tIns="18288" rIns="182880" bIns="18288" anchor="ctr">
            <a:noAutofit/>
          </a:bodyPr>
          <a:lstStyle/>
          <a:p>
            <a:pPr marL="0" indent="0" algn="ctr">
              <a:buNone/>
            </a:pPr>
            <a:r>
              <a:rPr lang="ko-KR" sz="12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  화상·성형외과 연구자</a:t>
            </a:r>
            <a:endParaRPr lang="ko-KR" sz="1250"/>
          </a:p>
        </p:txBody>
      </p:sp>
      <p:sp>
        <p:nvSpPr>
          <p:cNvPr id="8" name="P card 0"/>
          <p:cNvSpPr/>
          <p:nvPr/>
        </p:nvSpPr>
        <p:spPr>
          <a:xfrm>
            <a:off x="576072" y="2377440"/>
            <a:ext cx="2615184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9" name="P goal l 0"/>
          <p:cNvSpPr txBox="1"/>
          <p:nvPr/>
        </p:nvSpPr>
        <p:spPr>
          <a:xfrm>
            <a:off x="713232" y="248716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목적</a:t>
            </a:r>
            <a:endParaRPr lang="ko-KR" sz="950"/>
          </a:p>
        </p:txBody>
      </p:sp>
      <p:sp>
        <p:nvSpPr>
          <p:cNvPr id="10" name="P goal 0"/>
          <p:cNvSpPr txBox="1"/>
          <p:nvPr/>
        </p:nvSpPr>
        <p:spPr>
          <a:xfrm>
            <a:off x="713232" y="27249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임상 · 사용성 검증</a:t>
            </a:r>
            <a:endParaRPr lang="ko-KR" sz="1300"/>
          </a:p>
        </p:txBody>
      </p:sp>
      <p:sp>
        <p:nvSpPr>
          <p:cNvPr id="11" name="P need l 0"/>
          <p:cNvSpPr txBox="1"/>
          <p:nvPr/>
        </p:nvSpPr>
        <p:spPr>
          <a:xfrm>
            <a:off x="713232" y="32004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이들이 보는 것</a:t>
            </a:r>
            <a:endParaRPr lang="ko-KR" sz="950"/>
          </a:p>
        </p:txBody>
      </p:sp>
      <p:sp>
        <p:nvSpPr>
          <p:cNvPr id="12" name="P need 0"/>
          <p:cNvSpPr txBox="1"/>
          <p:nvPr/>
        </p:nvSpPr>
        <p:spPr>
          <a:xfrm>
            <a:off x="713232" y="3456432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환자 적합성 · 프로토콜 · 안전성</a:t>
            </a:r>
            <a:endParaRPr lang="ko-KR" sz="1150"/>
          </a:p>
        </p:txBody>
      </p:sp>
      <p:sp>
        <p:nvSpPr>
          <p:cNvPr id="13" name="P ex 0"/>
          <p:cNvSpPr txBox="1"/>
          <p:nvPr/>
        </p:nvSpPr>
        <p:spPr>
          <a:xfrm>
            <a:off x="685800" y="4434840"/>
            <a:ext cx="2395728" cy="530352"/>
          </a:xfrm>
          <a:prstGeom prst="roundRect">
            <a:avLst>
              <a:gd name="adj" fmla="val 12000"/>
            </a:avLst>
          </a:prstGeom>
          <a:solidFill>
            <a:srgbClr val="E6F1E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예: 한림대 한강성심병원 · 베스티안</a:t>
            </a:r>
            <a:endParaRPr lang="ko-KR" sz="950"/>
          </a:p>
        </p:txBody>
      </p:sp>
      <p:sp>
        <p:nvSpPr>
          <p:cNvPr id="14" name="P head 1"/>
          <p:cNvSpPr txBox="1"/>
          <p:nvPr/>
        </p:nvSpPr>
        <p:spPr>
          <a:xfrm>
            <a:off x="3264408" y="1417320"/>
            <a:ext cx="2871216" cy="777240"/>
          </a:xfrm>
          <a:prstGeom prst="chevron">
            <a:avLst>
              <a:gd name="adj" fmla="val 22000"/>
            </a:avLst>
          </a:prstGeom>
          <a:solidFill>
            <a:srgbClr val="1C3E68"/>
          </a:solidFill>
          <a:ln>
            <a:noFill/>
          </a:ln>
        </p:spPr>
        <p:txBody>
          <a:bodyPr wrap="square" lIns="274320" tIns="18288" rIns="182880" bIns="18288" anchor="ctr">
            <a:noAutofit/>
          </a:bodyPr>
          <a:lstStyle/>
          <a:p>
            <a:pPr marL="0" indent="0" algn="ctr">
              <a:buNone/>
            </a:pPr>
            <a:r>
              <a:rPr lang="ko-KR" sz="12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  병원 구매 · 재료위원회</a:t>
            </a:r>
            <a:endParaRPr lang="ko-KR" sz="1250"/>
          </a:p>
        </p:txBody>
      </p:sp>
      <p:sp>
        <p:nvSpPr>
          <p:cNvPr id="15" name="P card 1"/>
          <p:cNvSpPr/>
          <p:nvPr/>
        </p:nvSpPr>
        <p:spPr>
          <a:xfrm>
            <a:off x="3337560" y="2377440"/>
            <a:ext cx="2615184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16" name="P goal l 1"/>
          <p:cNvSpPr txBox="1"/>
          <p:nvPr/>
        </p:nvSpPr>
        <p:spPr>
          <a:xfrm>
            <a:off x="3474720" y="248716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목적</a:t>
            </a:r>
            <a:endParaRPr lang="ko-KR" sz="950"/>
          </a:p>
        </p:txBody>
      </p:sp>
      <p:sp>
        <p:nvSpPr>
          <p:cNvPr id="17" name="P goal 1"/>
          <p:cNvSpPr txBox="1"/>
          <p:nvPr/>
        </p:nvSpPr>
        <p:spPr>
          <a:xfrm>
            <a:off x="3474720" y="27249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원내 품목 채택</a:t>
            </a:r>
            <a:endParaRPr lang="ko-KR" sz="1300"/>
          </a:p>
        </p:txBody>
      </p:sp>
      <p:sp>
        <p:nvSpPr>
          <p:cNvPr id="18" name="P need l 1"/>
          <p:cNvSpPr txBox="1"/>
          <p:nvPr/>
        </p:nvSpPr>
        <p:spPr>
          <a:xfrm>
            <a:off x="3474720" y="32004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이들이 보는 것</a:t>
            </a:r>
            <a:endParaRPr lang="ko-KR" sz="950"/>
          </a:p>
        </p:txBody>
      </p:sp>
      <p:sp>
        <p:nvSpPr>
          <p:cNvPr id="19" name="P need 1"/>
          <p:cNvSpPr txBox="1"/>
          <p:nvPr/>
        </p:nvSpPr>
        <p:spPr>
          <a:xfrm>
            <a:off x="3474720" y="3456432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임상 근거 · 총 처치비 · 교육 · 공급 안정</a:t>
            </a:r>
            <a:endParaRPr lang="ko-KR" sz="1150"/>
          </a:p>
        </p:txBody>
      </p:sp>
      <p:sp>
        <p:nvSpPr>
          <p:cNvPr id="20" name="P ex 1"/>
          <p:cNvSpPr txBox="1"/>
          <p:nvPr/>
        </p:nvSpPr>
        <p:spPr>
          <a:xfrm>
            <a:off x="3447288" y="4434840"/>
            <a:ext cx="2395728" cy="530352"/>
          </a:xfrm>
          <a:prstGeom prst="roundRect">
            <a:avLst>
              <a:gd name="adj" fmla="val 12000"/>
            </a:avLst>
          </a:prstGeom>
          <a:solidFill>
            <a:srgbClr val="EAF0F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예: 상급종합병원 화상·성형외과</a:t>
            </a:r>
            <a:endParaRPr lang="ko-KR" sz="950"/>
          </a:p>
        </p:txBody>
      </p:sp>
      <p:sp>
        <p:nvSpPr>
          <p:cNvPr id="21" name="P head 2"/>
          <p:cNvSpPr txBox="1"/>
          <p:nvPr/>
        </p:nvSpPr>
        <p:spPr>
          <a:xfrm>
            <a:off x="6025896" y="1417320"/>
            <a:ext cx="2871216" cy="777240"/>
          </a:xfrm>
          <a:prstGeom prst="chevron">
            <a:avLst>
              <a:gd name="adj" fmla="val 22000"/>
            </a:avLst>
          </a:prstGeom>
          <a:solidFill>
            <a:srgbClr val="7F5AA2"/>
          </a:solidFill>
          <a:ln>
            <a:noFill/>
          </a:ln>
        </p:spPr>
        <p:txBody>
          <a:bodyPr wrap="square" lIns="274320" tIns="18288" rIns="182880" bIns="18288" anchor="ctr">
            <a:noAutofit/>
          </a:bodyPr>
          <a:lstStyle/>
          <a:p>
            <a:pPr marL="0" indent="0" algn="ctr">
              <a:buNone/>
            </a:pPr>
            <a:r>
              <a:rPr lang="ko-KR" sz="12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  전문 창상 유통사 · GPO</a:t>
            </a:r>
            <a:endParaRPr lang="ko-KR" sz="1250"/>
          </a:p>
        </p:txBody>
      </p:sp>
      <p:sp>
        <p:nvSpPr>
          <p:cNvPr id="22" name="P card 2"/>
          <p:cNvSpPr/>
          <p:nvPr/>
        </p:nvSpPr>
        <p:spPr>
          <a:xfrm>
            <a:off x="6099048" y="2377440"/>
            <a:ext cx="2615184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23" name="P goal l 2"/>
          <p:cNvSpPr txBox="1"/>
          <p:nvPr/>
        </p:nvSpPr>
        <p:spPr>
          <a:xfrm>
            <a:off x="6236208" y="248716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목적</a:t>
            </a:r>
            <a:endParaRPr lang="ko-KR" sz="950"/>
          </a:p>
        </p:txBody>
      </p:sp>
      <p:sp>
        <p:nvSpPr>
          <p:cNvPr id="24" name="P goal 2"/>
          <p:cNvSpPr txBox="1"/>
          <p:nvPr/>
        </p:nvSpPr>
        <p:spPr>
          <a:xfrm>
            <a:off x="6236208" y="27249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병원 확장 · 물류</a:t>
            </a:r>
            <a:endParaRPr lang="ko-KR" sz="1300"/>
          </a:p>
        </p:txBody>
      </p:sp>
      <p:sp>
        <p:nvSpPr>
          <p:cNvPr id="25" name="P need l 2"/>
          <p:cNvSpPr txBox="1"/>
          <p:nvPr/>
        </p:nvSpPr>
        <p:spPr>
          <a:xfrm>
            <a:off x="6236208" y="32004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이들이 보는 것</a:t>
            </a:r>
            <a:endParaRPr lang="ko-KR" sz="950"/>
          </a:p>
        </p:txBody>
      </p:sp>
      <p:sp>
        <p:nvSpPr>
          <p:cNvPr id="26" name="P need 2"/>
          <p:cNvSpPr txBox="1"/>
          <p:nvPr/>
        </p:nvSpPr>
        <p:spPr>
          <a:xfrm>
            <a:off x="6236208" y="3456432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공급사 심사 · 마진 · 재고 · 품질</a:t>
            </a:r>
            <a:endParaRPr lang="ko-KR" sz="1150"/>
          </a:p>
        </p:txBody>
      </p:sp>
      <p:sp>
        <p:nvSpPr>
          <p:cNvPr id="27" name="P ex 2"/>
          <p:cNvSpPr txBox="1"/>
          <p:nvPr/>
        </p:nvSpPr>
        <p:spPr>
          <a:xfrm>
            <a:off x="6208776" y="4434840"/>
            <a:ext cx="2395728" cy="530352"/>
          </a:xfrm>
          <a:prstGeom prst="roundRect">
            <a:avLst>
              <a:gd name="adj" fmla="val 12000"/>
            </a:avLst>
          </a:prstGeom>
          <a:solidFill>
            <a:srgbClr val="F1ECF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예: 국내 창상 전문 유통사</a:t>
            </a:r>
            <a:endParaRPr lang="ko-KR" sz="950"/>
          </a:p>
        </p:txBody>
      </p:sp>
      <p:sp>
        <p:nvSpPr>
          <p:cNvPr id="28" name="P head 3"/>
          <p:cNvSpPr txBox="1"/>
          <p:nvPr/>
        </p:nvSpPr>
        <p:spPr>
          <a:xfrm>
            <a:off x="8787384" y="1417320"/>
            <a:ext cx="2871216" cy="777240"/>
          </a:xfrm>
          <a:prstGeom prst="chevron">
            <a:avLst>
              <a:gd name="adj" fmla="val 22000"/>
            </a:avLst>
          </a:prstGeom>
          <a:solidFill>
            <a:srgbClr val="D98B2B"/>
          </a:solidFill>
          <a:ln>
            <a:noFill/>
          </a:ln>
        </p:spPr>
        <p:txBody>
          <a:bodyPr wrap="square" lIns="274320" tIns="18288" rIns="182880" bIns="18288" anchor="ctr">
            <a:noAutofit/>
          </a:bodyPr>
          <a:lstStyle/>
          <a:p>
            <a:pPr marL="0" indent="0" algn="ctr">
              <a:buNone/>
            </a:pPr>
            <a:r>
              <a:rPr lang="ko-KR" sz="12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  처방 · 배송 채널</a:t>
            </a:r>
            <a:endParaRPr lang="ko-KR" sz="1250"/>
          </a:p>
        </p:txBody>
      </p:sp>
      <p:sp>
        <p:nvSpPr>
          <p:cNvPr id="29" name="P card 3"/>
          <p:cNvSpPr/>
          <p:nvPr/>
        </p:nvSpPr>
        <p:spPr>
          <a:xfrm>
            <a:off x="8860536" y="2377440"/>
            <a:ext cx="2615184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30" name="P goal l 3"/>
          <p:cNvSpPr txBox="1"/>
          <p:nvPr/>
        </p:nvSpPr>
        <p:spPr>
          <a:xfrm>
            <a:off x="8997696" y="248716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목적</a:t>
            </a:r>
            <a:endParaRPr lang="ko-KR" sz="950"/>
          </a:p>
        </p:txBody>
      </p:sp>
      <p:sp>
        <p:nvSpPr>
          <p:cNvPr id="31" name="P goal 3"/>
          <p:cNvSpPr txBox="1"/>
          <p:nvPr/>
        </p:nvSpPr>
        <p:spPr>
          <a:xfrm>
            <a:off x="8997696" y="27249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D98B2B"/>
                </a:solidFill>
                <a:latin typeface="NanumSquare"/>
                <a:ea typeface="NanumSquare"/>
                <a:cs typeface="NanumSquare"/>
              </a:rPr>
              <a:t>외래 · 가정 사용</a:t>
            </a:r>
            <a:endParaRPr lang="ko-KR" sz="1300"/>
          </a:p>
        </p:txBody>
      </p:sp>
      <p:sp>
        <p:nvSpPr>
          <p:cNvPr id="32" name="P need l 3"/>
          <p:cNvSpPr txBox="1"/>
          <p:nvPr/>
        </p:nvSpPr>
        <p:spPr>
          <a:xfrm>
            <a:off x="8997696" y="32004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이들이 보는 것</a:t>
            </a:r>
            <a:endParaRPr lang="ko-KR" sz="950"/>
          </a:p>
        </p:txBody>
      </p:sp>
      <p:sp>
        <p:nvSpPr>
          <p:cNvPr id="33" name="P need 3"/>
          <p:cNvSpPr txBox="1"/>
          <p:nvPr/>
        </p:nvSpPr>
        <p:spPr>
          <a:xfrm>
            <a:off x="8997696" y="3456432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처방 구조 · 보험 · 포장 · 자가 사용</a:t>
            </a:r>
            <a:endParaRPr lang="ko-KR" sz="1150"/>
          </a:p>
        </p:txBody>
      </p:sp>
      <p:sp>
        <p:nvSpPr>
          <p:cNvPr id="34" name="P ex 3"/>
          <p:cNvSpPr txBox="1"/>
          <p:nvPr/>
        </p:nvSpPr>
        <p:spPr>
          <a:xfrm>
            <a:off x="8970264" y="4434840"/>
            <a:ext cx="2395728" cy="530352"/>
          </a:xfrm>
          <a:prstGeom prst="roundRect">
            <a:avLst>
              <a:gd name="adj" fmla="val 12000"/>
            </a:avLst>
          </a:prstGeom>
          <a:solidFill>
            <a:srgbClr val="FBF1E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>
                <a:solidFill>
                  <a:srgbClr val="D98B2B"/>
                </a:solidFill>
                <a:latin typeface="NanumSquare"/>
                <a:ea typeface="NanumSquare"/>
                <a:cs typeface="NanumSquare"/>
              </a:rPr>
              <a:t>미국 예: KeraStat Cream → ASPN 약국</a:t>
            </a:r>
            <a:endParaRPr lang="ko-KR" sz="950"/>
          </a:p>
        </p:txBody>
      </p:sp>
      <p:sp>
        <p:nvSpPr>
          <p:cNvPr id="35" name="Ref"/>
          <p:cNvSpPr txBox="1"/>
          <p:nvPr/>
        </p:nvSpPr>
        <p:spPr>
          <a:xfrm>
            <a:off x="502920" y="525780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참고(미국 케라틴 제품 유통): KeraStat Gel → Combat Medical · Cream → ASPN 약국 · ProgenaMatrix → Venture Medical·Premier GPO  |  국내 KeraStat 사용기관은 공개자료 미확인</a:t>
            </a:r>
            <a:endParaRPr lang="ko-KR" sz="950"/>
          </a:p>
        </p:txBody>
      </p:sp>
      <p:sp>
        <p:nvSpPr>
          <p:cNvPr id="36" name="Key box"/>
          <p:cNvSpPr/>
          <p:nvPr/>
        </p:nvSpPr>
        <p:spPr>
          <a:xfrm>
            <a:off x="502920" y="5779008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E6F1ED"/>
          </a:solidFill>
          <a:ln>
            <a:noFill/>
          </a:ln>
        </p:spPr>
      </p:sp>
      <p:sp>
        <p:nvSpPr>
          <p:cNvPr id="37" name="Key label"/>
          <p:cNvSpPr txBox="1"/>
          <p:nvPr/>
        </p:nvSpPr>
        <p:spPr>
          <a:xfrm>
            <a:off x="640080" y="5870448"/>
            <a:ext cx="685800" cy="274320"/>
          </a:xfrm>
          <a:prstGeom prst="round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핵심</a:t>
            </a:r>
            <a:endParaRPr lang="ko-KR" sz="1000"/>
          </a:p>
        </p:txBody>
      </p:sp>
      <p:sp>
        <p:nvSpPr>
          <p:cNvPr id="38" name="Key text"/>
          <p:cNvSpPr txBox="1"/>
          <p:nvPr/>
        </p:nvSpPr>
        <p:spPr>
          <a:xfrm>
            <a:off x="1463040" y="57790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1단계 연구자 임상이 2~4단계의 근거가 된다 → 첫 투자는 ‘화상 전문의와의 임상’에 집중</a:t>
            </a:r>
            <a:endParaRPr lang="ko-KR" sz="1250"/>
          </a:p>
        </p:txBody>
      </p:sp>
      <p:sp>
        <p:nvSpPr>
          <p:cNvPr id="39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한림대 한강성심병원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베스티안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3"/>
              </a:rPr>
              <a:t>KeraNetics ASPN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4"/>
              </a:rPr>
              <a:t>KeraNetics Thermal Burns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5"/>
              </a:rPr>
              <a:t>ProgenaMatrix Premier</a:t>
            </a:r>
            <a:endParaRPr lang="ko-KR" sz="7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가격 경쟁력 = 개당 가격이 아니라 환자당 총 처치비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‘KeraStat보다 개당 저렴’만으로는 경쟁력 주장 불가 — 사용량 · 교체 · 덧대는 드레싱까지 합산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28</a:t>
            </a:r>
            <a:endParaRPr lang="ko-KR" sz="750"/>
          </a:p>
        </p:txBody>
      </p:sp>
      <p:sp>
        <p:nvSpPr>
          <p:cNvPr id="7" name="Formula card"/>
          <p:cNvSpPr/>
          <p:nvPr/>
        </p:nvSpPr>
        <p:spPr>
          <a:xfrm>
            <a:off x="502920" y="1371600"/>
            <a:ext cx="11183112" cy="1417320"/>
          </a:xfrm>
          <a:prstGeom prst="roundRect">
            <a:avLst>
              <a:gd name="adj" fmla="val 4000"/>
            </a:avLst>
          </a:prstGeom>
          <a:solidFill>
            <a:srgbClr val="E6F1ED"/>
          </a:solidFill>
          <a:ln>
            <a:noFill/>
          </a:ln>
        </p:spPr>
      </p:sp>
      <p:sp>
        <p:nvSpPr>
          <p:cNvPr id="8" name="F 0"/>
          <p:cNvSpPr txBox="1"/>
          <p:nvPr/>
        </p:nvSpPr>
        <p:spPr>
          <a:xfrm>
            <a:off x="786384" y="1572768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환자당</a:t>
            </a:r>
            <a:endParaRPr lang="ko-KR" sz="1100"/>
          </a:p>
          <a:p>
            <a:pPr marL="0" indent="0" algn="ctr">
              <a:buNone/>
            </a:pPr>
            <a:r>
              <a:rPr lang="ko-KR" sz="15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총 처치비</a:t>
            </a:r>
            <a:endParaRPr lang="ko-KR" sz="1100"/>
          </a:p>
        </p:txBody>
      </p:sp>
      <p:sp>
        <p:nvSpPr>
          <p:cNvPr id="9" name="F op 1"/>
          <p:cNvSpPr txBox="1"/>
          <p:nvPr/>
        </p:nvSpPr>
        <p:spPr>
          <a:xfrm>
            <a:off x="2706624" y="1554480"/>
            <a:ext cx="3657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6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=</a:t>
            </a:r>
            <a:endParaRPr lang="ko-KR" sz="2600"/>
          </a:p>
        </p:txBody>
      </p:sp>
      <p:sp>
        <p:nvSpPr>
          <p:cNvPr id="10" name="F 2"/>
          <p:cNvSpPr txBox="1"/>
          <p:nvPr/>
        </p:nvSpPr>
        <p:spPr>
          <a:xfrm>
            <a:off x="3163824" y="1572768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D6B52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KheAl</a:t>
            </a:r>
            <a:endParaRPr lang="ko-KR" sz="1100"/>
          </a:p>
          <a:p>
            <a:pPr marL="0" indent="0" algn="ctr">
              <a:buNone/>
            </a:pPr>
            <a:r>
              <a:rPr lang="ko-KR" sz="15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사용량</a:t>
            </a:r>
            <a:endParaRPr lang="ko-KR" sz="1100"/>
          </a:p>
        </p:txBody>
      </p:sp>
      <p:sp>
        <p:nvSpPr>
          <p:cNvPr id="11" name="F op 3"/>
          <p:cNvSpPr txBox="1"/>
          <p:nvPr/>
        </p:nvSpPr>
        <p:spPr>
          <a:xfrm>
            <a:off x="4855464" y="1554480"/>
            <a:ext cx="3657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6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+</a:t>
            </a:r>
            <a:endParaRPr lang="ko-KR" sz="2600"/>
          </a:p>
        </p:txBody>
      </p:sp>
      <p:sp>
        <p:nvSpPr>
          <p:cNvPr id="12" name="F 4"/>
          <p:cNvSpPr txBox="1"/>
          <p:nvPr/>
        </p:nvSpPr>
        <p:spPr>
          <a:xfrm>
            <a:off x="5312664" y="1572768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D6B52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덧대는</a:t>
            </a:r>
            <a:endParaRPr lang="ko-KR" sz="1100"/>
          </a:p>
          <a:p>
            <a:pPr marL="0" indent="0" algn="ctr">
              <a:buNone/>
            </a:pPr>
            <a:r>
              <a:rPr lang="ko-KR" sz="15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드레싱</a:t>
            </a:r>
            <a:endParaRPr lang="ko-KR" sz="1100"/>
          </a:p>
        </p:txBody>
      </p:sp>
      <p:sp>
        <p:nvSpPr>
          <p:cNvPr id="13" name="F op 5"/>
          <p:cNvSpPr txBox="1"/>
          <p:nvPr/>
        </p:nvSpPr>
        <p:spPr>
          <a:xfrm>
            <a:off x="7004304" y="1554480"/>
            <a:ext cx="3657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6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+</a:t>
            </a:r>
            <a:endParaRPr lang="ko-KR" sz="2600"/>
          </a:p>
        </p:txBody>
      </p:sp>
      <p:sp>
        <p:nvSpPr>
          <p:cNvPr id="14" name="F 6"/>
          <p:cNvSpPr txBox="1"/>
          <p:nvPr/>
        </p:nvSpPr>
        <p:spPr>
          <a:xfrm>
            <a:off x="7461504" y="1572768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D6B52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교체 ·</a:t>
            </a:r>
            <a:endParaRPr lang="ko-KR" sz="1100"/>
          </a:p>
          <a:p>
            <a:pPr marL="0" indent="0" algn="ctr">
              <a:buNone/>
            </a:pPr>
            <a:r>
              <a:rPr lang="ko-KR" sz="15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인력</a:t>
            </a:r>
            <a:endParaRPr lang="ko-KR" sz="1100"/>
          </a:p>
        </p:txBody>
      </p:sp>
      <p:sp>
        <p:nvSpPr>
          <p:cNvPr id="15" name="F op 7"/>
          <p:cNvSpPr txBox="1"/>
          <p:nvPr/>
        </p:nvSpPr>
        <p:spPr>
          <a:xfrm>
            <a:off x="9153144" y="1554480"/>
            <a:ext cx="3657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6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+</a:t>
            </a:r>
            <a:endParaRPr lang="ko-KR" sz="2600"/>
          </a:p>
        </p:txBody>
      </p:sp>
      <p:sp>
        <p:nvSpPr>
          <p:cNvPr id="16" name="F 8"/>
          <p:cNvSpPr txBox="1"/>
          <p:nvPr/>
        </p:nvSpPr>
        <p:spPr>
          <a:xfrm>
            <a:off x="9610344" y="1572768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D6B52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폐기량</a:t>
            </a:r>
            <a:endParaRPr lang="ko-KR" sz="1100"/>
          </a:p>
        </p:txBody>
      </p:sp>
      <p:sp>
        <p:nvSpPr>
          <p:cNvPr id="17" name="Ref card"/>
          <p:cNvSpPr/>
          <p:nvPr/>
        </p:nvSpPr>
        <p:spPr>
          <a:xfrm>
            <a:off x="502920" y="2971800"/>
            <a:ext cx="3291840" cy="2670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18" name="Ref l"/>
          <p:cNvSpPr txBox="1"/>
          <p:nvPr/>
        </p:nvSpPr>
        <p:spPr>
          <a:xfrm>
            <a:off x="685800" y="30632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기준점 · KeraStat Gel 5 mL</a:t>
            </a:r>
            <a:endParaRPr lang="ko-KR" sz="1100"/>
          </a:p>
        </p:txBody>
      </p:sp>
      <p:sp>
        <p:nvSpPr>
          <p:cNvPr id="19" name="Ref big"/>
          <p:cNvSpPr txBox="1"/>
          <p:nvPr/>
        </p:nvSpPr>
        <p:spPr>
          <a:xfrm>
            <a:off x="685800" y="3383280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36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$73</a:t>
            </a:r>
            <a:endParaRPr lang="ko-KR" sz="3600"/>
          </a:p>
        </p:txBody>
      </p:sp>
      <p:sp>
        <p:nvSpPr>
          <p:cNvPr id="20" name="Ref ml"/>
          <p:cNvSpPr txBox="1"/>
          <p:nvPr/>
        </p:nvSpPr>
        <p:spPr>
          <a:xfrm>
            <a:off x="685800" y="40690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mL당 $14.60</a:t>
            </a:r>
            <a:endParaRPr lang="ko-KR" sz="1500"/>
          </a:p>
        </p:txBody>
      </p:sp>
      <p:sp>
        <p:nvSpPr>
          <p:cNvPr id="21" name="Ref c"/>
          <p:cNvSpPr txBox="1"/>
          <p:nvPr/>
        </p:nvSpPr>
        <p:spPr>
          <a:xfrm>
            <a:off x="640080" y="457200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buNone/>
            </a:pPr>
            <a:r>
              <a:rPr lang="ko-KR" sz="1000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2024 공개 조달가 — 병원 실구매가 · 보험지급액과 다를 수 있음</a:t>
            </a:r>
            <a:endParaRPr lang="ko-KR" sz="1000"/>
          </a:p>
        </p:txBody>
      </p:sp>
      <p:sp>
        <p:nvSpPr>
          <p:cNvPr id="22" name="Cond t"/>
          <p:cNvSpPr txBox="1"/>
          <p:nvPr/>
        </p:nvSpPr>
        <p:spPr>
          <a:xfrm>
            <a:off x="3977640" y="2999232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KheAl에 가격 우위가 생기는 4가지 조건</a:t>
            </a:r>
            <a:endParaRPr lang="ko-KR" sz="1200"/>
          </a:p>
        </p:txBody>
      </p:sp>
      <p:sp>
        <p:nvSpPr>
          <p:cNvPr id="23" name="Cond 0"/>
          <p:cNvSpPr/>
          <p:nvPr/>
        </p:nvSpPr>
        <p:spPr>
          <a:xfrm>
            <a:off x="3977640" y="3383280"/>
            <a:ext cx="3749040" cy="10332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24" name="C num 0"/>
          <p:cNvSpPr txBox="1"/>
          <p:nvPr/>
        </p:nvSpPr>
        <p:spPr>
          <a:xfrm>
            <a:off x="4142232" y="3675888"/>
            <a:ext cx="438912" cy="438912"/>
          </a:xfrm>
          <a:prstGeom prst="ellipse">
            <a:avLst/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48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ko-KR" sz="1248"/>
          </a:p>
        </p:txBody>
      </p:sp>
      <p:sp>
        <p:nvSpPr>
          <p:cNvPr id="25" name="C h 0"/>
          <p:cNvSpPr txBox="1"/>
          <p:nvPr/>
        </p:nvSpPr>
        <p:spPr>
          <a:xfrm>
            <a:off x="4709160" y="3511296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소용량 포장</a:t>
            </a:r>
            <a:endParaRPr lang="ko-KR" sz="1350"/>
          </a:p>
        </p:txBody>
      </p:sp>
      <p:sp>
        <p:nvSpPr>
          <p:cNvPr id="26" name="C b 0"/>
          <p:cNvSpPr txBox="1"/>
          <p:nvPr/>
        </p:nvSpPr>
        <p:spPr>
          <a:xfrm>
            <a:off x="4709160" y="388620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→ 작은 상처에서 잔량 · 폐기 감소</a:t>
            </a:r>
            <a:endParaRPr lang="ko-KR" sz="1150"/>
          </a:p>
        </p:txBody>
      </p:sp>
      <p:sp>
        <p:nvSpPr>
          <p:cNvPr id="27" name="Cond 1"/>
          <p:cNvSpPr/>
          <p:nvPr/>
        </p:nvSpPr>
        <p:spPr>
          <a:xfrm>
            <a:off x="7854696" y="3383280"/>
            <a:ext cx="3749040" cy="10332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28" name="C num 1"/>
          <p:cNvSpPr txBox="1"/>
          <p:nvPr/>
        </p:nvSpPr>
        <p:spPr>
          <a:xfrm>
            <a:off x="8019288" y="3675888"/>
            <a:ext cx="438912" cy="438912"/>
          </a:xfrm>
          <a:prstGeom prst="ellipse">
            <a:avLst/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48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ko-KR" sz="1248"/>
          </a:p>
        </p:txBody>
      </p:sp>
      <p:sp>
        <p:nvSpPr>
          <p:cNvPr id="29" name="C h 1"/>
          <p:cNvSpPr txBox="1"/>
          <p:nvPr/>
        </p:nvSpPr>
        <p:spPr>
          <a:xfrm>
            <a:off x="8586216" y="3511296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잘 붙고 덜 흘러내림</a:t>
            </a:r>
            <a:endParaRPr lang="ko-KR" sz="1350"/>
          </a:p>
        </p:txBody>
      </p:sp>
      <p:sp>
        <p:nvSpPr>
          <p:cNvPr id="30" name="C b 1"/>
          <p:cNvSpPr txBox="1"/>
          <p:nvPr/>
        </p:nvSpPr>
        <p:spPr>
          <a:xfrm>
            <a:off x="8586216" y="388620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→ 필요 사용량 감소</a:t>
            </a:r>
            <a:endParaRPr lang="ko-KR" sz="1150"/>
          </a:p>
        </p:txBody>
      </p:sp>
      <p:sp>
        <p:nvSpPr>
          <p:cNvPr id="31" name="Cond 2"/>
          <p:cNvSpPr/>
          <p:nvPr/>
        </p:nvSpPr>
        <p:spPr>
          <a:xfrm>
            <a:off x="3977640" y="4526280"/>
            <a:ext cx="3749040" cy="10332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32" name="C num 2"/>
          <p:cNvSpPr txBox="1"/>
          <p:nvPr/>
        </p:nvSpPr>
        <p:spPr>
          <a:xfrm>
            <a:off x="4142232" y="4818888"/>
            <a:ext cx="438912" cy="438912"/>
          </a:xfrm>
          <a:prstGeom prst="ellipse">
            <a:avLst/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48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ko-KR" sz="1248"/>
          </a:p>
        </p:txBody>
      </p:sp>
      <p:sp>
        <p:nvSpPr>
          <p:cNvPr id="33" name="C h 2"/>
          <p:cNvSpPr txBox="1"/>
          <p:nvPr/>
        </p:nvSpPr>
        <p:spPr>
          <a:xfrm>
            <a:off x="4709160" y="4654296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교체가 쉬움</a:t>
            </a:r>
            <a:endParaRPr lang="ko-KR" sz="1350"/>
          </a:p>
        </p:txBody>
      </p:sp>
      <p:sp>
        <p:nvSpPr>
          <p:cNvPr id="34" name="C b 2"/>
          <p:cNvSpPr txBox="1"/>
          <p:nvPr/>
        </p:nvSpPr>
        <p:spPr>
          <a:xfrm>
            <a:off x="4709160" y="502920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→ 교체 횟수 · 처치 시간 감소</a:t>
            </a:r>
            <a:endParaRPr lang="ko-KR" sz="1150"/>
          </a:p>
        </p:txBody>
      </p:sp>
      <p:sp>
        <p:nvSpPr>
          <p:cNvPr id="35" name="Cond 3"/>
          <p:cNvSpPr/>
          <p:nvPr/>
        </p:nvSpPr>
        <p:spPr>
          <a:xfrm>
            <a:off x="7854696" y="4526280"/>
            <a:ext cx="3749040" cy="10332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36" name="C num 3"/>
          <p:cNvSpPr txBox="1"/>
          <p:nvPr/>
        </p:nvSpPr>
        <p:spPr>
          <a:xfrm>
            <a:off x="8019288" y="4818888"/>
            <a:ext cx="438912" cy="438912"/>
          </a:xfrm>
          <a:prstGeom prst="ellipse">
            <a:avLst/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48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lang="ko-KR" sz="1248"/>
          </a:p>
        </p:txBody>
      </p:sp>
      <p:sp>
        <p:nvSpPr>
          <p:cNvPr id="37" name="C h 3"/>
          <p:cNvSpPr txBox="1"/>
          <p:nvPr/>
        </p:nvSpPr>
        <p:spPr>
          <a:xfrm>
            <a:off x="8586216" y="4654296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덧대는 드레싱 최소화</a:t>
            </a:r>
            <a:endParaRPr lang="ko-KR" sz="1350"/>
          </a:p>
        </p:txBody>
      </p:sp>
      <p:sp>
        <p:nvSpPr>
          <p:cNvPr id="38" name="C b 3"/>
          <p:cNvSpPr txBox="1"/>
          <p:nvPr/>
        </p:nvSpPr>
        <p:spPr>
          <a:xfrm>
            <a:off x="8586216" y="502920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→ 필요 여부 · 종류 · 사용량 감소</a:t>
            </a:r>
            <a:endParaRPr lang="ko-KR" sz="1150"/>
          </a:p>
        </p:txBody>
      </p:sp>
      <p:sp>
        <p:nvSpPr>
          <p:cNvPr id="39" name="Key box"/>
          <p:cNvSpPr/>
          <p:nvPr/>
        </p:nvSpPr>
        <p:spPr>
          <a:xfrm>
            <a:off x="502920" y="5779008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E6F1ED"/>
          </a:solidFill>
          <a:ln>
            <a:noFill/>
          </a:ln>
        </p:spPr>
      </p:sp>
      <p:sp>
        <p:nvSpPr>
          <p:cNvPr id="40" name="Key label"/>
          <p:cNvSpPr txBox="1"/>
          <p:nvPr/>
        </p:nvSpPr>
        <p:spPr>
          <a:xfrm>
            <a:off x="640080" y="5870448"/>
            <a:ext cx="685800" cy="274320"/>
          </a:xfrm>
          <a:prstGeom prst="roundRect">
            <a:avLst>
              <a:gd name="adj" fmla="val 16000"/>
            </a:avLst>
          </a:prstGeom>
          <a:solidFill>
            <a:srgbClr val="1D6B52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핵심</a:t>
            </a:r>
            <a:endParaRPr lang="ko-KR" sz="1000"/>
          </a:p>
        </p:txBody>
      </p:sp>
      <p:sp>
        <p:nvSpPr>
          <p:cNvPr id="41" name="Key text"/>
          <p:cNvSpPr txBox="1"/>
          <p:nvPr/>
        </p:nvSpPr>
        <p:spPr>
          <a:xfrm>
            <a:off x="1463040" y="57790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목표 가격은 원가 · 유통마진 · 보험 · 도포면적 자료를 확보한 뒤 ‘환자당 총비용’으로 설정</a:t>
            </a:r>
            <a:endParaRPr lang="ko-KR" sz="1250"/>
          </a:p>
        </p:txBody>
      </p:sp>
      <p:sp>
        <p:nvSpPr>
          <p:cNvPr id="42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2024 Combat/Safeguard Medical Price List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KeraNetics KeraStat Gel</a:t>
            </a:r>
            <a:endParaRPr lang="ko-KR" sz="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2026-10-25T23:19:37.1150000Z</dcterms:created>
  <dcterms:modified xsi:type="dcterms:W3CDTF">2026-10-25T23:19:37.1150000Z</dcterms:modified>
</coreProperties>
</file>