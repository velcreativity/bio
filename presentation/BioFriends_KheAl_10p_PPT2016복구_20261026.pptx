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Default Extension="dat" ContentType="application/x-fontdata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embedTrueTypeFonts="1">
  <p:sldMasterIdLst>
    <p:sldMasterId id="2147483648" r:id="rId1"/>
  </p:sldMasterIdLst>
  <p:notesMasterIdLst>
    <p:notesMasterId r:id="rId2"/>
  </p:notesMasterIdLst>
  <p:sldIdLst>
    <p:sldId id="3000" r:id="rIdK101"/>
    <p:sldId id="3001" r:id="rIdK102"/>
    <p:sldId id="3002" r:id="rIdK103"/>
    <p:sldId id="3003" r:id="rIdK104"/>
    <p:sldId id="3004" r:id="rIdK105"/>
    <p:sldId id="3005" r:id="rIdK106"/>
    <p:sldId id="3006" r:id="rIdK107"/>
    <p:sldId id="3007" r:id="rIdK108"/>
    <p:sldId id="3008" r:id="rIdK109"/>
    <p:sldId id="3009" r:id="rIdK110"/>
  </p:sldIdLst>
  <p:sldSz cx="12192000" cy="6858000"/>
  <p:notesSz cx="6858000" cy="9144000"/>
  <p:embeddedFontLst>
    <p:embeddedFont>
      <p:font typeface="210 옴니고딕 020"/>
      <p:regular xmlns:r="http://schemas.openxmlformats.org/officeDocument/2006/relationships" r:id="R1e5fffe09f3f49a4"/>
    </p:embeddedFont>
    <p:embeddedFont>
      <p:font typeface="210 옴니고딕 030"/>
      <p:regular xmlns:r="http://schemas.openxmlformats.org/officeDocument/2006/relationships" r:id="Ra8c2f2df4a90446f"/>
    </p:embeddedFont>
    <p:embeddedFont>
      <p:font typeface="210 옴니고딕 040"/>
      <p:regular xmlns:r="http://schemas.openxmlformats.org/officeDocument/2006/relationships" r:id="R02058ac2fcc144fc"/>
    </p:embeddedFont>
    <p:embeddedFont>
      <p:font typeface="210 옴니고딕 050"/>
      <p:regular xmlns:r="http://schemas.openxmlformats.org/officeDocument/2006/relationships" r:id="Rd0d00f9c35dc4f5b"/>
    </p:embeddedFont>
    <p:embeddedFont>
      <p:font typeface="210 OmniGothic 040"/>
      <p:regular xmlns:r="http://schemas.openxmlformats.org/officeDocument/2006/relationships" r:id="Ra73f5305c6084fd9"/>
    </p:embeddedFont>
    <p:embeddedFont>
      <p:font typeface="맑은 고딕"/>
      <p:regular xmlns:r="http://schemas.openxmlformats.org/officeDocument/2006/relationships" r:id="Ra1b10879fa654794"/>
      <p:bold xmlns:r="http://schemas.openxmlformats.org/officeDocument/2006/relationships" r:id="Rccb44b9ba71f4e3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id="{59CA012A-77AD-5A40-8EB7-D77B477672A3}" name="기본 구역">
          <p14:sldIdLst>
            <p14:sldId id="434"/>
            <p14:sldId id="436"/>
            <p14:sldId id="443"/>
            <p14:sldId id="356"/>
            <p14:sldId id="1548"/>
            <p14:sldId id="1549"/>
          </p14:sldIdLst>
        </p14:section>
        <p14:section id="{31663534-2F4F-9A49-A4F8-5ECC59E8F6AD}" name="제목 없는 구역">
          <p14:sldIdLst/>
        </p14:section>
      </p14:sectionLst>
    </p:ext>
  </p:extLst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4483" autoAdjust="0"/>
    <p:restoredTop sz="95205" autoAdjust="0"/>
  </p:normalViewPr>
  <p:slideViewPr>
    <p:cSldViewPr snapToGrid="0">
      <p:cViewPr varScale="1">
        <p:scale>
          <a:sx n="100" d="100"/>
          <a:sy n="100" d="100"/>
        </p:scale>
        <p:origin x="936" y="192"/>
      </p:cViewPr>
      <p:guideLst>
        <p:guide orient="horz" pos="2159"/>
        <p:guide orient="horz" pos="227"/>
        <p:guide pos="3816"/>
        <p:guide pos="233"/>
        <p:guide pos="751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K101" Type="http://schemas.openxmlformats.org/officeDocument/2006/relationships/slide" Target="slides/slide101.xml"/><Relationship Id="rIdK102" Type="http://schemas.openxmlformats.org/officeDocument/2006/relationships/slide" Target="slides/slide102.xml"/><Relationship Id="rIdK103" Type="http://schemas.openxmlformats.org/officeDocument/2006/relationships/slide" Target="slides/slide103.xml"/><Relationship Id="rIdK104" Type="http://schemas.openxmlformats.org/officeDocument/2006/relationships/slide" Target="slides/slide104.xml"/><Relationship Id="rIdK105" Type="http://schemas.openxmlformats.org/officeDocument/2006/relationships/slide" Target="slides/slide105.xml"/><Relationship Id="rIdK106" Type="http://schemas.openxmlformats.org/officeDocument/2006/relationships/slide" Target="slides/slide106.xml"/><Relationship Id="rIdK107" Type="http://schemas.openxmlformats.org/officeDocument/2006/relationships/slide" Target="slides/slide107.xml"/><Relationship Id="rIdK108" Type="http://schemas.openxmlformats.org/officeDocument/2006/relationships/slide" Target="slides/slide108.xml"/><Relationship Id="rIdK109" Type="http://schemas.openxmlformats.org/officeDocument/2006/relationships/slide" Target="slides/slide109.xml"/><Relationship Id="rIdK110" Type="http://schemas.openxmlformats.org/officeDocument/2006/relationships/slide" Target="slides/slide110.xml"/><Relationship Id="R1e5fffe09f3f49a4" Type="http://schemas.openxmlformats.org/officeDocument/2006/relationships/font" Target="fonts/emb_font.dat"/><Relationship Id="Ra8c2f2df4a90446f" Type="http://schemas.openxmlformats.org/officeDocument/2006/relationships/font" Target="fonts/emb_font2.dat"/><Relationship Id="R02058ac2fcc144fc" Type="http://schemas.openxmlformats.org/officeDocument/2006/relationships/font" Target="fonts/emb_font3.dat"/><Relationship Id="Rd0d00f9c35dc4f5b" Type="http://schemas.openxmlformats.org/officeDocument/2006/relationships/font" Target="fonts/emb_font4.dat"/><Relationship Id="Ra73f5305c6084fd9" Type="http://schemas.openxmlformats.org/officeDocument/2006/relationships/font" Target="fonts/emb_font5.dat"/><Relationship Id="Ra1b10879fa654794" Type="http://schemas.openxmlformats.org/officeDocument/2006/relationships/font" Target="fonts/emb_font6.dat"/><Relationship Id="Rccb44b9ba71f4e35" Type="http://schemas.openxmlformats.org/officeDocument/2006/relationships/font" Target="fonts/emb_font7.dat"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A77F78A2-D0E4-4C87-8826-BC21370A6572}" type="datetime1">
              <a:rPr lang="ko-KR" altLang="en-US" smtClean="0"/>
              <a:t>2026. 8. 14.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7EAFD98C-9F44-49EF-89EE-1B6D232A8E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02050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1.png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1.png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B8BF42-5368-4EFB-81C9-CF1D0E0624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4AFFA5F-EECD-4C6E-A1C3-B83E74C0B6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E64B08-9214-4817-AD1C-9F072A0B5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06F6D-E772-4DFB-BEF0-298330700462}" type="datetimeFigureOut">
              <a:rPr lang="ko-KR" altLang="en-US" smtClean="0"/>
              <a:t>2026. 8. 14.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0898DA-E206-477C-A334-319F9D5CD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0E7416-5109-430E-89BC-7EC6A8751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C42F-623A-4913-A961-0477D0E33F8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1818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95E06C-B113-40E1-9AFB-0959FFBD3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1DDD817-27E8-49DE-A714-F489B1E82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06F6D-E772-4DFB-BEF0-298330700462}" type="datetimeFigureOut">
              <a:rPr lang="ko-KR" altLang="en-US" smtClean="0"/>
              <a:t>2026. 8. 14.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41C116C-322C-4498-83A8-44F163956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AED3FDA-B5BB-4C61-9622-BE2AA6EBF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C42F-623A-4913-A961-0477D0E33F8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2230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133304A-4057-4776-9EBA-22FFE118D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06F6D-E772-4DFB-BEF0-298330700462}" type="datetimeFigureOut">
              <a:rPr lang="ko-KR" altLang="en-US" smtClean="0"/>
              <a:t>2026. 8. 14.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A4D3F9E-C939-47AF-9AA5-5C4A7D23D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0A439A-0671-4218-8FCF-741C61680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C42F-623A-4913-A961-0477D0E33F8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2924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1BD9E866-B47E-4509-B987-895EC22EAE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314245C-E569-4F2B-B956-0AEB209DF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06F6D-E772-4DFB-BEF0-298330700462}" type="datetimeFigureOut">
              <a:rPr lang="ko-KR" altLang="en-US" smtClean="0"/>
              <a:t>2026. 8. 14.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D1FF13-7F19-4F65-9D7B-3094F99EF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A5DD03-3445-4020-B0CF-CE53E697F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C42F-623A-4913-A961-0477D0E33F8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2908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49E2B7C-4C5B-484E-9620-93D8C27B09DC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210 옴니고딕 030" panose="02020603020101020101" pitchFamily="18" charset="-127"/>
              <a:ea typeface="210 옴니고딕 030" panose="02020603020101020101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EFBCC8C-20ED-4735-88EB-F7ED820C35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667"/>
          <a:stretch/>
        </p:blipFill>
        <p:spPr>
          <a:xfrm>
            <a:off x="0" y="0"/>
            <a:ext cx="12192000" cy="1188720"/>
          </a:xfrm>
          <a:prstGeom prst="rect">
            <a:avLst/>
          </a:prstGeom>
        </p:spPr>
      </p:pic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95ECB3-F11B-44BE-860F-64D67C0A6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06F6D-E772-4DFB-BEF0-298330700462}" type="datetimeFigureOut">
              <a:rPr lang="ko-KR" altLang="en-US" smtClean="0"/>
              <a:pPr/>
              <a:t>2026. 8. 14.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8CA864A-5E7B-4F62-801F-3FC8603B5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D50F69C-2C75-4EC2-9C04-4448073CE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C42F-623A-4913-A961-0477D0E33F8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5032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222AF8A-A0BF-4F6B-83E9-E7F716711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8B36F0-131D-4D01-A3BB-F3B12446C5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D0A049-E795-4479-8A01-BA5595459D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210 옴니고딕 030" panose="02020603020101020101" pitchFamily="18" charset="-127"/>
                <a:ea typeface="210 옴니고딕 030" panose="02020603020101020101" pitchFamily="18" charset="-127"/>
              </a:defRPr>
            </a:lvl1pPr>
          </a:lstStyle>
          <a:p>
            <a:fld id="{02C06F6D-E772-4DFB-BEF0-298330700462}" type="datetimeFigureOut">
              <a:rPr lang="ko-KR" altLang="en-US" smtClean="0"/>
              <a:pPr/>
              <a:t>2026. 8. 14.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A61A66-73D4-40E6-8FCC-F2540C8CB7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210 옴니고딕 030" panose="02020603020101020101" pitchFamily="18" charset="-127"/>
                <a:ea typeface="210 옴니고딕 030" panose="02020603020101020101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A4710F-FF6A-4FA3-BE0B-4403C3E124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210 옴니고딕 030" panose="02020603020101020101" pitchFamily="18" charset="-127"/>
                <a:ea typeface="210 옴니고딕 030" panose="02020603020101020101" pitchFamily="18" charset="-127"/>
              </a:defRPr>
            </a:lvl1pPr>
          </a:lstStyle>
          <a:p>
            <a:fld id="{57F1C42F-623A-4913-A961-0477D0E33F8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1967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6" r:id="rId4"/>
    <p:sldLayoutId id="2147483662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210 옴니고딕 030" panose="02020603020101020101" pitchFamily="18" charset="-127"/>
          <a:ea typeface="210 옴니고딕 030" panose="0202060302010102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210 옴니고딕 030" panose="02020603020101020101" pitchFamily="18" charset="-127"/>
          <a:ea typeface="210 옴니고딕 030" panose="02020603020101020101" pitchFamily="18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210 옴니고딕 030" panose="02020603020101020101" pitchFamily="18" charset="-127"/>
          <a:ea typeface="210 옴니고딕 030" panose="02020603020101020101" pitchFamily="18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210 옴니고딕 030" panose="02020603020101020101" pitchFamily="18" charset="-127"/>
          <a:ea typeface="210 옴니고딕 030" panose="02020603020101020101" pitchFamily="18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210 옴니고딕 030" panose="02020603020101020101" pitchFamily="18" charset="-127"/>
          <a:ea typeface="210 옴니고딕 030" panose="02020603020101020101" pitchFamily="18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210 옴니고딕 030" panose="02020603020101020101" pitchFamily="18" charset="-127"/>
          <a:ea typeface="210 옴니고딕 030" panose="02020603020101020101" pitchFamily="18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0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L1" Type="http://schemas.openxmlformats.org/officeDocument/2006/relationships/hyperlink" Target="https://www.fda.gov/industry/fda-user-fee-programs/medical-device-user-fee-amendments-mdufa" TargetMode="External"/><Relationship Id="rL2" Type="http://schemas.openxmlformats.org/officeDocument/2006/relationships/hyperlink" Target="https://www.corvia-cro.com/" TargetMode="External"/></Relationships>
</file>

<file path=ppt/slides/_rels/slide102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L1" Type="http://schemas.openxmlformats.org/officeDocument/2006/relationships/hyperlink" Target="https://www.sec.gov/Archives/edgar/data/845982/000110465926028258/snn-20251231x20f.htm" TargetMode="External"/><Relationship Id="rL2" Type="http://schemas.openxmlformats.org/officeDocument/2006/relationships/hyperlink" Target="https://www.marketsandmarkets.com/Market-Reports/wound-dressings-market-123903496.html" TargetMode="External"/><Relationship Id="rL3" Type="http://schemas.openxmlformats.org/officeDocument/2006/relationships/hyperlink" Target="https://www.marketsandmarkets.com/Market-Reports/geography/wound-dressings-market/US" TargetMode="External"/><Relationship Id="rL4" Type="http://schemas.openxmlformats.org/officeDocument/2006/relationships/hyperlink" Target="https://www.grandviewresearch.com/industry-analysis/advanced-wound-care-dressing-market" TargetMode="External"/><Relationship Id="rL5" Type="http://schemas.openxmlformats.org/officeDocument/2006/relationships/hyperlink" Target="https://kind.krx.co.kr/external/2025/03/07/001038/20250307002541/00591.htm" TargetMode="External"/></Relationships>
</file>

<file path=ppt/slides/_rels/slide103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L1" Type="http://schemas.openxmlformats.org/officeDocument/2006/relationships/hyperlink" Target="https://dmed.co.kr/services/" TargetMode="External"/><Relationship Id="rL2" Type="http://schemas.openxmlformats.org/officeDocument/2006/relationships/hyperlink" Target="https://www.venturesquare.net/952837" TargetMode="External"/><Relationship Id="rL3" Type="http://schemas.openxmlformats.org/officeDocument/2006/relationships/hyperlink" Target="https://prod-multisite-us.coloplast.com/coloplast/wound-care/purilon-gel" TargetMode="External"/><Relationship Id="rL4" Type="http://schemas.openxmlformats.org/officeDocument/2006/relationships/hyperlink" Target="https://www.solventum.com/en-nz/home/f/b5005265144/" TargetMode="External"/><Relationship Id="rL5" Type="http://schemas.openxmlformats.org/officeDocument/2006/relationships/hyperlink" Target="https://www.accessdata.fda.gov/cdrh_docs/pdf16/K162759.pdf" TargetMode="External"/><Relationship Id="rL6" Type="http://schemas.openxmlformats.org/officeDocument/2006/relationships/hyperlink" Target="https://www.accessdata.fda.gov/cdrh_docs/pdf18/K182010.pdf" TargetMode="External"/><Relationship Id="rL7" Type="http://schemas.openxmlformats.org/officeDocument/2006/relationships/hyperlink" Target="https://accessgudid.nlm.nih.gov/devices/00850072068879" TargetMode="External"/><Relationship Id="rL8" Type="http://schemas.openxmlformats.org/officeDocument/2006/relationships/hyperlink" Target="https://510k.innolitics.com/device/K073251" TargetMode="External"/><Relationship Id="rL9" Type="http://schemas.openxmlformats.org/officeDocument/2006/relationships/hyperlink" Target="https://www.onemedison.com/bbs/board.php?bo_table=product&amp;wr_id=29" TargetMode="External"/><Relationship Id="rL10" Type="http://schemas.openxmlformats.org/officeDocument/2006/relationships/hyperlink" Target="https://medigatenews.com/news/840685051" TargetMode="External"/></Relationships>
</file>

<file path=ppt/slides/_rels/slide104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I_kerastat" Type="http://schemas.openxmlformats.org/officeDocument/2006/relationships/image" Target="/ppt/media/cmp_kerastat_gel.png"/><Relationship Id="rI_juvencoll" Type="http://schemas.openxmlformats.org/officeDocument/2006/relationships/image" Target="/ppt/media/cmp_juvencoll.jpeg"/><Relationship Id="rL1" Type="http://schemas.openxmlformats.org/officeDocument/2006/relationships/hyperlink" Target="https://www.accessdata.fda.gov/cdrh_docs/pdf16/K162759.pdf" TargetMode="External"/><Relationship Id="rL2" Type="http://schemas.openxmlformats.org/officeDocument/2006/relationships/hyperlink" Target="https://www.keranetics.com/products/kerastat-gel/" TargetMode="External"/><Relationship Id="rL3" Type="http://schemas.openxmlformats.org/officeDocument/2006/relationships/hyperlink" Target="https://govtribe.com/file/government-file/t0106-price-line-103-2024-combat-safeguard-medical-price-list-dot-xlsx-1" TargetMode="External"/><Relationship Id="rL4" Type="http://schemas.openxmlformats.org/officeDocument/2006/relationships/hyperlink" Target="http://www.pharvis.co.kr/sub/product/product_view.php?stype=4&amp;stext=&amp;page=1&amp;idx=138" TargetMode="External"/><Relationship Id="rL5" Type="http://schemas.openxmlformats.org/officeDocument/2006/relationships/hyperlink" Target="https://www.medipharmhealth.co.kr/news/article.html?no=56326" TargetMode="External"/><Relationship Id="rL6" Type="http://schemas.openxmlformats.org/officeDocument/2006/relationships/hyperlink" Target="https://medigatenews.com/news/2746987442" TargetMode="External"/><Relationship Id="rL7" Type="http://schemas.openxmlformats.org/officeDocument/2006/relationships/hyperlink" Target="http://rulesvcmr.hira.or.kr/service/law/detailArticlePrint.do?seq=741&amp;historySeq=3152&amp;contentSeq=175738" TargetMode="External"/></Relationships>
</file>

<file path=ppt/slides/_rels/slide105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I_poranki" Type="http://schemas.openxmlformats.org/officeDocument/2006/relationships/image" Target="/ppt/media/pap_poranki_fig1.png"/><Relationship Id="rI_breast" Type="http://schemas.openxmlformats.org/officeDocument/2006/relationships/image" Target="/ppt/media/pap_breast_fig1.png"/><Relationship Id="rL1" Type="http://schemas.openxmlformats.org/officeDocument/2006/relationships/hyperlink" Target="https://onlinelibrary.wiley.com/doi/10.1155/2016/1803912" TargetMode="External"/><Relationship Id="rL2" Type="http://schemas.openxmlformats.org/officeDocument/2006/relationships/hyperlink" Target="https://journals.sagepub.com/doi/10.1177/15330338231222137" TargetMode="External"/><Relationship Id="rL3" Type="http://schemas.openxmlformats.org/officeDocument/2006/relationships/hyperlink" Target="https://doi.org/10.1017/S1460396924000037" TargetMode="External"/><Relationship Id="rL4" Type="http://schemas.openxmlformats.org/officeDocument/2006/relationships/hyperlink" Target="https://clinicaltrials.gov/study/NCT03564795" TargetMode="External"/><Relationship Id="rL5" Type="http://schemas.openxmlformats.org/officeDocument/2006/relationships/hyperlink" Target="https://onlinelibrary.wiley.com/doi/full/10.1111/iwj.70029" TargetMode="External"/></Relationships>
</file>

<file path=ppt/slides/_rels/slide106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I1" Type="http://schemas.openxmlformats.org/officeDocument/2006/relationships/image" Target="/ppt/media/cmp_kheal_product.png"/><Relationship Id="rL1" Type="http://schemas.openxmlformats.org/officeDocument/2006/relationships/hyperlink" Target="https://www.accessdata.fda.gov/cdrh_docs/pdf16/K162759.pdf" TargetMode="External"/><Relationship Id="rL2" Type="http://schemas.openxmlformats.org/officeDocument/2006/relationships/hyperlink" Target="https://pubmed.ncbi.nlm.nih.gov/29107632/" TargetMode="External"/><Relationship Id="rL3" Type="http://schemas.openxmlformats.org/officeDocument/2006/relationships/hyperlink" Target="https://www.biofriends.co.kr/" TargetMode="External"/></Relationships>
</file>

<file path=ppt/slides/_rels/slide107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L1" Type="http://schemas.openxmlformats.org/officeDocument/2006/relationships/hyperlink" Target="https://www.law.go.kr/admRulInfoP.do?admRulSeq=2100000275656&amp;chrClsCd=010202&amp;urlMode=admRulRvsInfoR" TargetMode="External"/><Relationship Id="rL2" Type="http://schemas.openxmlformats.org/officeDocument/2006/relationships/hyperlink" Target="https://www.medipana.com/news/articleView.html?idxno=314096" TargetMode="External"/><Relationship Id="rL3" Type="http://schemas.openxmlformats.org/officeDocument/2006/relationships/hyperlink" Target="https://clinicaltrials.gov/study/NCT03564795" TargetMode="External"/></Relationships>
</file>

<file path=ppt/slides/_rels/slide108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L1" Type="http://schemas.openxmlformats.org/officeDocument/2006/relationships/hyperlink" Target="https://www.accessdata.fda.gov/cdrh_docs/pdf16/K162759.pdf" TargetMode="External"/><Relationship Id="rL2" Type="http://schemas.openxmlformats.org/officeDocument/2006/relationships/hyperlink" Target="https://www.accessdata.fda.gov/cdrh_docs/pdf19/K192386.pdf" TargetMode="External"/><Relationship Id="rL3" Type="http://schemas.openxmlformats.org/officeDocument/2006/relationships/hyperlink" Target="https://www.fda.gov/industry/fda-user-fee-programs/medical-device-user-fee-amendments-mdufa" TargetMode="External"/><Relationship Id="rL4" Type="http://schemas.openxmlformats.org/officeDocument/2006/relationships/hyperlink" Target="https://www.corvia-cro.com/" TargetMode="External"/><Relationship Id="rL5" Type="http://schemas.openxmlformats.org/officeDocument/2006/relationships/hyperlink" Target="https://med.virginia.edu/clinicalresearch/fees/" TargetMode="External"/><Relationship Id="rL6" Type="http://schemas.openxmlformats.org/officeDocument/2006/relationships/hyperlink" Target="https://irb.hallym.or.kr/hgirb/ptp008.jsp" TargetMode="External"/></Relationships>
</file>

<file path=ppt/slides/_rels/slide109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L1" Type="http://schemas.openxmlformats.org/officeDocument/2006/relationships/hyperlink" Target="https://www.fda.gov/industry/fda-user-fee-programs/medical-device-user-fee-amendments-mdufa" TargetMode="External"/><Relationship Id="rL2" Type="http://schemas.openxmlformats.org/officeDocument/2006/relationships/hyperlink" Target="https://clarepartners.co.kr/guides/2026-09-25-fees-and-statutory-periods/" TargetMode="External"/><Relationship Id="rL3" Type="http://schemas.openxmlformats.org/officeDocument/2006/relationships/hyperlink" Target="https://www.sedaily.com/article/14047847" TargetMode="External"/><Relationship Id="rL4" Type="http://schemas.openxmlformats.org/officeDocument/2006/relationships/hyperlink" Target="https://www.kmdf.org/official" TargetMode="External"/></Relationships>
</file>

<file path=ppt/slides/_rels/slide110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L1" Type="http://schemas.openxmlformats.org/officeDocument/2006/relationships/hyperlink" Target="https://eiec.kdi.re.kr/policy/materialView.do?num=288065" TargetMode="External"/><Relationship Id="rL2" Type="http://schemas.openxmlformats.org/officeDocument/2006/relationships/hyperlink" Target="https://www.kmdf.org/official/view/id/4090" TargetMode="External"/><Relationship Id="rL3" Type="http://schemas.openxmlformats.org/officeDocument/2006/relationships/hyperlink" Target="https://www.khidi.or.kr/mdtis/bizPbanc/bizPbancList?menuId=MENU03471" TargetMode="External"/><Relationship Id="rL4" Type="http://schemas.openxmlformats.org/officeDocument/2006/relationships/hyperlink" Target="https://www.bizinfo.go.kr/sii/siia/selectSIIA200Detail.do?pblancId=PBLN_000000000117011" TargetMode="External"/><Relationship Id="rL5" Type="http://schemas.openxmlformats.org/officeDocument/2006/relationships/hyperlink" Target="https://www.fda.gov/industry/fda-user-fee-programs/medical-device-user-fee-small-business-qualification-and-determination" TargetMode="External"/><Relationship Id="rL6" Type="http://schemas.openxmlformats.org/officeDocument/2006/relationships/hyperlink" Target="https://hangang.hallym.or.kr/index.asp" TargetMode="External"/><Relationship Id="rL7" Type="http://schemas.openxmlformats.org/officeDocument/2006/relationships/hyperlink" Target="https://www.medstarhealth.org/services/burn-center" TargetMode="External"/></Relationships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요청사항별 결론 — 한 장 요약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6개 요청에 대한 답과 근거 쪽수 · 공개자료 기준 (병원·CRO 실견적, KheAl 원가·판매가는 미확정)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15</a:t>
            </a:r>
            <a:endParaRPr lang="ko-KR" sz="800"/>
          </a:p>
        </p:txBody>
      </p:sp>
      <p:graphicFrame>
        <p:nvGraphicFramePr>
          <p:cNvPr id="8" name="Summary table"/>
          <p:cNvGraphicFramePr>
            <a:graphicFrameLocks noGrp="1"/>
          </p:cNvGraphicFramePr>
          <p:nvPr/>
        </p:nvGraphicFramePr>
        <p:xfrm>
          <a:off x="502920" y="1664208"/>
          <a:ext cx="11183112" cy="4057010"/>
        </p:xfrm>
        <a:graphic>
          <a:graphicData uri="http://schemas.openxmlformats.org/drawingml/2006/table">
            <a:tbl>
              <a:tblPr firstRow="1"/>
              <a:tblGrid>
                <a:gridCol w="2011680"/>
                <a:gridCol w="8074152"/>
                <a:gridCol w="1097280"/>
              </a:tblGrid>
              <a:tr h="34381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요청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결론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쪽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</a:tr>
              <a:tr h="6188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20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시장조사</a:t>
                      </a:r>
                      <a:endParaRPr lang="ko-KR" sz="1200"/>
                    </a:p>
                    <a:p>
                      <a:pPr marL="0" indent="0" algn="ctr">
                        <a:buNone/>
                      </a:pPr>
                      <a:r>
                        <a:rPr lang="ko-KR" sz="9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창상피복재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글로벌 16.2조원(2025) · 국내 3,319억원. KheAl 영역(폼 외 습윤 드레싱)은 글로벌 약 6.8조원 · 국내 약 221억원</a:t>
                      </a:r>
                      <a:endParaRPr lang="ko-KR" sz="11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20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16</a:t>
                      </a:r>
                      <a:endParaRPr lang="ko-KR" sz="12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</a:tr>
              <a:tr h="6188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20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경쟁사</a:t>
                      </a:r>
                      <a:endParaRPr lang="ko-KR" sz="1200"/>
                    </a:p>
                    <a:p>
                      <a:pPr marL="0" indent="0" algn="ctr">
                        <a:buNone/>
                      </a:pPr>
                      <a:r>
                        <a:rPr lang="ko-KR" sz="9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국내 · 해외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관련 14개 비교. 국내 케라틴 창상피복재는 확인되지 않음 → 벤치마크: 미국 KeraStat(510(k)) · 국내 JUVENCOLL(3등급 허가)</a:t>
                      </a:r>
                      <a:endParaRPr lang="ko-KR" sz="11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20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17–18</a:t>
                      </a:r>
                      <a:endParaRPr lang="ko-KR" sz="12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</a:tr>
              <a:tr h="6188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20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신청 가능 과제</a:t>
                      </a:r>
                      <a:endParaRPr lang="ko-KR" sz="1200"/>
                    </a:p>
                    <a:p>
                      <a:pPr marL="0" indent="0" algn="ctr">
                        <a:buNone/>
                      </a:pPr>
                      <a:r>
                        <a:rPr lang="ko-KR" sz="9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임상 · 인허가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지금 접수 중: 2026년 해외규격인증획득 지원사업 (3차, ~11.13, 의료기기 최대 1.5억). 2027: 범부처 첨단 의료기기 연구개발사업 등</a:t>
                      </a:r>
                      <a:endParaRPr lang="ko-KR" sz="11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20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24</a:t>
                      </a:r>
                      <a:endParaRPr lang="ko-KR" sz="12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</a:tr>
              <a:tr h="6188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20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예상 매출처</a:t>
                      </a:r>
                      <a:endParaRPr lang="ko-KR" sz="1200"/>
                    </a:p>
                    <a:p>
                      <a:pPr marL="0" indent="0" algn="ctr">
                        <a:buNone/>
                      </a:pPr>
                      <a:r>
                        <a:rPr lang="ko-KR" sz="9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식약처 · FDA 허가 후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국내: 화상전문병원 · 상급종합병원 · 창상 유통사 (급여 등재가 관문). 미국: ABA 화상센터 · GPO · 전국 유통사</a:t>
                      </a:r>
                      <a:endParaRPr lang="ko-KR" sz="11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20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24</a:t>
                      </a:r>
                      <a:endParaRPr lang="ko-KR" sz="12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</a:tr>
              <a:tr h="6188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20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FDA 추가 비용</a:t>
                      </a:r>
                      <a:endParaRPr lang="ko-KR" sz="1200"/>
                    </a:p>
                    <a:p>
                      <a:pPr marL="0" indent="0" algn="ctr">
                        <a:buNone/>
                      </a:pPr>
                      <a:r>
                        <a:rPr lang="ko-KR" sz="9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멕시코 견적 기반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KeraStat과 같은 510(k): FDA 고정비 약 0.29억 (중소기업 감면 시). 임상이 필요하면 멕시코 2.31억(VAT 포함 2.68억) · 미국 모델 7.36억</a:t>
                      </a:r>
                      <a:endParaRPr lang="ko-KR" sz="11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20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22</a:t>
                      </a:r>
                      <a:endParaRPr lang="ko-KR" sz="12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</a:tr>
              <a:tr h="6188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20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국내 임상비 · 5억 사용</a:t>
                      </a:r>
                      <a:endParaRPr lang="ko-KR" sz="1200"/>
                    </a:p>
                    <a:p>
                      <a:pPr marL="0" indent="0" algn="ctr">
                        <a:buNone/>
                      </a:pPr>
                      <a:r>
                        <a:rPr lang="ko-KR" sz="9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공개자료 계획 모델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국내 임상 5.00억 (성인 60명 · 2기관). 5억 사용 3안 비교 → 제안: 미국 510(k) 먼저 + 국내 임상은 정부과제 매칭</a:t>
                      </a:r>
                      <a:endParaRPr lang="ko-KR" sz="11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20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21, 22, 23</a:t>
                      </a:r>
                      <a:endParaRPr lang="ko-KR" sz="12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FDA MDUFA Fees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CORVIA COR-COT-25-013 (견적서 원본)</a:t>
            </a:r>
            <a:endParaRPr lang="ko-KR" sz="75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시장 — 경쟁구도와 KheAl 대상 시장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같은 줄 = 같은 지표 · 모두 원화 환산 (1달러 = 1,400원) · 글로벌과 국내는 조사 연도 · 기관이 달라 ‘크기 차이’만 참고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16</a:t>
            </a:r>
            <a:endParaRPr lang="ko-KR" sz="800"/>
          </a:p>
        </p:txBody>
      </p:sp>
      <p:sp>
        <p:nvSpPr>
          <p:cNvPr id="8" name="Share card"/>
          <p:cNvSpPr/>
          <p:nvPr/>
        </p:nvSpPr>
        <p:spPr>
          <a:xfrm>
            <a:off x="502920" y="1664208"/>
            <a:ext cx="4114800" cy="399684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9" name="Share title"/>
          <p:cNvSpPr txBox="1"/>
          <p:nvPr/>
        </p:nvSpPr>
        <p:spPr>
          <a:xfrm>
            <a:off x="658368" y="1750162"/>
            <a:ext cx="3840480" cy="515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100"/>
              </a:spcAft>
              <a:buNone/>
            </a:pPr>
            <a:r>
              <a:rPr lang="ko-KR" sz="12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글로벌 회사별 점유율</a:t>
            </a:r>
            <a:endParaRPr lang="ko-KR" sz="1100"/>
          </a:p>
          <a:p>
            <a:pPr marL="0" indent="0" algn="l">
              <a:spcAft>
                <a:spcPts val="100"/>
              </a:spcAft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Advanced Wound Management 2025 · 18.3조원 ($13.1B)</a:t>
            </a:r>
            <a:endParaRPr lang="ko-KR" sz="1100"/>
          </a:p>
        </p:txBody>
      </p:sp>
      <p:sp>
        <p:nvSpPr>
          <p:cNvPr id="10" name="Top4"/>
          <p:cNvSpPr/>
          <p:nvPr/>
        </p:nvSpPr>
        <p:spPr>
          <a:xfrm>
            <a:off x="658368" y="2351837"/>
            <a:ext cx="1673718" cy="429768"/>
          </a:xfrm>
          <a:prstGeom prst="rect">
            <a:avLst/>
          </a:prstGeom>
          <a:solidFill>
            <a:srgbClr val="102290"/>
          </a:solidFill>
          <a:ln>
            <a:noFill/>
          </a:ln>
        </p:spPr>
      </p:sp>
      <p:sp>
        <p:nvSpPr>
          <p:cNvPr id="11" name="Rest"/>
          <p:cNvSpPr/>
          <p:nvPr/>
        </p:nvSpPr>
        <p:spPr>
          <a:xfrm>
            <a:off x="2332086" y="2351837"/>
            <a:ext cx="2130186" cy="429768"/>
          </a:xfrm>
          <a:prstGeom prst="rect">
            <a:avLst/>
          </a:prstGeom>
          <a:solidFill>
            <a:srgbClr val="C9CCD6"/>
          </a:solidFill>
          <a:ln>
            <a:noFill/>
          </a:ln>
        </p:spPr>
      </p:sp>
      <p:sp>
        <p:nvSpPr>
          <p:cNvPr id="12" name="Top4 l"/>
          <p:cNvSpPr txBox="1"/>
          <p:nvPr/>
        </p:nvSpPr>
        <p:spPr>
          <a:xfrm>
            <a:off x="658368" y="2351837"/>
            <a:ext cx="1673718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1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상위 4개사 44%</a:t>
            </a:r>
            <a:endParaRPr lang="ko-KR" sz="1150"/>
          </a:p>
        </p:txBody>
      </p:sp>
      <p:sp>
        <p:nvSpPr>
          <p:cNvPr id="13" name="Rest l"/>
          <p:cNvSpPr txBox="1"/>
          <p:nvPr/>
        </p:nvSpPr>
        <p:spPr>
          <a:xfrm>
            <a:off x="2332086" y="2351837"/>
            <a:ext cx="213018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1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기타 56%</a:t>
            </a:r>
            <a:endParaRPr lang="ko-KR" sz="1150"/>
          </a:p>
        </p:txBody>
      </p:sp>
      <p:sp>
        <p:nvSpPr>
          <p:cNvPr id="14" name="Co 0"/>
          <p:cNvSpPr txBox="1"/>
          <p:nvPr/>
        </p:nvSpPr>
        <p:spPr>
          <a:xfrm>
            <a:off x="658368" y="2996489"/>
            <a:ext cx="1325880" cy="361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Smith+Nephew</a:t>
            </a:r>
            <a:endParaRPr lang="ko-KR" sz="1100"/>
          </a:p>
        </p:txBody>
      </p:sp>
      <p:sp>
        <p:nvSpPr>
          <p:cNvPr id="15" name="Tr 0"/>
          <p:cNvSpPr/>
          <p:nvPr/>
        </p:nvSpPr>
        <p:spPr>
          <a:xfrm>
            <a:off x="2011680" y="3073847"/>
            <a:ext cx="1874520" cy="206289"/>
          </a:xfrm>
          <a:prstGeom prst="roundRect">
            <a:avLst>
              <a:gd name="adj" fmla="val 50000"/>
            </a:avLst>
          </a:prstGeom>
          <a:solidFill>
            <a:srgbClr val="EEF0F4"/>
          </a:solidFill>
          <a:ln>
            <a:noFill/>
          </a:ln>
        </p:spPr>
      </p:sp>
      <p:sp>
        <p:nvSpPr>
          <p:cNvPr id="16" name="Br 0"/>
          <p:cNvSpPr/>
          <p:nvPr/>
        </p:nvSpPr>
        <p:spPr>
          <a:xfrm>
            <a:off x="2011680" y="3073847"/>
            <a:ext cx="1874520" cy="206289"/>
          </a:xfrm>
          <a:prstGeom prst="roundRect">
            <a:avLst>
              <a:gd name="adj" fmla="val 50000"/>
            </a:avLst>
          </a:prstGeom>
          <a:solidFill>
            <a:srgbClr val="437DFF"/>
          </a:solidFill>
          <a:ln>
            <a:noFill/>
          </a:ln>
        </p:spPr>
      </p:sp>
      <p:sp>
        <p:nvSpPr>
          <p:cNvPr id="17" name="Va 0"/>
          <p:cNvSpPr txBox="1"/>
          <p:nvPr/>
        </p:nvSpPr>
        <p:spPr>
          <a:xfrm>
            <a:off x="3931920" y="2996489"/>
            <a:ext cx="566928" cy="361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13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14%</a:t>
            </a:r>
            <a:endParaRPr lang="ko-KR" sz="1300"/>
          </a:p>
        </p:txBody>
      </p:sp>
      <p:sp>
        <p:nvSpPr>
          <p:cNvPr id="18" name="Co 1"/>
          <p:cNvSpPr txBox="1"/>
          <p:nvPr/>
        </p:nvSpPr>
        <p:spPr>
          <a:xfrm>
            <a:off x="658368" y="3512210"/>
            <a:ext cx="1325880" cy="361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Solventum</a:t>
            </a:r>
            <a:endParaRPr lang="ko-KR" sz="1100"/>
          </a:p>
        </p:txBody>
      </p:sp>
      <p:sp>
        <p:nvSpPr>
          <p:cNvPr id="19" name="Tr 1"/>
          <p:cNvSpPr/>
          <p:nvPr/>
        </p:nvSpPr>
        <p:spPr>
          <a:xfrm>
            <a:off x="2011680" y="3589569"/>
            <a:ext cx="1874520" cy="206289"/>
          </a:xfrm>
          <a:prstGeom prst="roundRect">
            <a:avLst>
              <a:gd name="adj" fmla="val 50000"/>
            </a:avLst>
          </a:prstGeom>
          <a:solidFill>
            <a:srgbClr val="EEF0F4"/>
          </a:solidFill>
          <a:ln>
            <a:noFill/>
          </a:ln>
        </p:spPr>
      </p:sp>
      <p:sp>
        <p:nvSpPr>
          <p:cNvPr id="20" name="Br 1"/>
          <p:cNvSpPr/>
          <p:nvPr/>
        </p:nvSpPr>
        <p:spPr>
          <a:xfrm>
            <a:off x="2011680" y="3589569"/>
            <a:ext cx="1874520" cy="206289"/>
          </a:xfrm>
          <a:prstGeom prst="roundRect">
            <a:avLst>
              <a:gd name="adj" fmla="val 50000"/>
            </a:avLst>
          </a:prstGeom>
          <a:solidFill>
            <a:srgbClr val="102290"/>
          </a:solidFill>
          <a:ln>
            <a:noFill/>
          </a:ln>
        </p:spPr>
      </p:sp>
      <p:sp>
        <p:nvSpPr>
          <p:cNvPr id="21" name="Va 1"/>
          <p:cNvSpPr txBox="1"/>
          <p:nvPr/>
        </p:nvSpPr>
        <p:spPr>
          <a:xfrm>
            <a:off x="3931920" y="3512210"/>
            <a:ext cx="566928" cy="361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13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14%</a:t>
            </a:r>
            <a:endParaRPr lang="ko-KR" sz="1300"/>
          </a:p>
        </p:txBody>
      </p:sp>
      <p:sp>
        <p:nvSpPr>
          <p:cNvPr id="22" name="Co 2"/>
          <p:cNvSpPr txBox="1"/>
          <p:nvPr/>
        </p:nvSpPr>
        <p:spPr>
          <a:xfrm>
            <a:off x="658368" y="4027932"/>
            <a:ext cx="1325880" cy="361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Mölnlycke</a:t>
            </a:r>
            <a:endParaRPr lang="ko-KR" sz="1100"/>
          </a:p>
        </p:txBody>
      </p:sp>
      <p:sp>
        <p:nvSpPr>
          <p:cNvPr id="23" name="Tr 2"/>
          <p:cNvSpPr/>
          <p:nvPr/>
        </p:nvSpPr>
        <p:spPr>
          <a:xfrm>
            <a:off x="2011680" y="4105290"/>
            <a:ext cx="1874520" cy="206289"/>
          </a:xfrm>
          <a:prstGeom prst="roundRect">
            <a:avLst>
              <a:gd name="adj" fmla="val 50000"/>
            </a:avLst>
          </a:prstGeom>
          <a:solidFill>
            <a:srgbClr val="EEF0F4"/>
          </a:solidFill>
          <a:ln>
            <a:noFill/>
          </a:ln>
        </p:spPr>
      </p:sp>
      <p:sp>
        <p:nvSpPr>
          <p:cNvPr id="24" name="Br 2"/>
          <p:cNvSpPr/>
          <p:nvPr/>
        </p:nvSpPr>
        <p:spPr>
          <a:xfrm>
            <a:off x="2011680" y="4105290"/>
            <a:ext cx="1338943" cy="206289"/>
          </a:xfrm>
          <a:prstGeom prst="roundRect">
            <a:avLst>
              <a:gd name="adj" fmla="val 50000"/>
            </a:avLst>
          </a:prstGeom>
          <a:solidFill>
            <a:srgbClr val="6F8BD8"/>
          </a:solidFill>
          <a:ln>
            <a:noFill/>
          </a:ln>
        </p:spPr>
      </p:sp>
      <p:sp>
        <p:nvSpPr>
          <p:cNvPr id="25" name="Va 2"/>
          <p:cNvSpPr txBox="1"/>
          <p:nvPr/>
        </p:nvSpPr>
        <p:spPr>
          <a:xfrm>
            <a:off x="3931920" y="4027932"/>
            <a:ext cx="566928" cy="361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1300" b="1">
                <a:solidFill>
                  <a:srgbClr val="6F8BD8"/>
                </a:solidFill>
                <a:latin typeface="210 옴니고딕 050"/>
                <a:ea typeface="210 옴니고딕 050"/>
                <a:cs typeface="210 옴니고딕 050"/>
              </a:rPr>
              <a:t>10%</a:t>
            </a:r>
            <a:endParaRPr lang="ko-KR" sz="1300"/>
          </a:p>
        </p:txBody>
      </p:sp>
      <p:sp>
        <p:nvSpPr>
          <p:cNvPr id="26" name="Co 3"/>
          <p:cNvSpPr txBox="1"/>
          <p:nvPr/>
        </p:nvSpPr>
        <p:spPr>
          <a:xfrm>
            <a:off x="658368" y="4543654"/>
            <a:ext cx="1325880" cy="361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ConvaTec</a:t>
            </a:r>
            <a:endParaRPr lang="ko-KR" sz="1100"/>
          </a:p>
        </p:txBody>
      </p:sp>
      <p:sp>
        <p:nvSpPr>
          <p:cNvPr id="27" name="Tr 3"/>
          <p:cNvSpPr/>
          <p:nvPr/>
        </p:nvSpPr>
        <p:spPr>
          <a:xfrm>
            <a:off x="2011680" y="4621012"/>
            <a:ext cx="1874520" cy="206289"/>
          </a:xfrm>
          <a:prstGeom prst="roundRect">
            <a:avLst>
              <a:gd name="adj" fmla="val 50000"/>
            </a:avLst>
          </a:prstGeom>
          <a:solidFill>
            <a:srgbClr val="EEF0F4"/>
          </a:solidFill>
          <a:ln>
            <a:noFill/>
          </a:ln>
        </p:spPr>
      </p:sp>
      <p:sp>
        <p:nvSpPr>
          <p:cNvPr id="28" name="Br 3"/>
          <p:cNvSpPr/>
          <p:nvPr/>
        </p:nvSpPr>
        <p:spPr>
          <a:xfrm>
            <a:off x="2011680" y="4621012"/>
            <a:ext cx="803366" cy="206289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</p:sp>
      <p:sp>
        <p:nvSpPr>
          <p:cNvPr id="29" name="Va 3"/>
          <p:cNvSpPr txBox="1"/>
          <p:nvPr/>
        </p:nvSpPr>
        <p:spPr>
          <a:xfrm>
            <a:off x="3931920" y="4543654"/>
            <a:ext cx="566928" cy="361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130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6%</a:t>
            </a:r>
            <a:endParaRPr lang="ko-KR" sz="1300"/>
          </a:p>
        </p:txBody>
      </p:sp>
      <p:sp>
        <p:nvSpPr>
          <p:cNvPr id="30" name="Share note"/>
          <p:cNvSpPr txBox="1"/>
          <p:nvPr/>
        </p:nvSpPr>
        <p:spPr>
          <a:xfrm>
            <a:off x="658368" y="5102352"/>
            <a:ext cx="3840480" cy="4727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회사 전체 점유율 — 개별 제품(Mepilex · AQUACEL · KeraStat) 점유율 아님</a:t>
            </a:r>
            <a:endParaRPr lang="ko-KR" sz="950"/>
          </a:p>
        </p:txBody>
      </p:sp>
      <p:sp>
        <p:nvSpPr>
          <p:cNvPr id="31" name="G head back"/>
          <p:cNvSpPr/>
          <p:nvPr/>
        </p:nvSpPr>
        <p:spPr>
          <a:xfrm>
            <a:off x="6569054" y="1664208"/>
            <a:ext cx="2331720" cy="309433"/>
          </a:xfrm>
          <a:prstGeom prst="parallelogram">
            <a:avLst/>
          </a:prstGeom>
          <a:solidFill>
            <a:srgbClr val="7030A0"/>
          </a:solidFill>
          <a:ln>
            <a:noFill/>
          </a:ln>
        </p:spPr>
      </p:sp>
      <p:sp>
        <p:nvSpPr>
          <p:cNvPr id="32" name="G head"/>
          <p:cNvSpPr txBox="1"/>
          <p:nvPr/>
        </p:nvSpPr>
        <p:spPr>
          <a:xfrm>
            <a:off x="6633062" y="1664208"/>
            <a:ext cx="2203704" cy="309433"/>
          </a:xfrm>
          <a:prstGeom prst="parallelogram">
            <a:avLst/>
          </a:prstGeom>
          <a:solidFill>
            <a:srgbClr val="3B3F5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1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글로벌 · 미국</a:t>
            </a:r>
            <a:endParaRPr lang="ko-KR" sz="1100"/>
          </a:p>
        </p:txBody>
      </p:sp>
      <p:sp>
        <p:nvSpPr>
          <p:cNvPr id="33" name="K head back"/>
          <p:cNvSpPr/>
          <p:nvPr/>
        </p:nvSpPr>
        <p:spPr>
          <a:xfrm>
            <a:off x="9529917" y="1664208"/>
            <a:ext cx="1828800" cy="309433"/>
          </a:xfrm>
          <a:prstGeom prst="parallelogram">
            <a:avLst/>
          </a:prstGeom>
          <a:solidFill>
            <a:srgbClr val="7030A0"/>
          </a:solidFill>
          <a:ln>
            <a:noFill/>
          </a:ln>
        </p:spPr>
      </p:sp>
      <p:sp>
        <p:nvSpPr>
          <p:cNvPr id="34" name="K head"/>
          <p:cNvSpPr txBox="1"/>
          <p:nvPr/>
        </p:nvSpPr>
        <p:spPr>
          <a:xfrm>
            <a:off x="9593925" y="1664208"/>
            <a:ext cx="1700784" cy="309433"/>
          </a:xfrm>
          <a:prstGeom prst="parallelogram">
            <a:avLst/>
          </a:prstGeom>
          <a:solidFill>
            <a:srgbClr val="3B3F5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1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국내</a:t>
            </a:r>
            <a:endParaRPr lang="ko-KR" sz="1100"/>
          </a:p>
        </p:txBody>
      </p:sp>
      <p:sp>
        <p:nvSpPr>
          <p:cNvPr id="36" name="Row 0"/>
          <p:cNvSpPr/>
          <p:nvPr/>
        </p:nvSpPr>
        <p:spPr>
          <a:xfrm>
            <a:off x="4800600" y="2093976"/>
            <a:ext cx="6885432" cy="110020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37" name="Nm 0"/>
          <p:cNvSpPr txBox="1"/>
          <p:nvPr/>
        </p:nvSpPr>
        <p:spPr>
          <a:xfrm>
            <a:off x="4910328" y="2197120"/>
            <a:ext cx="1600200" cy="3438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① 창상피복재 전체</a:t>
            </a:r>
            <a:endParaRPr lang="ko-KR" sz="1200"/>
          </a:p>
        </p:txBody>
      </p:sp>
      <p:sp>
        <p:nvSpPr>
          <p:cNvPr id="38" name="Sb 0"/>
          <p:cNvSpPr txBox="1"/>
          <p:nvPr/>
        </p:nvSpPr>
        <p:spPr>
          <a:xfrm>
            <a:off x="4910328" y="2540935"/>
            <a:ext cx="1600200" cy="6016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드레싱 시장 전체</a:t>
            </a:r>
            <a:endParaRPr lang="ko-KR" sz="900"/>
          </a:p>
        </p:txBody>
      </p:sp>
      <p:sp>
        <p:nvSpPr>
          <p:cNvPr id="39" name="Gb 0"/>
          <p:cNvSpPr txBox="1"/>
          <p:nvPr/>
        </p:nvSpPr>
        <p:spPr>
          <a:xfrm>
            <a:off x="7175889" y="2179930"/>
            <a:ext cx="237744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21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16.2조원</a:t>
            </a:r>
            <a:endParaRPr lang="ko-KR" sz="2100"/>
          </a:p>
        </p:txBody>
      </p:sp>
      <p:sp>
        <p:nvSpPr>
          <p:cNvPr id="40" name="Gs 0"/>
          <p:cNvSpPr txBox="1"/>
          <p:nvPr/>
        </p:nvSpPr>
        <p:spPr>
          <a:xfrm>
            <a:off x="7175889" y="2626888"/>
            <a:ext cx="2377440" cy="515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100"/>
              </a:spcAft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2025 · 2030년 22.3조원</a:t>
            </a:r>
            <a:endParaRPr lang="ko-KR" sz="1100"/>
          </a:p>
          <a:p>
            <a:pPr marL="0" indent="0" algn="l">
              <a:spcAft>
                <a:spcPts val="100"/>
              </a:spcAft>
              <a:buNone/>
            </a:pPr>
            <a:r>
              <a:rPr lang="ko-KR" sz="9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미국 2.8조원</a:t>
            </a:r>
            <a:endParaRPr lang="ko-KR" sz="1100"/>
          </a:p>
        </p:txBody>
      </p:sp>
      <p:sp>
        <p:nvSpPr>
          <p:cNvPr id="41" name="Kb 0"/>
          <p:cNvSpPr txBox="1"/>
          <p:nvPr/>
        </p:nvSpPr>
        <p:spPr>
          <a:xfrm>
            <a:off x="9529917" y="2179930"/>
            <a:ext cx="187452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210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3,319억원</a:t>
            </a:r>
            <a:endParaRPr lang="ko-KR" sz="2100"/>
          </a:p>
        </p:txBody>
      </p:sp>
      <p:sp>
        <p:nvSpPr>
          <p:cNvPr id="42" name="Ks 0"/>
          <p:cNvSpPr txBox="1"/>
          <p:nvPr/>
        </p:nvSpPr>
        <p:spPr>
          <a:xfrm>
            <a:off x="9529917" y="2626888"/>
            <a:ext cx="1874520" cy="4727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2022 · 최종 구입가</a:t>
            </a:r>
            <a:endParaRPr lang="ko-KR" sz="950"/>
          </a:p>
        </p:txBody>
      </p:sp>
      <p:sp>
        <p:nvSpPr>
          <p:cNvPr id="44" name="Row 1"/>
          <p:cNvSpPr/>
          <p:nvPr/>
        </p:nvSpPr>
        <p:spPr>
          <a:xfrm>
            <a:off x="4800600" y="3297326"/>
            <a:ext cx="6885432" cy="110020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45" name="Nm 1"/>
          <p:cNvSpPr txBox="1"/>
          <p:nvPr/>
        </p:nvSpPr>
        <p:spPr>
          <a:xfrm>
            <a:off x="4910328" y="3400471"/>
            <a:ext cx="1600200" cy="3438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② 첨단 드레싱</a:t>
            </a:r>
            <a:endParaRPr lang="ko-KR" sz="1200"/>
          </a:p>
        </p:txBody>
      </p:sp>
      <p:sp>
        <p:nvSpPr>
          <p:cNvPr id="46" name="Sb 1"/>
          <p:cNvSpPr txBox="1"/>
          <p:nvPr/>
        </p:nvSpPr>
        <p:spPr>
          <a:xfrm>
            <a:off x="4910328" y="3744285"/>
            <a:ext cx="1600200" cy="6016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폼 + 습윤 계열 (거즈 · 음압 제외)</a:t>
            </a:r>
            <a:endParaRPr lang="ko-KR" sz="900"/>
          </a:p>
        </p:txBody>
      </p:sp>
      <p:sp>
        <p:nvSpPr>
          <p:cNvPr id="47" name="Gb 1"/>
          <p:cNvSpPr txBox="1"/>
          <p:nvPr/>
        </p:nvSpPr>
        <p:spPr>
          <a:xfrm>
            <a:off x="7175889" y="3383280"/>
            <a:ext cx="237744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21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9.0조원</a:t>
            </a:r>
            <a:endParaRPr lang="ko-KR" sz="2100"/>
          </a:p>
        </p:txBody>
      </p:sp>
      <p:sp>
        <p:nvSpPr>
          <p:cNvPr id="48" name="Gs 1"/>
          <p:cNvSpPr txBox="1"/>
          <p:nvPr/>
        </p:nvSpPr>
        <p:spPr>
          <a:xfrm>
            <a:off x="7175889" y="3830239"/>
            <a:ext cx="2377440" cy="515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100"/>
              </a:spcAft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2025 · 2030년 13.2조원</a:t>
            </a:r>
            <a:endParaRPr lang="ko-KR" sz="1100"/>
          </a:p>
        </p:txBody>
      </p:sp>
      <p:sp>
        <p:nvSpPr>
          <p:cNvPr id="49" name="Kb 1"/>
          <p:cNvSpPr txBox="1"/>
          <p:nvPr/>
        </p:nvSpPr>
        <p:spPr>
          <a:xfrm>
            <a:off x="9529917" y="3383280"/>
            <a:ext cx="187452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210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1,307억원</a:t>
            </a:r>
            <a:endParaRPr lang="ko-KR" sz="2100"/>
          </a:p>
        </p:txBody>
      </p:sp>
      <p:sp>
        <p:nvSpPr>
          <p:cNvPr id="50" name="Ks 1"/>
          <p:cNvSpPr txBox="1"/>
          <p:nvPr/>
        </p:nvSpPr>
        <p:spPr>
          <a:xfrm>
            <a:off x="9529917" y="3830239"/>
            <a:ext cx="1874520" cy="4727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2022 · 급여 청구 기준</a:t>
            </a:r>
            <a:endParaRPr lang="ko-KR" sz="950"/>
          </a:p>
        </p:txBody>
      </p:sp>
      <p:sp>
        <p:nvSpPr>
          <p:cNvPr id="52" name="Row 2"/>
          <p:cNvSpPr/>
          <p:nvPr/>
        </p:nvSpPr>
        <p:spPr>
          <a:xfrm>
            <a:off x="4800600" y="4500677"/>
            <a:ext cx="6885432" cy="1100206"/>
          </a:xfrm>
          <a:prstGeom prst="roundRect">
            <a:avLst>
              <a:gd name="adj" fmla="val 4000"/>
            </a:avLst>
          </a:prstGeom>
          <a:solidFill>
            <a:srgbClr val="E6E9F5"/>
          </a:solidFill>
          <a:ln w="9525">
            <a:solidFill>
              <a:srgbClr val="102290"/>
            </a:solidFill>
          </a:ln>
        </p:spPr>
      </p:sp>
      <p:sp>
        <p:nvSpPr>
          <p:cNvPr id="53" name="Nm 2"/>
          <p:cNvSpPr txBox="1"/>
          <p:nvPr/>
        </p:nvSpPr>
        <p:spPr>
          <a:xfrm>
            <a:off x="4910328" y="4603821"/>
            <a:ext cx="1600200" cy="3438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③ 폼 외 습윤 드레싱</a:t>
            </a:r>
            <a:endParaRPr lang="ko-KR" sz="1200"/>
          </a:p>
        </p:txBody>
      </p:sp>
      <p:sp>
        <p:nvSpPr>
          <p:cNvPr id="54" name="Sb 2"/>
          <p:cNvSpPr txBox="1"/>
          <p:nvPr/>
        </p:nvSpPr>
        <p:spPr>
          <a:xfrm>
            <a:off x="4910328" y="4947636"/>
            <a:ext cx="1600200" cy="6016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KheAl 영역 (하이드로겔 · 하이드로콜로이드 · 알지네이트 등)</a:t>
            </a:r>
            <a:endParaRPr lang="ko-KR" sz="900"/>
          </a:p>
        </p:txBody>
      </p:sp>
      <p:sp>
        <p:nvSpPr>
          <p:cNvPr id="55" name="Gb 2"/>
          <p:cNvSpPr txBox="1"/>
          <p:nvPr/>
        </p:nvSpPr>
        <p:spPr>
          <a:xfrm>
            <a:off x="7175889" y="4586630"/>
            <a:ext cx="237744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21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약 6.8조원</a:t>
            </a:r>
            <a:endParaRPr lang="ko-KR" sz="2100"/>
          </a:p>
        </p:txBody>
      </p:sp>
      <p:sp>
        <p:nvSpPr>
          <p:cNvPr id="56" name="Gs 2"/>
          <p:cNvSpPr txBox="1"/>
          <p:nvPr/>
        </p:nvSpPr>
        <p:spPr>
          <a:xfrm>
            <a:off x="7175889" y="5033589"/>
            <a:ext cx="2377440" cy="515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100"/>
              </a:spcAft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첨단 × (1 − 폼 23.6%) 추정</a:t>
            </a:r>
            <a:endParaRPr lang="ko-KR" sz="1100"/>
          </a:p>
        </p:txBody>
      </p:sp>
      <p:sp>
        <p:nvSpPr>
          <p:cNvPr id="57" name="Kb 2"/>
          <p:cNvSpPr txBox="1"/>
          <p:nvPr/>
        </p:nvSpPr>
        <p:spPr>
          <a:xfrm>
            <a:off x="9529917" y="4586630"/>
            <a:ext cx="187452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21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약 221억원</a:t>
            </a:r>
            <a:endParaRPr lang="ko-KR" sz="2100"/>
          </a:p>
        </p:txBody>
      </p:sp>
      <p:sp>
        <p:nvSpPr>
          <p:cNvPr id="58" name="Ks 2"/>
          <p:cNvSpPr txBox="1"/>
          <p:nvPr/>
        </p:nvSpPr>
        <p:spPr>
          <a:xfrm>
            <a:off x="9529917" y="5033589"/>
            <a:ext cx="1874520" cy="4727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급여 청구 중 14%</a:t>
            </a:r>
            <a:endParaRPr lang="ko-KR" sz="950"/>
          </a:p>
        </p:txBody>
      </p:sp>
      <p:sp>
        <p:nvSpPr>
          <p:cNvPr id="60" name="Key box"/>
          <p:cNvSpPr/>
          <p:nvPr/>
        </p:nvSpPr>
        <p:spPr>
          <a:xfrm>
            <a:off x="502920" y="5807172"/>
            <a:ext cx="11183112" cy="429768"/>
          </a:xfrm>
          <a:prstGeom prst="roundRect">
            <a:avLst>
              <a:gd name="adj" fmla="val 12000"/>
            </a:avLst>
          </a:prstGeom>
          <a:solidFill>
            <a:srgbClr val="E6E9F5"/>
          </a:solidFill>
          <a:ln>
            <a:noFill/>
          </a:ln>
        </p:spPr>
      </p:sp>
      <p:sp>
        <p:nvSpPr>
          <p:cNvPr id="61" name="Key label"/>
          <p:cNvSpPr txBox="1"/>
          <p:nvPr/>
        </p:nvSpPr>
        <p:spPr>
          <a:xfrm>
            <a:off x="640080" y="5893125"/>
            <a:ext cx="685800" cy="257861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핵심</a:t>
            </a:r>
            <a:endParaRPr lang="ko-KR" sz="1000"/>
          </a:p>
        </p:txBody>
      </p:sp>
      <p:sp>
        <p:nvSpPr>
          <p:cNvPr id="62" name="Key text"/>
          <p:cNvSpPr txBox="1"/>
          <p:nvPr/>
        </p:nvSpPr>
        <p:spPr>
          <a:xfrm>
            <a:off x="1463040" y="5807172"/>
            <a:ext cx="1005840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KheAl 영역(폼 외 습윤 드레싱) = 글로벌 약 6.8조원 · 국내 약 221억원 → 국내는 작은 틈새, 해외 진출(510(k))을 함께 가야 하는 이유</a:t>
            </a:r>
            <a:endParaRPr lang="ko-KR" sz="1250"/>
          </a:p>
        </p:txBody>
      </p:sp>
      <p:sp>
        <p:nvSpPr>
          <p:cNvPr id="63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Smith+Nephew 2025 Annual Report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MarketsandMarkets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3"/>
              </a:rPr>
              <a:t>MarketsandMarkets US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4"/>
              </a:rPr>
              <a:t>Grand View Research (폼 23.6%)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5"/>
              </a:rPr>
              <a:t>KIND 티앤엘 2025 공시</a:t>
            </a:r>
            <a:endParaRPr lang="ko-KR" sz="75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경쟁제품 — 국내 · 해외 관련 제품 14개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‘바르는 겔’ 6개가 직접 경쟁 · 국내 케라틴 창상피복재는 확인되지 않음 · 해외 케라틴 3종 중 KeraStat이 핵심 벤치마크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17</a:t>
            </a:r>
            <a:endParaRPr lang="ko-KR" sz="800"/>
          </a:p>
        </p:txBody>
      </p:sp>
      <p:graphicFrame>
        <p:nvGraphicFramePr>
          <p:cNvPr id="8" name="Competitors"/>
          <p:cNvGraphicFramePr>
            <a:graphicFrameLocks noGrp="1"/>
          </p:cNvGraphicFramePr>
          <p:nvPr/>
        </p:nvGraphicFramePr>
        <p:xfrm>
          <a:off x="502920" y="1664208"/>
          <a:ext cx="11183112" cy="4005438"/>
        </p:xfrm>
        <a:graphic>
          <a:graphicData uri="http://schemas.openxmlformats.org/drawingml/2006/table">
            <a:tbl>
              <a:tblPr firstRow="1"/>
              <a:tblGrid>
                <a:gridCol w="960120"/>
                <a:gridCol w="2240280"/>
                <a:gridCol w="548640"/>
                <a:gridCol w="2286000"/>
                <a:gridCol w="2011680"/>
                <a:gridCol w="1901952"/>
                <a:gridCol w="1234440"/>
              </a:tblGrid>
              <a:tr h="2750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구분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제품 · 회사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지역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형태 · 핵심 성분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주 용도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KheAl 대비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관계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</a:tr>
              <a:tr h="266456">
                <a:tc rowSpan="6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3B3B3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바르는 겔</a:t>
                      </a:r>
                      <a:endParaRPr lang="ko-KR" sz="1000"/>
                    </a:p>
                    <a:p>
                      <a:pPr marL="0" indent="0" algn="ctr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하이드로겔</a:t>
                      </a:r>
                      <a:endParaRPr lang="ko-KR" sz="8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JUVENCOLL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디메드리소스 · 제허 19-314호</a:t>
                      </a:r>
                      <a:endParaRPr lang="ko-KR" sz="8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7030A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국내</a:t>
                      </a:r>
                      <a:endParaRPr lang="ko-KR" sz="95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하이드로겔 기반 창상피복재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창상 관리 · 삼출물 흡수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국내 허가 선례 (3등급)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0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직접 경쟁</a:t>
                      </a:r>
                      <a:endParaRPr lang="ko-KR" sz="900"/>
                    </a:p>
                  </a:txBody>
                  <a:tcPr marL="27432" marR="27432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102290"/>
                    </a:solidFill>
                  </a:tcPr>
                </a:tc>
              </a:tr>
              <a:tr h="266456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써지큐어 Surgicure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티앤알바이오팹</a:t>
                      </a:r>
                      <a:endParaRPr lang="ko-KR" sz="8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7030A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국내</a:t>
                      </a:r>
                      <a:endParaRPr lang="ko-KR" sz="95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국소 하이드로겔 · 돼지 유래 ECM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상처 보호 · 흉터 관리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바르는 겔 · 2등급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0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직접 경쟁</a:t>
                      </a:r>
                      <a:endParaRPr lang="ko-KR" sz="900"/>
                    </a:p>
                  </a:txBody>
                  <a:tcPr marL="27432" marR="27432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102290"/>
                    </a:solidFill>
                  </a:tcPr>
                </a:tc>
              </a:tr>
              <a:tr h="266456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메디폼® H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제네웰 · 제인 08-306호</a:t>
                      </a:r>
                      <a:endParaRPr lang="ko-KR" sz="8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7030A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국내</a:t>
                      </a:r>
                      <a:endParaRPr lang="ko-KR" sz="95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패치형 하이드로겔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가벼운 상처 보호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붙이는 형태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0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일부 겹침</a:t>
                      </a:r>
                      <a:endParaRPr lang="ko-KR" sz="900"/>
                    </a:p>
                  </a:txBody>
                  <a:tcPr marL="27432" marR="27432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437DFF"/>
                    </a:solidFill>
                  </a:tcPr>
                </a:tc>
              </a:tr>
              <a:tr h="266456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IntraSite Gel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Smith+Nephew</a:t>
                      </a:r>
                      <a:endParaRPr lang="ko-KR" sz="8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437D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해외</a:t>
                      </a:r>
                      <a:endParaRPr lang="ko-KR" sz="95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무정형 하이드로겔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괴사조직 제거 · 화상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케라틴 없음 · 같은 사용 상황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0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직접 경쟁</a:t>
                      </a:r>
                      <a:endParaRPr lang="ko-KR" sz="900"/>
                    </a:p>
                  </a:txBody>
                  <a:tcPr marL="27432" marR="27432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102290"/>
                    </a:solidFill>
                  </a:tcPr>
                </a:tc>
              </a:tr>
              <a:tr h="266456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Purilon® Gel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Coloplast</a:t>
                      </a:r>
                      <a:endParaRPr lang="ko-KR" sz="8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437D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해외</a:t>
                      </a:r>
                      <a:endParaRPr lang="ko-KR" sz="95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CMC + 칼슘 알지네이트 겔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건조 · 괴사 상처 · 1~2도 화상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알지네이트 겔 — 조성 가장 유사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0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직접 경쟁</a:t>
                      </a:r>
                      <a:endParaRPr lang="ko-KR" sz="900"/>
                    </a:p>
                  </a:txBody>
                  <a:tcPr marL="27432" marR="27432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102290"/>
                    </a:solidFill>
                  </a:tcPr>
                </a:tc>
              </a:tr>
              <a:tr h="266456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Nu-Gel™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Solventum</a:t>
                      </a:r>
                      <a:endParaRPr lang="ko-KR" sz="8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437D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해외</a:t>
                      </a:r>
                      <a:endParaRPr lang="ko-KR" sz="95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하이드로겔 + 알지네이트나트륨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수분 공급 · 자가용해 보조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알지네이트 겔 선례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0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직접 경쟁</a:t>
                      </a:r>
                      <a:endParaRPr lang="ko-KR" sz="900"/>
                    </a:p>
                  </a:txBody>
                  <a:tcPr marL="27432" marR="27432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102290"/>
                    </a:solidFill>
                  </a:tcPr>
                </a:tc>
              </a:tr>
              <a:tr h="266456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3B3B3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케라틴</a:t>
                      </a:r>
                      <a:endParaRPr lang="ko-KR" sz="1000"/>
                    </a:p>
                    <a:p>
                      <a:pPr marL="0" indent="0" algn="ctr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같은 원료</a:t>
                      </a:r>
                      <a:endParaRPr lang="ko-KR" sz="8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KeraStat® Gel · Cream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KeraNetics · FDA K162759 / K192386</a:t>
                      </a:r>
                      <a:endParaRPr lang="ko-KR" sz="8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E6E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437D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해외</a:t>
                      </a:r>
                      <a:endParaRPr lang="ko-KR" sz="95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E6E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5% 사람 모발 케라틴 겔 · 크림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E6E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부분층 화상 · 피부 손상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E6E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다음 장 상세 비교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E6E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0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핵심 벤치마크</a:t>
                      </a:r>
                      <a:endParaRPr lang="ko-KR" sz="900"/>
                    </a:p>
                  </a:txBody>
                  <a:tcPr marL="27432" marR="27432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102290"/>
                    </a:solidFill>
                  </a:tcPr>
                </a:tc>
              </a:tr>
              <a:tr h="266456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ProgenaMatrix®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ProgenaCare · FDA K182010</a:t>
                      </a:r>
                      <a:endParaRPr lang="ko-KR" sz="8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437D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해외</a:t>
                      </a:r>
                      <a:endParaRPr lang="ko-KR" sz="95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사람 모발 케라틴 매트릭스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부분·전층 창상 · 1~2도 화상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같은 원료 · 시트형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0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원료 동일</a:t>
                      </a:r>
                      <a:endParaRPr lang="ko-KR" sz="900"/>
                    </a:p>
                  </a:txBody>
                  <a:tcPr marL="27432" marR="27432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7030A0"/>
                    </a:solidFill>
                  </a:tcPr>
                </a:tc>
              </a:tr>
              <a:tr h="266456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Keramatrix®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Biowound Solutions</a:t>
                      </a:r>
                      <a:endParaRPr lang="ko-KR" sz="8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437D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해외</a:t>
                      </a:r>
                      <a:endParaRPr lang="ko-KR" sz="95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양모 유래 케라틴 드레싱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부분·전층 창상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양모 케라틴 · 시트형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0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원료 유사</a:t>
                      </a:r>
                      <a:endParaRPr lang="ko-KR" sz="900"/>
                    </a:p>
                  </a:txBody>
                  <a:tcPr marL="27432" marR="27432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7030A0"/>
                    </a:solidFill>
                  </a:tcPr>
                </a:tc>
              </a:tr>
              <a:tr h="266456">
                <a:tc row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3B3B3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콜라겐 · HA</a:t>
                      </a:r>
                      <a:endParaRPr lang="ko-KR" sz="1000"/>
                    </a:p>
                    <a:p>
                      <a:pPr marL="0" indent="0" algn="ctr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소재 인접</a:t>
                      </a:r>
                      <a:endParaRPr lang="ko-KR" sz="8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CUREWEL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Dmed</a:t>
                      </a:r>
                      <a:endParaRPr lang="ko-KR" sz="8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7030A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국내</a:t>
                      </a:r>
                      <a:endParaRPr lang="ko-KR" sz="95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콜라겐 매트릭스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화상 · 창상 관리 · 보습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매트릭스형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0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소재 인접</a:t>
                      </a:r>
                      <a:endParaRPr lang="ko-KR" sz="900"/>
                    </a:p>
                  </a:txBody>
                  <a:tcPr marL="27432" marR="27432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7030A0"/>
                    </a:solidFill>
                  </a:tcPr>
                </a:tc>
              </a:tr>
              <a:tr h="266456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HYPLAST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원메디슨 (국내 유통)</a:t>
                      </a:r>
                      <a:endParaRPr lang="ko-KR" sz="8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7030A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국내</a:t>
                      </a:r>
                      <a:endParaRPr lang="ko-KR" sz="95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아텔로콜라겐 + 히알루론산나트륨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창상 · 2도 화상 보호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콜라겐 + HA 조합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0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소재 인접</a:t>
                      </a:r>
                      <a:endParaRPr lang="ko-KR" sz="900"/>
                    </a:p>
                  </a:txBody>
                  <a:tcPr marL="27432" marR="27432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7030A0"/>
                    </a:solidFill>
                  </a:tcPr>
                </a:tc>
              </a:tr>
              <a:tr h="266456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Fibracol™ Plus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Solventum</a:t>
                      </a:r>
                      <a:endParaRPr lang="ko-KR" sz="8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437D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해외</a:t>
                      </a:r>
                      <a:endParaRPr lang="ko-KR" sz="95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콜라겐 90% + 칼슘 알지네이트 10%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흡수 · 겔 형성 · 습윤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단백질 + 알지네이트 조합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0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소재 인접</a:t>
                      </a:r>
                      <a:endParaRPr lang="ko-KR" sz="900"/>
                    </a:p>
                  </a:txBody>
                  <a:tcPr marL="27432" marR="27432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7030A0"/>
                    </a:solidFill>
                  </a:tcPr>
                </a:tc>
              </a:tr>
              <a:tr h="266456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Hyalomatrix®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Anika · FDA K073251</a:t>
                      </a:r>
                      <a:endParaRPr lang="ko-KR" sz="8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437D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해외</a:t>
                      </a:r>
                      <a:endParaRPr lang="ko-KR" sz="95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히알루론산 에스터 + 실리콘 막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2도 화상 · 부분·전층 창상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HA 소재 · 시트형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0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소재 인접</a:t>
                      </a:r>
                      <a:endParaRPr lang="ko-KR" sz="900"/>
                    </a:p>
                  </a:txBody>
                  <a:tcPr marL="27432" marR="27432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7030A0"/>
                    </a:solidFill>
                  </a:tcPr>
                </a:tc>
              </a:tr>
              <a:tr h="266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3B3B3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세포치료제</a:t>
                      </a:r>
                      <a:endParaRPr lang="ko-KR" sz="1000"/>
                    </a:p>
                    <a:p>
                      <a:pPr marL="0" indent="0" algn="ctr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의약품</a:t>
                      </a:r>
                      <a:endParaRPr lang="ko-KR" sz="8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케라힐-알로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바이오솔루션</a:t>
                      </a:r>
                      <a:endParaRPr lang="ko-KR" sz="8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7030A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국내</a:t>
                      </a:r>
                      <a:endParaRPr lang="ko-KR" sz="95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동종 각질세포 하이드로겔 · 시린지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심부 2도 화상 재상피화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같은 시린지 겔 · 의약품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0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다른 허가 경로</a:t>
                      </a:r>
                      <a:endParaRPr lang="ko-KR" sz="900"/>
                    </a:p>
                  </a:txBody>
                  <a:tcPr marL="27432" marR="27432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3B3F57"/>
                    </a:solidFill>
                  </a:tcPr>
                </a:tc>
              </a:tr>
            </a:tbl>
          </a:graphicData>
        </a:graphic>
      </p:graphicFrame>
      <p:sp>
        <p:nvSpPr>
          <p:cNvPr id="9" name="Excl"/>
          <p:cNvSpPr txBox="1"/>
          <p:nvPr/>
        </p:nvSpPr>
        <p:spPr>
          <a:xfrm>
            <a:off x="502920" y="6108192"/>
            <a:ext cx="1118311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관련도가 낮아 제외: 항균 드레싱 5종 (메디솝 AG+ · 메디폼 실버 플러스 · Mepilex Ag · AQUACEL Ag+ Extra · Acticoat) · 흡수형 3종 (테라솝 알지 플러스 · 이지덤 · Suprasorb A) · Suprathel · 칼로덤</a:t>
            </a:r>
            <a:endParaRPr lang="ko-KR" sz="900"/>
          </a:p>
        </p:txBody>
      </p:sp>
      <p:sp>
        <p:nvSpPr>
          <p:cNvPr id="10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Dmed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티앤알바이오팹 써지큐어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3"/>
              </a:rPr>
              <a:t>Coloplast Purilon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4"/>
              </a:rPr>
              <a:t>Solventum Nu-Gel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5"/>
              </a:rPr>
              <a:t>FDA K162759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6"/>
              </a:rPr>
              <a:t>FDA K182010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7"/>
              </a:rPr>
              <a:t>GUDID Keramatrix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8"/>
              </a:rPr>
              <a:t>Hyalomatrix K073251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9"/>
              </a:rPr>
              <a:t>원메디슨 HYPLAST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0"/>
              </a:rPr>
              <a:t>케라힐-알로</a:t>
            </a:r>
            <a:endParaRPr lang="ko-KR" sz="75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벤치마킹 제품 — 미국 FDA: KeraStat® · 국내 식약처: JUVENCOLL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KeraStat은 미국 510(k) 허가 선례, JUVENCOLL은 국내 창상피복재 허가 선례 — KheAl은 4등급 품목(B07070.07) 예상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18</a:t>
            </a:r>
            <a:endParaRPr lang="ko-KR" sz="800"/>
          </a:p>
        </p:txBody>
      </p:sp>
      <p:sp>
        <p:nvSpPr>
          <p:cNvPr id="8" name="K bar back"/>
          <p:cNvSpPr/>
          <p:nvPr/>
        </p:nvSpPr>
        <p:spPr>
          <a:xfrm>
            <a:off x="502920" y="1664208"/>
            <a:ext cx="5486400" cy="309433"/>
          </a:xfrm>
          <a:prstGeom prst="parallelogram">
            <a:avLst/>
          </a:prstGeom>
          <a:solidFill>
            <a:srgbClr val="7030A0"/>
          </a:solidFill>
          <a:ln>
            <a:noFill/>
          </a:ln>
        </p:spPr>
      </p:sp>
      <p:sp>
        <p:nvSpPr>
          <p:cNvPr id="9" name="K bar"/>
          <p:cNvSpPr txBox="1"/>
          <p:nvPr/>
        </p:nvSpPr>
        <p:spPr>
          <a:xfrm>
            <a:off x="566928" y="1664208"/>
            <a:ext cx="5358384" cy="309433"/>
          </a:xfrm>
          <a:prstGeom prst="parallelogram">
            <a:avLst/>
          </a:prstGeom>
          <a:solidFill>
            <a:srgbClr val="3B3F5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1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미국 FDA 벤치마크 — KeraStat® Gel (KeraNetics)</a:t>
            </a:r>
            <a:endParaRPr lang="ko-KR" sz="1150"/>
          </a:p>
        </p:txBody>
      </p:sp>
      <p:sp>
        <p:nvSpPr>
          <p:cNvPr id="10" name="K card"/>
          <p:cNvSpPr/>
          <p:nvPr/>
        </p:nvSpPr>
        <p:spPr>
          <a:xfrm>
            <a:off x="502920" y="2050999"/>
            <a:ext cx="5486400" cy="309433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pic>
        <p:nvPicPr>
          <p:cNvPr id="11" name="K img" descr="미국 FDA 벤치마크 — KeraStat® Gel (KeraNetics)"/>
          <p:cNvPicPr>
            <a:picLocks noChangeAspect="1"/>
          </p:cNvPicPr>
          <p:nvPr/>
        </p:nvPicPr>
        <p:blipFill>
          <a:blip r:embed="rI_kerastat"/>
          <a:stretch>
            <a:fillRect/>
          </a:stretch>
        </p:blipFill>
        <p:spPr>
          <a:xfrm>
            <a:off x="612648" y="2484425"/>
            <a:ext cx="1600200" cy="594360"/>
          </a:xfrm>
          <a:prstGeom prst="rect">
            <a:avLst/>
          </a:prstGeom>
        </p:spPr>
      </p:pic>
      <p:sp>
        <p:nvSpPr>
          <p:cNvPr id="12" name="K fa 0"/>
          <p:cNvSpPr txBox="1"/>
          <p:nvPr/>
        </p:nvSpPr>
        <p:spPr>
          <a:xfrm>
            <a:off x="2313432" y="2119762"/>
            <a:ext cx="932688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허가 경로</a:t>
            </a:r>
            <a:endParaRPr lang="ko-KR" sz="900"/>
          </a:p>
        </p:txBody>
      </p:sp>
      <p:sp>
        <p:nvSpPr>
          <p:cNvPr id="13" name="K fv 0"/>
          <p:cNvSpPr txBox="1"/>
          <p:nvPr/>
        </p:nvSpPr>
        <p:spPr>
          <a:xfrm>
            <a:off x="3246120" y="2119762"/>
            <a:ext cx="2697480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510(k) · 실질적 동등성</a:t>
            </a:r>
            <a:endParaRPr lang="ko-KR" sz="1000"/>
          </a:p>
        </p:txBody>
      </p:sp>
      <p:sp>
        <p:nvSpPr>
          <p:cNvPr id="14" name="K fa 1"/>
          <p:cNvSpPr txBox="1"/>
          <p:nvPr/>
        </p:nvSpPr>
        <p:spPr>
          <a:xfrm>
            <a:off x="2313432" y="2540935"/>
            <a:ext cx="932688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번호 · 허가일</a:t>
            </a:r>
            <a:endParaRPr lang="ko-KR" sz="900"/>
          </a:p>
        </p:txBody>
      </p:sp>
      <p:sp>
        <p:nvSpPr>
          <p:cNvPr id="15" name="K fv 1"/>
          <p:cNvSpPr txBox="1"/>
          <p:nvPr/>
        </p:nvSpPr>
        <p:spPr>
          <a:xfrm>
            <a:off x="3246120" y="2540935"/>
            <a:ext cx="2697480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K162759 · 2017.06.02</a:t>
            </a:r>
            <a:endParaRPr lang="ko-KR" sz="1000"/>
          </a:p>
        </p:txBody>
      </p:sp>
      <p:sp>
        <p:nvSpPr>
          <p:cNvPr id="16" name="K fa 2"/>
          <p:cNvSpPr txBox="1"/>
          <p:nvPr/>
        </p:nvSpPr>
        <p:spPr>
          <a:xfrm>
            <a:off x="2313432" y="2962107"/>
            <a:ext cx="932688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제품코드</a:t>
            </a:r>
            <a:endParaRPr lang="ko-KR" sz="900"/>
          </a:p>
        </p:txBody>
      </p:sp>
      <p:sp>
        <p:nvSpPr>
          <p:cNvPr id="17" name="K fv 2"/>
          <p:cNvSpPr txBox="1"/>
          <p:nvPr/>
        </p:nvSpPr>
        <p:spPr>
          <a:xfrm>
            <a:off x="3246120" y="2962107"/>
            <a:ext cx="2697480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KGN · 처방용 (Rx)</a:t>
            </a:r>
            <a:endParaRPr lang="ko-KR" sz="1000"/>
          </a:p>
        </p:txBody>
      </p:sp>
      <p:sp>
        <p:nvSpPr>
          <p:cNvPr id="18" name="K fa 3"/>
          <p:cNvSpPr txBox="1"/>
          <p:nvPr/>
        </p:nvSpPr>
        <p:spPr>
          <a:xfrm>
            <a:off x="2313432" y="3383280"/>
            <a:ext cx="932688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비교 대상</a:t>
            </a:r>
            <a:endParaRPr lang="ko-KR" sz="900"/>
          </a:p>
        </p:txBody>
      </p:sp>
      <p:sp>
        <p:nvSpPr>
          <p:cNvPr id="19" name="K fv 3"/>
          <p:cNvSpPr txBox="1"/>
          <p:nvPr/>
        </p:nvSpPr>
        <p:spPr>
          <a:xfrm>
            <a:off x="3246120" y="3383280"/>
            <a:ext cx="2697480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Keratec Wound Dressings</a:t>
            </a:r>
            <a:endParaRPr lang="ko-KR" sz="1000"/>
          </a:p>
        </p:txBody>
      </p:sp>
      <p:sp>
        <p:nvSpPr>
          <p:cNvPr id="20" name="K fa 4"/>
          <p:cNvSpPr txBox="1"/>
          <p:nvPr/>
        </p:nvSpPr>
        <p:spPr>
          <a:xfrm>
            <a:off x="2313432" y="3804453"/>
            <a:ext cx="932688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제품</a:t>
            </a:r>
            <a:endParaRPr lang="ko-KR" sz="900"/>
          </a:p>
        </p:txBody>
      </p:sp>
      <p:sp>
        <p:nvSpPr>
          <p:cNvPr id="21" name="K fv 4"/>
          <p:cNvSpPr txBox="1"/>
          <p:nvPr/>
        </p:nvSpPr>
        <p:spPr>
          <a:xfrm>
            <a:off x="3246120" y="3804453"/>
            <a:ext cx="2697480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5% 사람 모발 케라틴 겔 · 5 mL · 멸균 1회용</a:t>
            </a:r>
            <a:endParaRPr lang="ko-KR" sz="1000"/>
          </a:p>
        </p:txBody>
      </p:sp>
      <p:sp>
        <p:nvSpPr>
          <p:cNvPr id="22" name="K fa 5"/>
          <p:cNvSpPr txBox="1"/>
          <p:nvPr/>
        </p:nvSpPr>
        <p:spPr>
          <a:xfrm>
            <a:off x="2313432" y="4225625"/>
            <a:ext cx="932688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적응증</a:t>
            </a:r>
            <a:endParaRPr lang="ko-KR" sz="900"/>
          </a:p>
        </p:txBody>
      </p:sp>
      <p:sp>
        <p:nvSpPr>
          <p:cNvPr id="23" name="K fv 5"/>
          <p:cNvSpPr txBox="1"/>
          <p:nvPr/>
        </p:nvSpPr>
        <p:spPr>
          <a:xfrm>
            <a:off x="3246120" y="4225625"/>
            <a:ext cx="2697480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1~2도 화상 · 찰과상 · 수술창 (3도 제외)</a:t>
            </a:r>
            <a:endParaRPr lang="ko-KR" sz="1000"/>
          </a:p>
        </p:txBody>
      </p:sp>
      <p:sp>
        <p:nvSpPr>
          <p:cNvPr id="24" name="K fa 6"/>
          <p:cNvSpPr txBox="1"/>
          <p:nvPr/>
        </p:nvSpPr>
        <p:spPr>
          <a:xfrm>
            <a:off x="2313432" y="4646798"/>
            <a:ext cx="932688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가격</a:t>
            </a:r>
            <a:endParaRPr lang="ko-KR" sz="900"/>
          </a:p>
        </p:txBody>
      </p:sp>
      <p:sp>
        <p:nvSpPr>
          <p:cNvPr id="25" name="K fv 6"/>
          <p:cNvSpPr txBox="1"/>
          <p:nvPr/>
        </p:nvSpPr>
        <p:spPr>
          <a:xfrm>
            <a:off x="3246120" y="4646798"/>
            <a:ext cx="2697480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$73 / 5 mL ≈ 10.2만원 (2024 공개 조달가)</a:t>
            </a:r>
            <a:endParaRPr lang="ko-KR" sz="1000"/>
          </a:p>
        </p:txBody>
      </p:sp>
      <p:sp>
        <p:nvSpPr>
          <p:cNvPr id="26" name="K foot"/>
          <p:cNvSpPr txBox="1"/>
          <p:nvPr/>
        </p:nvSpPr>
        <p:spPr>
          <a:xfrm>
            <a:off x="612648" y="3512210"/>
            <a:ext cx="1600200" cy="1547165"/>
          </a:xfrm>
          <a:prstGeom prst="roundRect">
            <a:avLst>
              <a:gd name="adj" fmla="val 8000"/>
            </a:avLst>
          </a:prstGeom>
          <a:solidFill>
            <a:srgbClr val="FBE6EB"/>
          </a:solidFill>
          <a:ln>
            <a:noFill/>
          </a:ln>
        </p:spPr>
        <p:txBody>
          <a:bodyPr wrap="square" lIns="64008" tIns="45720" rIns="64008" bIns="45720" anchor="ctr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C00A3E"/>
                </a:solidFill>
                <a:latin typeface="210 옴니고딕 050"/>
                <a:ea typeface="210 옴니고딕 050"/>
                <a:cs typeface="210 옴니고딕 050"/>
              </a:rPr>
              <a:t>인정 작용은 ‘보호 · 흡수 · 습윤’ (약효 아님) · 화상 임상은 30명 중 14명 등록 후 조기 종료</a:t>
            </a:r>
            <a:endParaRPr lang="ko-KR" sz="950"/>
          </a:p>
        </p:txBody>
      </p:sp>
      <p:sp>
        <p:nvSpPr>
          <p:cNvPr id="27" name="J bar back"/>
          <p:cNvSpPr/>
          <p:nvPr/>
        </p:nvSpPr>
        <p:spPr>
          <a:xfrm>
            <a:off x="6199632" y="1664208"/>
            <a:ext cx="5486400" cy="309433"/>
          </a:xfrm>
          <a:prstGeom prst="parallelogram">
            <a:avLst/>
          </a:prstGeom>
          <a:solidFill>
            <a:srgbClr val="7030A0"/>
          </a:solidFill>
          <a:ln>
            <a:noFill/>
          </a:ln>
        </p:spPr>
      </p:sp>
      <p:sp>
        <p:nvSpPr>
          <p:cNvPr id="28" name="J bar"/>
          <p:cNvSpPr txBox="1"/>
          <p:nvPr/>
        </p:nvSpPr>
        <p:spPr>
          <a:xfrm>
            <a:off x="6263640" y="1664208"/>
            <a:ext cx="5358384" cy="309433"/>
          </a:xfrm>
          <a:prstGeom prst="parallelogram">
            <a:avLst/>
          </a:prstGeom>
          <a:solidFill>
            <a:srgbClr val="3B3F5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1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국내 식약처 벤치마크 — JUVENCOLL (디메드리소스)</a:t>
            </a:r>
            <a:endParaRPr lang="ko-KR" sz="1150"/>
          </a:p>
        </p:txBody>
      </p:sp>
      <p:sp>
        <p:nvSpPr>
          <p:cNvPr id="29" name="J card"/>
          <p:cNvSpPr/>
          <p:nvPr/>
        </p:nvSpPr>
        <p:spPr>
          <a:xfrm>
            <a:off x="6199632" y="2050999"/>
            <a:ext cx="5486400" cy="309433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pic>
        <p:nvPicPr>
          <p:cNvPr id="30" name="J img" descr="국내 식약처 벤치마크 — JUVENCOLL (디메드리소스)"/>
          <p:cNvPicPr>
            <a:picLocks noChangeAspect="1"/>
          </p:cNvPicPr>
          <p:nvPr/>
        </p:nvPicPr>
        <p:blipFill>
          <a:blip r:embed="rI_juvencoll"/>
          <a:stretch>
            <a:fillRect/>
          </a:stretch>
        </p:blipFill>
        <p:spPr>
          <a:xfrm>
            <a:off x="6309360" y="2218253"/>
            <a:ext cx="1600200" cy="1126703"/>
          </a:xfrm>
          <a:prstGeom prst="rect">
            <a:avLst/>
          </a:prstGeom>
        </p:spPr>
      </p:pic>
      <p:sp>
        <p:nvSpPr>
          <p:cNvPr id="31" name="J fa 0"/>
          <p:cNvSpPr txBox="1"/>
          <p:nvPr/>
        </p:nvSpPr>
        <p:spPr>
          <a:xfrm>
            <a:off x="8010144" y="2119762"/>
            <a:ext cx="932688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품목군</a:t>
            </a:r>
            <a:endParaRPr lang="ko-KR" sz="900"/>
          </a:p>
        </p:txBody>
      </p:sp>
      <p:sp>
        <p:nvSpPr>
          <p:cNvPr id="32" name="J fv 0"/>
          <p:cNvSpPr txBox="1"/>
          <p:nvPr/>
        </p:nvSpPr>
        <p:spPr>
          <a:xfrm>
            <a:off x="8942832" y="2119762"/>
            <a:ext cx="2697480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창상피복재 — 2차치유폼제창상피복재</a:t>
            </a:r>
            <a:endParaRPr lang="ko-KR" sz="1000"/>
          </a:p>
        </p:txBody>
      </p:sp>
      <p:sp>
        <p:nvSpPr>
          <p:cNvPr id="33" name="J fa 1"/>
          <p:cNvSpPr txBox="1"/>
          <p:nvPr/>
        </p:nvSpPr>
        <p:spPr>
          <a:xfrm>
            <a:off x="8010144" y="2540935"/>
            <a:ext cx="932688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품목분류 · 등급</a:t>
            </a:r>
            <a:endParaRPr lang="ko-KR" sz="900"/>
          </a:p>
        </p:txBody>
      </p:sp>
      <p:sp>
        <p:nvSpPr>
          <p:cNvPr id="34" name="J fv 1"/>
          <p:cNvSpPr txBox="1"/>
          <p:nvPr/>
        </p:nvSpPr>
        <p:spPr>
          <a:xfrm>
            <a:off x="8942832" y="2540935"/>
            <a:ext cx="2697480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B07070.12 · 3등급 (허가 대상)</a:t>
            </a:r>
            <a:endParaRPr lang="ko-KR" sz="1000"/>
          </a:p>
        </p:txBody>
      </p:sp>
      <p:sp>
        <p:nvSpPr>
          <p:cNvPr id="35" name="J fa 2"/>
          <p:cNvSpPr txBox="1"/>
          <p:nvPr/>
        </p:nvSpPr>
        <p:spPr>
          <a:xfrm>
            <a:off x="8010144" y="2962107"/>
            <a:ext cx="932688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허가번호 · 시점</a:t>
            </a:r>
            <a:endParaRPr lang="ko-KR" sz="900"/>
          </a:p>
        </p:txBody>
      </p:sp>
      <p:sp>
        <p:nvSpPr>
          <p:cNvPr id="36" name="J fv 2"/>
          <p:cNvSpPr txBox="1"/>
          <p:nvPr/>
        </p:nvSpPr>
        <p:spPr>
          <a:xfrm>
            <a:off x="8942832" y="2962107"/>
            <a:ext cx="2697480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제허 19-314호 · 2019.05 식약처 허가</a:t>
            </a:r>
            <a:endParaRPr lang="ko-KR" sz="1000"/>
          </a:p>
        </p:txBody>
      </p:sp>
      <p:sp>
        <p:nvSpPr>
          <p:cNvPr id="37" name="J fa 3"/>
          <p:cNvSpPr txBox="1"/>
          <p:nvPr/>
        </p:nvSpPr>
        <p:spPr>
          <a:xfrm>
            <a:off x="8010144" y="3383280"/>
            <a:ext cx="932688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모델</a:t>
            </a:r>
            <a:endParaRPr lang="ko-KR" sz="900"/>
          </a:p>
        </p:txBody>
      </p:sp>
      <p:sp>
        <p:nvSpPr>
          <p:cNvPr id="38" name="J fv 3"/>
          <p:cNvSpPr txBox="1"/>
          <p:nvPr/>
        </p:nvSpPr>
        <p:spPr>
          <a:xfrm>
            <a:off x="8942832" y="3383280"/>
            <a:ext cx="2697480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JC-10 외 2건</a:t>
            </a:r>
            <a:endParaRPr lang="ko-KR" sz="1000"/>
          </a:p>
        </p:txBody>
      </p:sp>
      <p:sp>
        <p:nvSpPr>
          <p:cNvPr id="39" name="J fa 4"/>
          <p:cNvSpPr txBox="1"/>
          <p:nvPr/>
        </p:nvSpPr>
        <p:spPr>
          <a:xfrm>
            <a:off x="8010144" y="3804453"/>
            <a:ext cx="932688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주성분</a:t>
            </a:r>
            <a:endParaRPr lang="ko-KR" sz="900"/>
          </a:p>
        </p:txBody>
      </p:sp>
      <p:sp>
        <p:nvSpPr>
          <p:cNvPr id="40" name="J fv 4"/>
          <p:cNvSpPr txBox="1"/>
          <p:nvPr/>
        </p:nvSpPr>
        <p:spPr>
          <a:xfrm>
            <a:off x="8942832" y="3804453"/>
            <a:ext cx="2697480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하이드로겔 기반 (보도)</a:t>
            </a:r>
            <a:endParaRPr lang="ko-KR" sz="1000"/>
          </a:p>
        </p:txBody>
      </p:sp>
      <p:sp>
        <p:nvSpPr>
          <p:cNvPr id="41" name="J fa 5"/>
          <p:cNvSpPr txBox="1"/>
          <p:nvPr/>
        </p:nvSpPr>
        <p:spPr>
          <a:xfrm>
            <a:off x="8010144" y="4225625"/>
            <a:ext cx="932688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판매</a:t>
            </a:r>
            <a:endParaRPr lang="ko-KR" sz="900"/>
          </a:p>
        </p:txBody>
      </p:sp>
      <p:sp>
        <p:nvSpPr>
          <p:cNvPr id="42" name="J fv 5"/>
          <p:cNvSpPr txBox="1"/>
          <p:nvPr/>
        </p:nvSpPr>
        <p:spPr>
          <a:xfrm>
            <a:off x="8942832" y="4225625"/>
            <a:ext cx="2697480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한국파비스제약 → 동국생명과학 (2021 판매대행)</a:t>
            </a:r>
            <a:endParaRPr lang="ko-KR" sz="1000"/>
          </a:p>
        </p:txBody>
      </p:sp>
      <p:sp>
        <p:nvSpPr>
          <p:cNvPr id="43" name="J fa 6"/>
          <p:cNvSpPr txBox="1"/>
          <p:nvPr/>
        </p:nvSpPr>
        <p:spPr>
          <a:xfrm>
            <a:off x="8010144" y="4646798"/>
            <a:ext cx="932688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해외</a:t>
            </a:r>
            <a:endParaRPr lang="ko-KR" sz="900"/>
          </a:p>
        </p:txBody>
      </p:sp>
      <p:sp>
        <p:nvSpPr>
          <p:cNvPr id="44" name="J fv 6"/>
          <p:cNvSpPr txBox="1"/>
          <p:nvPr/>
        </p:nvSpPr>
        <p:spPr>
          <a:xfrm>
            <a:off x="8942832" y="4646798"/>
            <a:ext cx="2697480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미국 FDA 승인 보도 (510(k) 번호 미확인)</a:t>
            </a:r>
            <a:endParaRPr lang="ko-KR" sz="1000"/>
          </a:p>
        </p:txBody>
      </p:sp>
      <p:sp>
        <p:nvSpPr>
          <p:cNvPr id="45" name="J foot"/>
          <p:cNvSpPr txBox="1"/>
          <p:nvPr/>
        </p:nvSpPr>
        <p:spPr>
          <a:xfrm>
            <a:off x="6309360" y="3512210"/>
            <a:ext cx="1600200" cy="1547165"/>
          </a:xfrm>
          <a:prstGeom prst="roundRect">
            <a:avLst>
              <a:gd name="adj" fmla="val 8000"/>
            </a:avLst>
          </a:prstGeom>
          <a:solidFill>
            <a:srgbClr val="E8EFFF"/>
          </a:solidFill>
          <a:ln>
            <a:noFill/>
          </a:ln>
        </p:spPr>
        <p:txBody>
          <a:bodyPr wrap="square" lIns="64008" tIns="45720" rIns="64008" bIns="45720" anchor="ctr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3등급 품목이라 4등급(KheAl 목표)보다 심사 자료 부담이 작음 → 품목 분류 전략의 참고 사례</a:t>
            </a:r>
            <a:endParaRPr lang="ko-KR" sz="950"/>
          </a:p>
        </p:txBody>
      </p:sp>
      <p:sp>
        <p:nvSpPr>
          <p:cNvPr id="46" name="Cls l"/>
          <p:cNvSpPr txBox="1"/>
          <p:nvPr/>
        </p:nvSpPr>
        <p:spPr>
          <a:xfrm>
            <a:off x="502920" y="5257068"/>
            <a:ext cx="201168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창상피복재 품목 분류 비교</a:t>
            </a:r>
            <a:endParaRPr lang="ko-KR" sz="1100"/>
          </a:p>
        </p:txBody>
      </p:sp>
      <p:sp>
        <p:nvSpPr>
          <p:cNvPr id="47" name="Cls 0"/>
          <p:cNvSpPr txBox="1"/>
          <p:nvPr/>
        </p:nvSpPr>
        <p:spPr>
          <a:xfrm>
            <a:off x="2560320" y="5257068"/>
            <a:ext cx="2926080" cy="429768"/>
          </a:xfrm>
          <a:prstGeom prst="roundRect">
            <a:avLst>
              <a:gd name="adj" fmla="val 14000"/>
            </a:avLst>
          </a:prstGeom>
          <a:solidFill>
            <a:srgbClr val="E8E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B07070.12  </a:t>
            </a:r>
            <a:r>
              <a:rPr lang="ko-KR" sz="10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2차치유폼제 (JUVENCOLL)  </a:t>
            </a:r>
            <a:r>
              <a:rPr lang="ko-KR" sz="10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3등급</a:t>
            </a:r>
            <a:endParaRPr lang="ko-KR" sz="1000"/>
          </a:p>
        </p:txBody>
      </p:sp>
      <p:sp>
        <p:nvSpPr>
          <p:cNvPr id="48" name="Cls 1"/>
          <p:cNvSpPr txBox="1"/>
          <p:nvPr/>
        </p:nvSpPr>
        <p:spPr>
          <a:xfrm>
            <a:off x="5605272" y="5257068"/>
            <a:ext cx="2926080" cy="429768"/>
          </a:xfrm>
          <a:prstGeom prst="roundRect">
            <a:avLst>
              <a:gd name="adj" fmla="val 14000"/>
            </a:avLst>
          </a:prstGeom>
          <a:solidFill>
            <a:srgbClr val="E8E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B07070.04  </a:t>
            </a:r>
            <a:r>
              <a:rPr lang="ko-KR" sz="10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2차치유하이드로겔  </a:t>
            </a:r>
            <a:r>
              <a:rPr lang="ko-KR" sz="10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3등급</a:t>
            </a:r>
            <a:endParaRPr lang="ko-KR" sz="1000"/>
          </a:p>
        </p:txBody>
      </p:sp>
      <p:sp>
        <p:nvSpPr>
          <p:cNvPr id="49" name="Cls 2"/>
          <p:cNvSpPr txBox="1"/>
          <p:nvPr/>
        </p:nvSpPr>
        <p:spPr>
          <a:xfrm>
            <a:off x="8650224" y="5257068"/>
            <a:ext cx="2926080" cy="429768"/>
          </a:xfrm>
          <a:prstGeom prst="roundRect">
            <a:avLst>
              <a:gd name="adj" fmla="val 14000"/>
            </a:avLst>
          </a:prstGeom>
          <a:solidFill>
            <a:srgbClr val="FBE6E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C00A3E"/>
                </a:solidFill>
                <a:latin typeface="210 옴니고딕 050"/>
                <a:ea typeface="210 옴니고딕 050"/>
                <a:cs typeface="210 옴니고딕 050"/>
              </a:rPr>
              <a:t>B07070.07  </a:t>
            </a:r>
            <a:r>
              <a:rPr lang="ko-KR" sz="10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생체유래흡수성 (KheAl)  </a:t>
            </a:r>
            <a:r>
              <a:rPr lang="ko-KR" sz="1000" b="1">
                <a:solidFill>
                  <a:srgbClr val="C00A3E"/>
                </a:solidFill>
                <a:latin typeface="210 옴니고딕 050"/>
                <a:ea typeface="210 옴니고딕 050"/>
                <a:cs typeface="210 옴니고딕 050"/>
              </a:rPr>
              <a:t>4등급</a:t>
            </a:r>
            <a:endParaRPr lang="ko-KR" sz="1000"/>
          </a:p>
        </p:txBody>
      </p:sp>
      <p:sp>
        <p:nvSpPr>
          <p:cNvPr id="50" name="Key box"/>
          <p:cNvSpPr/>
          <p:nvPr/>
        </p:nvSpPr>
        <p:spPr>
          <a:xfrm>
            <a:off x="502920" y="5807172"/>
            <a:ext cx="11183112" cy="429768"/>
          </a:xfrm>
          <a:prstGeom prst="roundRect">
            <a:avLst>
              <a:gd name="adj" fmla="val 12000"/>
            </a:avLst>
          </a:prstGeom>
          <a:solidFill>
            <a:srgbClr val="E6E9F5"/>
          </a:solidFill>
          <a:ln>
            <a:noFill/>
          </a:ln>
        </p:spPr>
      </p:sp>
      <p:sp>
        <p:nvSpPr>
          <p:cNvPr id="51" name="Key label"/>
          <p:cNvSpPr txBox="1"/>
          <p:nvPr/>
        </p:nvSpPr>
        <p:spPr>
          <a:xfrm>
            <a:off x="640080" y="5893125"/>
            <a:ext cx="685800" cy="257861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핵심</a:t>
            </a:r>
            <a:endParaRPr lang="ko-KR" sz="1000"/>
          </a:p>
        </p:txBody>
      </p:sp>
      <p:sp>
        <p:nvSpPr>
          <p:cNvPr id="52" name="Key text"/>
          <p:cNvSpPr txBox="1"/>
          <p:nvPr/>
        </p:nvSpPr>
        <p:spPr>
          <a:xfrm>
            <a:off x="1463040" y="5807172"/>
            <a:ext cx="1005840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KheAl은 사람 유래 케라틴 때문에 4등급 예상 → 식약처 품목 분류 확정이 첫 단계, 미국은 KeraStat을 비교 대상으로 510(k)</a:t>
            </a:r>
            <a:endParaRPr lang="ko-KR" sz="1250"/>
          </a:p>
        </p:txBody>
      </p:sp>
      <p:sp>
        <p:nvSpPr>
          <p:cNvPr id="53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FDA K162759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KeraNetics KeraStat Gel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3"/>
              </a:rPr>
              <a:t>2024 Combat/Safeguard Price List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4"/>
              </a:rPr>
              <a:t>한국파비스제약 쥬벤콜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5"/>
              </a:rPr>
              <a:t>메디팜헬스뉴스 쥬벤콜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6"/>
              </a:rPr>
              <a:t>메디게이트 동국생명과학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7"/>
              </a:rPr>
              <a:t>심평원 치료재료 분류</a:t>
            </a:r>
            <a:endParaRPr lang="ko-KR" sz="75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케라틴 효과 근거 — 원문 그림과 핵심 수치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동물에서는 콜라겐 드레싱 수준의 효과 · 사람 대상 연구는 결과가 엇갈리고 유의차 없음 → KheAl 비교임상의 여지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19</a:t>
            </a:r>
            <a:endParaRPr lang="ko-KR" sz="800"/>
          </a:p>
        </p:txBody>
      </p:sp>
      <p:sp>
        <p:nvSpPr>
          <p:cNvPr id="8" name="R0"/>
          <p:cNvSpPr/>
          <p:nvPr/>
        </p:nvSpPr>
        <p:spPr>
          <a:xfrm>
            <a:off x="502920" y="1664208"/>
            <a:ext cx="11183112" cy="197693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9" name="R0 tag"/>
          <p:cNvSpPr txBox="1"/>
          <p:nvPr/>
        </p:nvSpPr>
        <p:spPr>
          <a:xfrm>
            <a:off x="640080" y="1767352"/>
            <a:ext cx="2331720" cy="257861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① 동물 · 돼지 화상 (2016)</a:t>
            </a:r>
            <a:endParaRPr lang="ko-KR" sz="1000"/>
          </a:p>
        </p:txBody>
      </p:sp>
      <p:pic>
        <p:nvPicPr>
          <p:cNvPr id="10" name="R0 thumb" descr="원문 Fig.1 · 상처 사진 0→30일"/>
          <p:cNvPicPr>
            <a:picLocks noChangeAspect="1"/>
          </p:cNvPicPr>
          <p:nvPr/>
        </p:nvPicPr>
        <p:blipFill>
          <a:blip r:embed="rI_poranki"/>
          <a:stretch>
            <a:fillRect/>
          </a:stretch>
        </p:blipFill>
        <p:spPr>
          <a:xfrm>
            <a:off x="657480" y="2093976"/>
            <a:ext cx="2296920" cy="1186160"/>
          </a:xfrm>
          <a:prstGeom prst="rect">
            <a:avLst/>
          </a:prstGeom>
        </p:spPr>
      </p:pic>
      <p:sp>
        <p:nvSpPr>
          <p:cNvPr id="11" name="R0 thumb cap"/>
          <p:cNvSpPr txBox="1"/>
          <p:nvPr/>
        </p:nvSpPr>
        <p:spPr>
          <a:xfrm>
            <a:off x="640080" y="3314517"/>
            <a:ext cx="233172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원문 Fig.1 · 상처 사진 0→30일</a:t>
            </a:r>
            <a:endParaRPr lang="ko-KR" sz="800"/>
          </a:p>
        </p:txBody>
      </p:sp>
      <p:sp>
        <p:nvSpPr>
          <p:cNvPr id="12" name="R0 arrow"/>
          <p:cNvSpPr/>
          <p:nvPr/>
        </p:nvSpPr>
        <p:spPr>
          <a:xfrm>
            <a:off x="3090672" y="2515149"/>
            <a:ext cx="237744" cy="275052"/>
          </a:xfrm>
          <a:prstGeom prst="chevron">
            <a:avLst/>
          </a:prstGeom>
          <a:solidFill>
            <a:srgbClr val="C9CCD6"/>
          </a:solidFill>
          <a:ln>
            <a:noFill/>
          </a:ln>
        </p:spPr>
      </p:sp>
      <p:sp>
        <p:nvSpPr>
          <p:cNvPr id="13" name="R0 chart t"/>
          <p:cNvSpPr txBox="1"/>
          <p:nvPr/>
        </p:nvSpPr>
        <p:spPr>
          <a:xfrm>
            <a:off x="3474720" y="1750162"/>
            <a:ext cx="4343400" cy="2750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상처가 완전히 닫히기까지 걸린 날 (짧을수록 좋음)</a:t>
            </a:r>
            <a:endParaRPr lang="ko-KR" sz="1050"/>
          </a:p>
        </p:txBody>
      </p:sp>
      <p:sp>
        <p:nvSpPr>
          <p:cNvPr id="14" name="R0 l0"/>
          <p:cNvSpPr txBox="1"/>
          <p:nvPr/>
        </p:nvSpPr>
        <p:spPr>
          <a:xfrm>
            <a:off x="3474720" y="2093976"/>
            <a:ext cx="1600200" cy="36530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콜라겐 드레싱</a:t>
            </a:r>
            <a:endParaRPr lang="ko-KR" sz="950"/>
          </a:p>
        </p:txBody>
      </p:sp>
      <p:sp>
        <p:nvSpPr>
          <p:cNvPr id="15" name="R0 tr0"/>
          <p:cNvSpPr/>
          <p:nvPr/>
        </p:nvSpPr>
        <p:spPr>
          <a:xfrm>
            <a:off x="5074920" y="2173483"/>
            <a:ext cx="2240280" cy="206289"/>
          </a:xfrm>
          <a:prstGeom prst="rect">
            <a:avLst/>
          </a:prstGeom>
          <a:solidFill>
            <a:srgbClr val="EEF0F4"/>
          </a:solidFill>
          <a:ln>
            <a:noFill/>
          </a:ln>
        </p:spPr>
      </p:sp>
      <p:sp>
        <p:nvSpPr>
          <p:cNvPr id="16" name="R0 b0"/>
          <p:cNvSpPr/>
          <p:nvPr/>
        </p:nvSpPr>
        <p:spPr>
          <a:xfrm>
            <a:off x="5074920" y="2173483"/>
            <a:ext cx="1505966" cy="206289"/>
          </a:xfrm>
          <a:prstGeom prst="rect">
            <a:avLst/>
          </a:prstGeom>
          <a:solidFill>
            <a:srgbClr val="6F8BD8"/>
          </a:solidFill>
          <a:ln>
            <a:noFill/>
          </a:ln>
        </p:spPr>
      </p:sp>
      <p:sp>
        <p:nvSpPr>
          <p:cNvPr id="17" name="R0 v0"/>
          <p:cNvSpPr txBox="1"/>
          <p:nvPr/>
        </p:nvSpPr>
        <p:spPr>
          <a:xfrm>
            <a:off x="6626606" y="2093976"/>
            <a:ext cx="685800" cy="36530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6F8BD8"/>
                </a:solidFill>
                <a:latin typeface="210 옴니고딕 050"/>
                <a:ea typeface="210 옴니고딕 050"/>
                <a:cs typeface="210 옴니고딕 050"/>
              </a:rPr>
              <a:t>24.2일</a:t>
            </a:r>
            <a:endParaRPr lang="ko-KR" sz="1000"/>
          </a:p>
        </p:txBody>
      </p:sp>
      <p:sp>
        <p:nvSpPr>
          <p:cNvPr id="18" name="R0 l1"/>
          <p:cNvSpPr txBox="1"/>
          <p:nvPr/>
        </p:nvSpPr>
        <p:spPr>
          <a:xfrm>
            <a:off x="3474720" y="2459279"/>
            <a:ext cx="1600200" cy="36530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케라틴 겔 A</a:t>
            </a:r>
            <a:endParaRPr lang="ko-KR" sz="950"/>
          </a:p>
        </p:txBody>
      </p:sp>
      <p:sp>
        <p:nvSpPr>
          <p:cNvPr id="19" name="R0 tr1"/>
          <p:cNvSpPr/>
          <p:nvPr/>
        </p:nvSpPr>
        <p:spPr>
          <a:xfrm>
            <a:off x="5074920" y="2538786"/>
            <a:ext cx="2240280" cy="206289"/>
          </a:xfrm>
          <a:prstGeom prst="rect">
            <a:avLst/>
          </a:prstGeom>
          <a:solidFill>
            <a:srgbClr val="EEF0F4"/>
          </a:solidFill>
          <a:ln>
            <a:noFill/>
          </a:ln>
        </p:spPr>
      </p:sp>
      <p:sp>
        <p:nvSpPr>
          <p:cNvPr id="20" name="R0 b1"/>
          <p:cNvSpPr/>
          <p:nvPr/>
        </p:nvSpPr>
        <p:spPr>
          <a:xfrm>
            <a:off x="5074920" y="2538786"/>
            <a:ext cx="1555750" cy="206289"/>
          </a:xfrm>
          <a:prstGeom prst="rect">
            <a:avLst/>
          </a:prstGeom>
          <a:solidFill>
            <a:srgbClr val="102290"/>
          </a:solidFill>
          <a:ln>
            <a:noFill/>
          </a:ln>
        </p:spPr>
      </p:sp>
      <p:sp>
        <p:nvSpPr>
          <p:cNvPr id="21" name="R0 v1"/>
          <p:cNvSpPr txBox="1"/>
          <p:nvPr/>
        </p:nvSpPr>
        <p:spPr>
          <a:xfrm>
            <a:off x="6676390" y="2459279"/>
            <a:ext cx="685800" cy="36530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25.0일</a:t>
            </a:r>
            <a:endParaRPr lang="ko-KR" sz="1000"/>
          </a:p>
        </p:txBody>
      </p:sp>
      <p:sp>
        <p:nvSpPr>
          <p:cNvPr id="22" name="R0 l2"/>
          <p:cNvSpPr txBox="1"/>
          <p:nvPr/>
        </p:nvSpPr>
        <p:spPr>
          <a:xfrm>
            <a:off x="3474720" y="2824582"/>
            <a:ext cx="1600200" cy="36530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케라틴 겔 B</a:t>
            </a:r>
            <a:endParaRPr lang="ko-KR" sz="950"/>
          </a:p>
        </p:txBody>
      </p:sp>
      <p:sp>
        <p:nvSpPr>
          <p:cNvPr id="23" name="R0 tr2"/>
          <p:cNvSpPr/>
          <p:nvPr/>
        </p:nvSpPr>
        <p:spPr>
          <a:xfrm>
            <a:off x="5074920" y="2904089"/>
            <a:ext cx="2240280" cy="206289"/>
          </a:xfrm>
          <a:prstGeom prst="rect">
            <a:avLst/>
          </a:prstGeom>
          <a:solidFill>
            <a:srgbClr val="EEF0F4"/>
          </a:solidFill>
          <a:ln>
            <a:noFill/>
          </a:ln>
        </p:spPr>
      </p:sp>
      <p:sp>
        <p:nvSpPr>
          <p:cNvPr id="24" name="R0 b2"/>
          <p:cNvSpPr/>
          <p:nvPr/>
        </p:nvSpPr>
        <p:spPr>
          <a:xfrm>
            <a:off x="5074920" y="2904089"/>
            <a:ext cx="1605534" cy="206289"/>
          </a:xfrm>
          <a:prstGeom prst="rect">
            <a:avLst/>
          </a:prstGeom>
          <a:solidFill>
            <a:srgbClr val="102290"/>
          </a:solidFill>
          <a:ln>
            <a:noFill/>
          </a:ln>
        </p:spPr>
      </p:sp>
      <p:sp>
        <p:nvSpPr>
          <p:cNvPr id="25" name="R0 v2"/>
          <p:cNvSpPr txBox="1"/>
          <p:nvPr/>
        </p:nvSpPr>
        <p:spPr>
          <a:xfrm>
            <a:off x="6726174" y="2824582"/>
            <a:ext cx="685800" cy="36530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25.8일</a:t>
            </a:r>
            <a:endParaRPr lang="ko-KR" sz="1000"/>
          </a:p>
        </p:txBody>
      </p:sp>
      <p:sp>
        <p:nvSpPr>
          <p:cNvPr id="26" name="R0 l3"/>
          <p:cNvSpPr txBox="1"/>
          <p:nvPr/>
        </p:nvSpPr>
        <p:spPr>
          <a:xfrm>
            <a:off x="3474720" y="3189884"/>
            <a:ext cx="1600200" cy="36530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은 연고 (SSD)</a:t>
            </a:r>
            <a:endParaRPr lang="ko-KR" sz="950"/>
          </a:p>
        </p:txBody>
      </p:sp>
      <p:sp>
        <p:nvSpPr>
          <p:cNvPr id="27" name="R0 tr3"/>
          <p:cNvSpPr/>
          <p:nvPr/>
        </p:nvSpPr>
        <p:spPr>
          <a:xfrm>
            <a:off x="5074920" y="3269391"/>
            <a:ext cx="2240280" cy="206289"/>
          </a:xfrm>
          <a:prstGeom prst="rect">
            <a:avLst/>
          </a:prstGeom>
          <a:solidFill>
            <a:srgbClr val="EEF0F4"/>
          </a:solidFill>
          <a:ln>
            <a:noFill/>
          </a:ln>
        </p:spPr>
      </p:sp>
      <p:sp>
        <p:nvSpPr>
          <p:cNvPr id="28" name="R0 b3"/>
          <p:cNvSpPr/>
          <p:nvPr/>
        </p:nvSpPr>
        <p:spPr>
          <a:xfrm>
            <a:off x="5074920" y="3269391"/>
            <a:ext cx="2153158" cy="206289"/>
          </a:xfrm>
          <a:prstGeom prst="rect">
            <a:avLst/>
          </a:prstGeom>
          <a:solidFill>
            <a:srgbClr val="C9CCD6"/>
          </a:solidFill>
          <a:ln>
            <a:noFill/>
          </a:ln>
        </p:spPr>
      </p:sp>
      <p:sp>
        <p:nvSpPr>
          <p:cNvPr id="29" name="R0 v3"/>
          <p:cNvSpPr txBox="1"/>
          <p:nvPr/>
        </p:nvSpPr>
        <p:spPr>
          <a:xfrm>
            <a:off x="7273798" y="3189884"/>
            <a:ext cx="685800" cy="36530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34.6일</a:t>
            </a:r>
            <a:endParaRPr lang="ko-KR" sz="1000"/>
          </a:p>
        </p:txBody>
      </p:sp>
      <p:sp>
        <p:nvSpPr>
          <p:cNvPr id="30" name="R0 read bg"/>
          <p:cNvSpPr/>
          <p:nvPr/>
        </p:nvSpPr>
        <p:spPr>
          <a:xfrm>
            <a:off x="8092440" y="1767352"/>
            <a:ext cx="3474720" cy="1770644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</p:spPr>
      </p:sp>
      <p:sp>
        <p:nvSpPr>
          <p:cNvPr id="31" name="R0 read h"/>
          <p:cNvSpPr txBox="1"/>
          <p:nvPr/>
        </p:nvSpPr>
        <p:spPr>
          <a:xfrm>
            <a:off x="8229600" y="1836115"/>
            <a:ext cx="3200400" cy="532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케라틴 ≈ 콜라겐, 은 연고보다 약 9일 빠름</a:t>
            </a:r>
            <a:endParaRPr lang="ko-KR" sz="1200"/>
          </a:p>
        </p:txBody>
      </p:sp>
      <p:sp>
        <p:nvSpPr>
          <p:cNvPr id="32" name="R0 read b"/>
          <p:cNvSpPr txBox="1"/>
          <p:nvPr/>
        </p:nvSpPr>
        <p:spPr>
          <a:xfrm>
            <a:off x="8229600" y="2394814"/>
            <a:ext cx="3200400" cy="10744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ko-KR" sz="9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• 업계 표준인 콜라겐 드레싱과 비슷한 수준</a:t>
            </a:r>
            <a:endParaRPr lang="ko-KR" sz="1100"/>
          </a:p>
          <a:p>
            <a:pPr marL="0" indent="0" algn="l">
              <a:spcAft>
                <a:spcPts val="300"/>
              </a:spcAft>
              <a:buNone/>
            </a:pPr>
            <a:r>
              <a:rPr lang="ko-KR" sz="9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• 한계: 돼지 14마리 동물시험 · 사람 근거 아님</a:t>
            </a:r>
            <a:endParaRPr lang="ko-KR" sz="1100"/>
          </a:p>
        </p:txBody>
      </p:sp>
      <p:sp>
        <p:nvSpPr>
          <p:cNvPr id="33" name="R1"/>
          <p:cNvSpPr/>
          <p:nvPr/>
        </p:nvSpPr>
        <p:spPr>
          <a:xfrm>
            <a:off x="502920" y="3744285"/>
            <a:ext cx="11183112" cy="195974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34" name="R1 tag"/>
          <p:cNvSpPr txBox="1"/>
          <p:nvPr/>
        </p:nvSpPr>
        <p:spPr>
          <a:xfrm>
            <a:off x="640080" y="3847429"/>
            <a:ext cx="2331720" cy="257861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② 사람 · 방사선 피부염</a:t>
            </a:r>
            <a:endParaRPr lang="ko-KR" sz="1000"/>
          </a:p>
        </p:txBody>
      </p:sp>
      <p:pic>
        <p:nvPicPr>
          <p:cNvPr id="35" name="R1 thumb" descr="원문 Fig.1 · 평균 피부염 점수 추이 (유방암)"/>
          <p:cNvPicPr>
            <a:picLocks noChangeAspect="1"/>
          </p:cNvPicPr>
          <p:nvPr/>
        </p:nvPicPr>
        <p:blipFill>
          <a:blip r:embed="rI_breast"/>
          <a:stretch>
            <a:fillRect/>
          </a:stretch>
        </p:blipFill>
        <p:spPr>
          <a:xfrm>
            <a:off x="749682" y="4174053"/>
            <a:ext cx="2112517" cy="1168969"/>
          </a:xfrm>
          <a:prstGeom prst="rect">
            <a:avLst/>
          </a:prstGeom>
        </p:spPr>
      </p:pic>
      <p:sp>
        <p:nvSpPr>
          <p:cNvPr id="36" name="R1 thumb cap"/>
          <p:cNvSpPr txBox="1"/>
          <p:nvPr/>
        </p:nvSpPr>
        <p:spPr>
          <a:xfrm>
            <a:off x="640080" y="5377404"/>
            <a:ext cx="233172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원문 Fig.1 · 평균 피부염 점수 추이 (유방암)</a:t>
            </a:r>
            <a:endParaRPr lang="ko-KR" sz="800"/>
          </a:p>
        </p:txBody>
      </p:sp>
      <p:sp>
        <p:nvSpPr>
          <p:cNvPr id="37" name="R1 arrow"/>
          <p:cNvSpPr/>
          <p:nvPr/>
        </p:nvSpPr>
        <p:spPr>
          <a:xfrm>
            <a:off x="3090672" y="4586630"/>
            <a:ext cx="237744" cy="275052"/>
          </a:xfrm>
          <a:prstGeom prst="chevron">
            <a:avLst/>
          </a:prstGeom>
          <a:solidFill>
            <a:srgbClr val="C9CCD6"/>
          </a:solidFill>
          <a:ln>
            <a:noFill/>
          </a:ln>
        </p:spPr>
      </p:sp>
      <p:sp>
        <p:nvSpPr>
          <p:cNvPr id="38" name="R1 chart t"/>
          <p:cNvSpPr txBox="1"/>
          <p:nvPr/>
        </p:nvSpPr>
        <p:spPr>
          <a:xfrm>
            <a:off x="3474720" y="3830239"/>
            <a:ext cx="4343400" cy="2750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2도 이상 피부염 발생률 (낮을수록 좋음)</a:t>
            </a:r>
            <a:endParaRPr lang="ko-KR" sz="1050"/>
          </a:p>
        </p:txBody>
      </p:sp>
      <p:sp>
        <p:nvSpPr>
          <p:cNvPr id="39" name="R1 g0"/>
          <p:cNvSpPr txBox="1"/>
          <p:nvPr/>
        </p:nvSpPr>
        <p:spPr>
          <a:xfrm>
            <a:off x="3474720" y="4156862"/>
            <a:ext cx="1600200" cy="361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유방암</a:t>
            </a:r>
            <a:endParaRPr lang="ko-KR" sz="900"/>
          </a:p>
        </p:txBody>
      </p:sp>
      <p:sp>
        <p:nvSpPr>
          <p:cNvPr id="40" name="R1 l0"/>
          <p:cNvSpPr txBox="1"/>
          <p:nvPr/>
        </p:nvSpPr>
        <p:spPr>
          <a:xfrm>
            <a:off x="4187952" y="4174053"/>
            <a:ext cx="886968" cy="361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KeraStat</a:t>
            </a:r>
            <a:endParaRPr lang="ko-KR" sz="950"/>
          </a:p>
        </p:txBody>
      </p:sp>
      <p:sp>
        <p:nvSpPr>
          <p:cNvPr id="41" name="R1 tr0"/>
          <p:cNvSpPr/>
          <p:nvPr/>
        </p:nvSpPr>
        <p:spPr>
          <a:xfrm>
            <a:off x="5074920" y="4251411"/>
            <a:ext cx="2240280" cy="206289"/>
          </a:xfrm>
          <a:prstGeom prst="rect">
            <a:avLst/>
          </a:prstGeom>
          <a:solidFill>
            <a:srgbClr val="EEF0F4"/>
          </a:solidFill>
          <a:ln>
            <a:noFill/>
          </a:ln>
        </p:spPr>
      </p:sp>
      <p:sp>
        <p:nvSpPr>
          <p:cNvPr id="42" name="R1 b0"/>
          <p:cNvSpPr/>
          <p:nvPr/>
        </p:nvSpPr>
        <p:spPr>
          <a:xfrm>
            <a:off x="5074920" y="4251411"/>
            <a:ext cx="862508" cy="206289"/>
          </a:xfrm>
          <a:prstGeom prst="rect">
            <a:avLst/>
          </a:prstGeom>
          <a:solidFill>
            <a:srgbClr val="C00A3E"/>
          </a:solidFill>
          <a:ln>
            <a:noFill/>
          </a:ln>
        </p:spPr>
      </p:sp>
      <p:sp>
        <p:nvSpPr>
          <p:cNvPr id="43" name="R1 v0"/>
          <p:cNvSpPr txBox="1"/>
          <p:nvPr/>
        </p:nvSpPr>
        <p:spPr>
          <a:xfrm>
            <a:off x="5983148" y="4174053"/>
            <a:ext cx="685800" cy="361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C00A3E"/>
                </a:solidFill>
                <a:latin typeface="210 옴니고딕 050"/>
                <a:ea typeface="210 옴니고딕 050"/>
                <a:cs typeface="210 옴니고딕 050"/>
              </a:rPr>
              <a:t>30.8%</a:t>
            </a:r>
            <a:endParaRPr lang="ko-KR" sz="1000"/>
          </a:p>
        </p:txBody>
      </p:sp>
      <p:sp>
        <p:nvSpPr>
          <p:cNvPr id="44" name="R1 l1"/>
          <p:cNvSpPr txBox="1"/>
          <p:nvPr/>
        </p:nvSpPr>
        <p:spPr>
          <a:xfrm>
            <a:off x="4187952" y="4535058"/>
            <a:ext cx="886968" cy="361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표준관리</a:t>
            </a:r>
            <a:endParaRPr lang="ko-KR" sz="950"/>
          </a:p>
        </p:txBody>
      </p:sp>
      <p:sp>
        <p:nvSpPr>
          <p:cNvPr id="45" name="R1 tr1"/>
          <p:cNvSpPr/>
          <p:nvPr/>
        </p:nvSpPr>
        <p:spPr>
          <a:xfrm>
            <a:off x="5074920" y="4612416"/>
            <a:ext cx="2240280" cy="206289"/>
          </a:xfrm>
          <a:prstGeom prst="rect">
            <a:avLst/>
          </a:prstGeom>
          <a:solidFill>
            <a:srgbClr val="EEF0F4"/>
          </a:solidFill>
          <a:ln>
            <a:noFill/>
          </a:ln>
        </p:spPr>
      </p:sp>
      <p:sp>
        <p:nvSpPr>
          <p:cNvPr id="46" name="R1 b1"/>
          <p:cNvSpPr/>
          <p:nvPr/>
        </p:nvSpPr>
        <p:spPr>
          <a:xfrm>
            <a:off x="5074920" y="4612416"/>
            <a:ext cx="1526191" cy="206289"/>
          </a:xfrm>
          <a:prstGeom prst="rect">
            <a:avLst/>
          </a:prstGeom>
          <a:solidFill>
            <a:srgbClr val="C9CCD6"/>
          </a:solidFill>
          <a:ln>
            <a:noFill/>
          </a:ln>
        </p:spPr>
      </p:sp>
      <p:sp>
        <p:nvSpPr>
          <p:cNvPr id="47" name="R1 v1"/>
          <p:cNvSpPr txBox="1"/>
          <p:nvPr/>
        </p:nvSpPr>
        <p:spPr>
          <a:xfrm>
            <a:off x="6646831" y="4535058"/>
            <a:ext cx="685800" cy="361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54.5%</a:t>
            </a:r>
            <a:endParaRPr lang="ko-KR" sz="1000"/>
          </a:p>
        </p:txBody>
      </p:sp>
      <p:sp>
        <p:nvSpPr>
          <p:cNvPr id="48" name="R1 g2"/>
          <p:cNvSpPr txBox="1"/>
          <p:nvPr/>
        </p:nvSpPr>
        <p:spPr>
          <a:xfrm>
            <a:off x="3474720" y="4878873"/>
            <a:ext cx="1600200" cy="361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두경부암</a:t>
            </a:r>
            <a:endParaRPr lang="ko-KR" sz="900"/>
          </a:p>
        </p:txBody>
      </p:sp>
      <p:sp>
        <p:nvSpPr>
          <p:cNvPr id="49" name="R1 l2"/>
          <p:cNvSpPr txBox="1"/>
          <p:nvPr/>
        </p:nvSpPr>
        <p:spPr>
          <a:xfrm>
            <a:off x="4187952" y="4896063"/>
            <a:ext cx="886968" cy="361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KeraStat</a:t>
            </a:r>
            <a:endParaRPr lang="ko-KR" sz="950"/>
          </a:p>
        </p:txBody>
      </p:sp>
      <p:sp>
        <p:nvSpPr>
          <p:cNvPr id="50" name="R1 tr2"/>
          <p:cNvSpPr/>
          <p:nvPr/>
        </p:nvSpPr>
        <p:spPr>
          <a:xfrm>
            <a:off x="5074920" y="4973422"/>
            <a:ext cx="2240280" cy="206289"/>
          </a:xfrm>
          <a:prstGeom prst="rect">
            <a:avLst/>
          </a:prstGeom>
          <a:solidFill>
            <a:srgbClr val="EEF0F4"/>
          </a:solidFill>
          <a:ln>
            <a:noFill/>
          </a:ln>
        </p:spPr>
      </p:sp>
      <p:sp>
        <p:nvSpPr>
          <p:cNvPr id="51" name="R1 b2"/>
          <p:cNvSpPr/>
          <p:nvPr/>
        </p:nvSpPr>
        <p:spPr>
          <a:xfrm>
            <a:off x="5074920" y="4973422"/>
            <a:ext cx="2100262" cy="206289"/>
          </a:xfrm>
          <a:prstGeom prst="rect">
            <a:avLst/>
          </a:prstGeom>
          <a:solidFill>
            <a:srgbClr val="C00A3E"/>
          </a:solidFill>
          <a:ln>
            <a:noFill/>
          </a:ln>
        </p:spPr>
      </p:sp>
      <p:sp>
        <p:nvSpPr>
          <p:cNvPr id="52" name="R1 v2"/>
          <p:cNvSpPr txBox="1"/>
          <p:nvPr/>
        </p:nvSpPr>
        <p:spPr>
          <a:xfrm>
            <a:off x="7220902" y="4896063"/>
            <a:ext cx="685800" cy="361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C00A3E"/>
                </a:solidFill>
                <a:latin typeface="210 옴니고딕 050"/>
                <a:ea typeface="210 옴니고딕 050"/>
                <a:cs typeface="210 옴니고딕 050"/>
              </a:rPr>
              <a:t>75%</a:t>
            </a:r>
            <a:endParaRPr lang="ko-KR" sz="1000"/>
          </a:p>
        </p:txBody>
      </p:sp>
      <p:sp>
        <p:nvSpPr>
          <p:cNvPr id="53" name="R1 l3"/>
          <p:cNvSpPr txBox="1"/>
          <p:nvPr/>
        </p:nvSpPr>
        <p:spPr>
          <a:xfrm>
            <a:off x="4187952" y="5257068"/>
            <a:ext cx="886968" cy="361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표준관리</a:t>
            </a:r>
            <a:endParaRPr lang="ko-KR" sz="950"/>
          </a:p>
        </p:txBody>
      </p:sp>
      <p:sp>
        <p:nvSpPr>
          <p:cNvPr id="54" name="R1 tr3"/>
          <p:cNvSpPr/>
          <p:nvPr/>
        </p:nvSpPr>
        <p:spPr>
          <a:xfrm>
            <a:off x="5074920" y="5334427"/>
            <a:ext cx="2240280" cy="206289"/>
          </a:xfrm>
          <a:prstGeom prst="rect">
            <a:avLst/>
          </a:prstGeom>
          <a:solidFill>
            <a:srgbClr val="EEF0F4"/>
          </a:solidFill>
          <a:ln>
            <a:noFill/>
          </a:ln>
        </p:spPr>
      </p:sp>
      <p:sp>
        <p:nvSpPr>
          <p:cNvPr id="55" name="R1 b3"/>
          <p:cNvSpPr/>
          <p:nvPr/>
        </p:nvSpPr>
        <p:spPr>
          <a:xfrm>
            <a:off x="5074920" y="5334427"/>
            <a:ext cx="1624203" cy="206289"/>
          </a:xfrm>
          <a:prstGeom prst="rect">
            <a:avLst/>
          </a:prstGeom>
          <a:solidFill>
            <a:srgbClr val="C9CCD6"/>
          </a:solidFill>
          <a:ln>
            <a:noFill/>
          </a:ln>
        </p:spPr>
      </p:sp>
      <p:sp>
        <p:nvSpPr>
          <p:cNvPr id="56" name="R1 v3"/>
          <p:cNvSpPr txBox="1"/>
          <p:nvPr/>
        </p:nvSpPr>
        <p:spPr>
          <a:xfrm>
            <a:off x="6744843" y="5257068"/>
            <a:ext cx="685800" cy="361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58%</a:t>
            </a:r>
            <a:endParaRPr lang="ko-KR" sz="1000"/>
          </a:p>
        </p:txBody>
      </p:sp>
      <p:sp>
        <p:nvSpPr>
          <p:cNvPr id="57" name="R1 read bg"/>
          <p:cNvSpPr/>
          <p:nvPr/>
        </p:nvSpPr>
        <p:spPr>
          <a:xfrm>
            <a:off x="8092440" y="3847429"/>
            <a:ext cx="3474720" cy="1753453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</p:spPr>
      </p:sp>
      <p:sp>
        <p:nvSpPr>
          <p:cNvPr id="58" name="R1 read h"/>
          <p:cNvSpPr txBox="1"/>
          <p:nvPr/>
        </p:nvSpPr>
        <p:spPr>
          <a:xfrm>
            <a:off x="8229600" y="3916192"/>
            <a:ext cx="3200400" cy="532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두 연구 결과가 반대 · 둘 다 유의차 없음</a:t>
            </a:r>
            <a:endParaRPr lang="ko-KR" sz="1200"/>
          </a:p>
        </p:txBody>
      </p:sp>
      <p:sp>
        <p:nvSpPr>
          <p:cNvPr id="59" name="R1 read b"/>
          <p:cNvSpPr txBox="1"/>
          <p:nvPr/>
        </p:nvSpPr>
        <p:spPr>
          <a:xfrm>
            <a:off x="8229600" y="4474891"/>
            <a:ext cx="3200400" cy="10572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ko-KR" sz="9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• 각 24명 소규모 · p = 0.41 / 0.67</a:t>
            </a:r>
            <a:endParaRPr lang="ko-KR" sz="1100"/>
          </a:p>
          <a:p>
            <a:pPr marL="0" indent="0" algn="l">
              <a:spcAft>
                <a:spcPts val="300"/>
              </a:spcAft>
              <a:buNone/>
            </a:pPr>
            <a:r>
              <a:rPr lang="ko-KR" sz="9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• 기타: 화상 임상 14/30명 조기 종료 · 당뇨발 12주 치유 격주 77% vs 주 1회 69% (대조군 없음)</a:t>
            </a:r>
            <a:endParaRPr lang="ko-KR" sz="1100"/>
          </a:p>
        </p:txBody>
      </p:sp>
      <p:sp>
        <p:nvSpPr>
          <p:cNvPr id="60" name="Key box"/>
          <p:cNvSpPr/>
          <p:nvPr/>
        </p:nvSpPr>
        <p:spPr>
          <a:xfrm>
            <a:off x="502920" y="5807172"/>
            <a:ext cx="11183112" cy="429768"/>
          </a:xfrm>
          <a:prstGeom prst="roundRect">
            <a:avLst>
              <a:gd name="adj" fmla="val 12000"/>
            </a:avLst>
          </a:prstGeom>
          <a:solidFill>
            <a:srgbClr val="E6E9F5"/>
          </a:solidFill>
          <a:ln>
            <a:noFill/>
          </a:ln>
        </p:spPr>
      </p:sp>
      <p:sp>
        <p:nvSpPr>
          <p:cNvPr id="61" name="Key label"/>
          <p:cNvSpPr txBox="1"/>
          <p:nvPr/>
        </p:nvSpPr>
        <p:spPr>
          <a:xfrm>
            <a:off x="640080" y="5893125"/>
            <a:ext cx="685800" cy="257861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핵심</a:t>
            </a:r>
            <a:endParaRPr lang="ko-KR" sz="1000"/>
          </a:p>
        </p:txBody>
      </p:sp>
      <p:sp>
        <p:nvSpPr>
          <p:cNvPr id="62" name="Key text"/>
          <p:cNvSpPr txBox="1"/>
          <p:nvPr/>
        </p:nvSpPr>
        <p:spPr>
          <a:xfrm>
            <a:off x="1463040" y="5807172"/>
            <a:ext cx="1005840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동물에선 콜라겐 수준 효과, 사람 대상 확증은 아직 없음 → 제대로 설계된 비교임상 자체가 KheAl의 차별점</a:t>
            </a:r>
            <a:endParaRPr lang="ko-KR" sz="1250"/>
          </a:p>
        </p:txBody>
      </p:sp>
      <p:sp>
        <p:nvSpPr>
          <p:cNvPr id="63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Poranki 2016 (돼지 화상)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Breast RD Pilot 2023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3"/>
              </a:rPr>
              <a:t>Head &amp; Neck RD Pilot 2024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4"/>
              </a:rPr>
              <a:t>NCT03564795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5"/>
              </a:rPr>
              <a:t>ProgenaMatrix DFU</a:t>
            </a:r>
            <a:endParaRPr lang="ko-KR" sz="75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KheAl 검증 4단계 — 케라틴의 기여는 따로 증명한다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임상시험은 완제품 성능만 보여줌 → 케라틴의 몫은 ‘케라틴을 뺀 조성’과 비교해야 분리됨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20</a:t>
            </a:r>
            <a:endParaRPr lang="ko-KR" sz="800"/>
          </a:p>
        </p:txBody>
      </p:sp>
      <p:sp>
        <p:nvSpPr>
          <p:cNvPr id="8" name="Product card"/>
          <p:cNvSpPr/>
          <p:nvPr/>
        </p:nvSpPr>
        <p:spPr>
          <a:xfrm>
            <a:off x="502920" y="1664208"/>
            <a:ext cx="2834640" cy="399684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pic>
        <p:nvPicPr>
          <p:cNvPr id="9" name="KheAl product" descr="KheAl 제품 사진"/>
          <p:cNvPicPr>
            <a:picLocks noChangeAspect="1"/>
          </p:cNvPicPr>
          <p:nvPr/>
        </p:nvPicPr>
        <p:blipFill>
          <a:blip r:embed="rI1"/>
          <a:stretch>
            <a:fillRect/>
          </a:stretch>
        </p:blipFill>
        <p:spPr>
          <a:xfrm>
            <a:off x="716890" y="1879092"/>
            <a:ext cx="2406701" cy="1805026"/>
          </a:xfrm>
          <a:prstGeom prst="rect">
            <a:avLst/>
          </a:prstGeom>
        </p:spPr>
      </p:pic>
      <p:sp>
        <p:nvSpPr>
          <p:cNvPr id="10" name="Prod name"/>
          <p:cNvSpPr txBox="1"/>
          <p:nvPr/>
        </p:nvSpPr>
        <p:spPr>
          <a:xfrm>
            <a:off x="502920" y="3813048"/>
            <a:ext cx="2834640" cy="3438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4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KheAl 완제품</a:t>
            </a:r>
            <a:endParaRPr lang="ko-KR" sz="1400"/>
          </a:p>
        </p:txBody>
      </p:sp>
      <p:sp>
        <p:nvSpPr>
          <p:cNvPr id="11" name="Prod comp"/>
          <p:cNvSpPr txBox="1"/>
          <p:nvPr/>
        </p:nvSpPr>
        <p:spPr>
          <a:xfrm>
            <a:off x="502920" y="4156862"/>
            <a:ext cx="28346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1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Keratin + Alginate + HA</a:t>
            </a:r>
            <a:endParaRPr lang="ko-KR" sz="1100"/>
          </a:p>
        </p:txBody>
      </p:sp>
      <p:sp>
        <p:nvSpPr>
          <p:cNvPr id="12" name="Prod note"/>
          <p:cNvSpPr txBox="1"/>
          <p:nvPr/>
        </p:nvSpPr>
        <p:spPr>
          <a:xfrm>
            <a:off x="685800" y="4629607"/>
            <a:ext cx="2468880" cy="816559"/>
          </a:xfrm>
          <a:prstGeom prst="roundRect">
            <a:avLst>
              <a:gd name="adj" fmla="val 10000"/>
            </a:avLst>
          </a:prstGeom>
          <a:solidFill>
            <a:srgbClr val="E8EFFF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pPr marL="0" indent="0" algn="ctr">
              <a:buNone/>
            </a:pPr>
            <a:r>
              <a:rPr lang="ko-KR" sz="105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보호·습윤은 알지네이트·HA만으로도 가능 → 케라틴의 추가 효과를 보여줘야 차별화</a:t>
            </a:r>
            <a:endParaRPr lang="ko-KR" sz="1050"/>
          </a:p>
        </p:txBody>
      </p:sp>
      <p:sp>
        <p:nvSpPr>
          <p:cNvPr id="13" name="Row 0"/>
          <p:cNvSpPr/>
          <p:nvPr/>
        </p:nvSpPr>
        <p:spPr>
          <a:xfrm>
            <a:off x="3520440" y="1664208"/>
            <a:ext cx="8165592" cy="9111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14" name="Row num 0"/>
          <p:cNvSpPr txBox="1"/>
          <p:nvPr/>
        </p:nvSpPr>
        <p:spPr>
          <a:xfrm>
            <a:off x="3703320" y="1904878"/>
            <a:ext cx="457200" cy="429768"/>
          </a:xfrm>
          <a:prstGeom prst="ellipse">
            <a:avLst/>
          </a:prstGeom>
          <a:solidFill>
            <a:srgbClr val="10229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3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1</a:t>
            </a:r>
            <a:endParaRPr lang="ko-KR" sz="1300"/>
          </a:p>
        </p:txBody>
      </p:sp>
      <p:sp>
        <p:nvSpPr>
          <p:cNvPr id="15" name="Row t 0"/>
          <p:cNvSpPr txBox="1"/>
          <p:nvPr/>
        </p:nvSpPr>
        <p:spPr>
          <a:xfrm>
            <a:off x="4343400" y="1750162"/>
            <a:ext cx="1828800" cy="739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4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원료 품질</a:t>
            </a:r>
            <a:endParaRPr lang="ko-KR" sz="1400"/>
          </a:p>
        </p:txBody>
      </p:sp>
      <p:sp>
        <p:nvSpPr>
          <p:cNvPr id="16" name="Row q 0"/>
          <p:cNvSpPr txBox="1"/>
          <p:nvPr/>
        </p:nvSpPr>
        <p:spPr>
          <a:xfrm>
            <a:off x="6126480" y="1750162"/>
            <a:ext cx="3108960" cy="739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멸균·보관 후에도 케라틴 특성이 유지되나?</a:t>
            </a:r>
            <a:endParaRPr lang="ko-KR" sz="1200"/>
          </a:p>
        </p:txBody>
      </p:sp>
      <p:sp>
        <p:nvSpPr>
          <p:cNvPr id="17" name="Row m 0"/>
          <p:cNvSpPr txBox="1"/>
          <p:nvPr/>
        </p:nvSpPr>
        <p:spPr>
          <a:xfrm>
            <a:off x="9326880" y="1887687"/>
            <a:ext cx="2212848" cy="464149"/>
          </a:xfrm>
          <a:prstGeom prst="roundRect">
            <a:avLst>
              <a:gd name="adj" fmla="val 16000"/>
            </a:avLst>
          </a:prstGeom>
          <a:solidFill>
            <a:srgbClr val="E6E9F5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원료 분석 · 완제품 비교</a:t>
            </a:r>
            <a:endParaRPr lang="ko-KR" sz="1000"/>
          </a:p>
        </p:txBody>
      </p:sp>
      <p:sp>
        <p:nvSpPr>
          <p:cNvPr id="18" name="Row 1"/>
          <p:cNvSpPr/>
          <p:nvPr/>
        </p:nvSpPr>
        <p:spPr>
          <a:xfrm>
            <a:off x="3520440" y="2678460"/>
            <a:ext cx="8165592" cy="9111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19" name="Row num 1"/>
          <p:cNvSpPr txBox="1"/>
          <p:nvPr/>
        </p:nvSpPr>
        <p:spPr>
          <a:xfrm>
            <a:off x="3703320" y="2919131"/>
            <a:ext cx="457200" cy="42976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3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2</a:t>
            </a:r>
            <a:endParaRPr lang="ko-KR" sz="1300"/>
          </a:p>
        </p:txBody>
      </p:sp>
      <p:sp>
        <p:nvSpPr>
          <p:cNvPr id="20" name="Row t 1"/>
          <p:cNvSpPr txBox="1"/>
          <p:nvPr/>
        </p:nvSpPr>
        <p:spPr>
          <a:xfrm>
            <a:off x="4343400" y="2764414"/>
            <a:ext cx="1828800" cy="739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40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케라틴 기여</a:t>
            </a:r>
            <a:endParaRPr lang="ko-KR" sz="1400"/>
          </a:p>
        </p:txBody>
      </p:sp>
      <p:sp>
        <p:nvSpPr>
          <p:cNvPr id="21" name="Row q 1"/>
          <p:cNvSpPr txBox="1"/>
          <p:nvPr/>
        </p:nvSpPr>
        <p:spPr>
          <a:xfrm>
            <a:off x="6126480" y="2764414"/>
            <a:ext cx="3108960" cy="739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케라틴을 뺀 조성보다 세포·면역 반응이 더 좋은가?</a:t>
            </a:r>
            <a:endParaRPr lang="ko-KR" sz="1200"/>
          </a:p>
        </p:txBody>
      </p:sp>
      <p:sp>
        <p:nvSpPr>
          <p:cNvPr id="22" name="Row m 1"/>
          <p:cNvSpPr txBox="1"/>
          <p:nvPr/>
        </p:nvSpPr>
        <p:spPr>
          <a:xfrm>
            <a:off x="9326880" y="2901940"/>
            <a:ext cx="2212848" cy="464149"/>
          </a:xfrm>
          <a:prstGeom prst="roundRect">
            <a:avLst>
              <a:gd name="adj" fmla="val 16000"/>
            </a:avLst>
          </a:prstGeom>
          <a:solidFill>
            <a:srgbClr val="F1E8F7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KheAl vs 알지네이트+HA vs 케라틴 단독</a:t>
            </a:r>
            <a:endParaRPr lang="ko-KR" sz="1000"/>
          </a:p>
        </p:txBody>
      </p:sp>
      <p:sp>
        <p:nvSpPr>
          <p:cNvPr id="23" name="Row 2"/>
          <p:cNvSpPr/>
          <p:nvPr/>
        </p:nvSpPr>
        <p:spPr>
          <a:xfrm>
            <a:off x="3520440" y="3692713"/>
            <a:ext cx="8165592" cy="9111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24" name="Row num 2"/>
          <p:cNvSpPr txBox="1"/>
          <p:nvPr/>
        </p:nvSpPr>
        <p:spPr>
          <a:xfrm>
            <a:off x="3703320" y="3933383"/>
            <a:ext cx="457200" cy="429768"/>
          </a:xfrm>
          <a:prstGeom prst="ellipse">
            <a:avLst/>
          </a:prstGeom>
          <a:solidFill>
            <a:srgbClr val="437D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3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3</a:t>
            </a:r>
            <a:endParaRPr lang="ko-KR" sz="1300"/>
          </a:p>
        </p:txBody>
      </p:sp>
      <p:sp>
        <p:nvSpPr>
          <p:cNvPr id="25" name="Row t 2"/>
          <p:cNvSpPr txBox="1"/>
          <p:nvPr/>
        </p:nvSpPr>
        <p:spPr>
          <a:xfrm>
            <a:off x="4343400" y="3778667"/>
            <a:ext cx="1828800" cy="739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4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사용 편의</a:t>
            </a:r>
            <a:endParaRPr lang="ko-KR" sz="1400"/>
          </a:p>
        </p:txBody>
      </p:sp>
      <p:sp>
        <p:nvSpPr>
          <p:cNvPr id="26" name="Row q 2"/>
          <p:cNvSpPr txBox="1"/>
          <p:nvPr/>
        </p:nvSpPr>
        <p:spPr>
          <a:xfrm>
            <a:off x="6126480" y="3778667"/>
            <a:ext cx="3108960" cy="739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흡수·보습·바르기·잔류·제거가 더 나은가?</a:t>
            </a:r>
            <a:endParaRPr lang="ko-KR" sz="1200"/>
          </a:p>
        </p:txBody>
      </p:sp>
      <p:sp>
        <p:nvSpPr>
          <p:cNvPr id="27" name="Row m 2"/>
          <p:cNvSpPr txBox="1"/>
          <p:nvPr/>
        </p:nvSpPr>
        <p:spPr>
          <a:xfrm>
            <a:off x="9326880" y="3916192"/>
            <a:ext cx="2212848" cy="464149"/>
          </a:xfrm>
          <a:prstGeom prst="roundRect">
            <a:avLst>
              <a:gd name="adj" fmla="val 16000"/>
            </a:avLst>
          </a:prstGeom>
          <a:solidFill>
            <a:srgbClr val="E8EFFF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실험실 · 사용성 비교</a:t>
            </a:r>
            <a:endParaRPr lang="ko-KR" sz="1000"/>
          </a:p>
        </p:txBody>
      </p:sp>
      <p:sp>
        <p:nvSpPr>
          <p:cNvPr id="28" name="Row 3"/>
          <p:cNvSpPr/>
          <p:nvPr/>
        </p:nvSpPr>
        <p:spPr>
          <a:xfrm>
            <a:off x="3520440" y="4706965"/>
            <a:ext cx="8165592" cy="9111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29" name="Row num 3"/>
          <p:cNvSpPr txBox="1"/>
          <p:nvPr/>
        </p:nvSpPr>
        <p:spPr>
          <a:xfrm>
            <a:off x="3703320" y="4947636"/>
            <a:ext cx="457200" cy="429768"/>
          </a:xfrm>
          <a:prstGeom prst="ellipse">
            <a:avLst/>
          </a:prstGeom>
          <a:solidFill>
            <a:srgbClr val="3B3F5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3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4</a:t>
            </a:r>
            <a:endParaRPr lang="ko-KR" sz="1300"/>
          </a:p>
        </p:txBody>
      </p:sp>
      <p:sp>
        <p:nvSpPr>
          <p:cNvPr id="30" name="Row t 3"/>
          <p:cNvSpPr txBox="1"/>
          <p:nvPr/>
        </p:nvSpPr>
        <p:spPr>
          <a:xfrm>
            <a:off x="4343400" y="4792919"/>
            <a:ext cx="1828800" cy="739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400" b="1">
                <a:solidFill>
                  <a:srgbClr val="3B3F57"/>
                </a:solidFill>
                <a:latin typeface="210 옴니고딕 050"/>
                <a:ea typeface="210 옴니고딕 050"/>
                <a:cs typeface="210 옴니고딕 050"/>
              </a:rPr>
              <a:t>임상 효과</a:t>
            </a:r>
            <a:endParaRPr lang="ko-KR" sz="1400"/>
          </a:p>
        </p:txBody>
      </p:sp>
      <p:sp>
        <p:nvSpPr>
          <p:cNvPr id="31" name="Row q 3"/>
          <p:cNvSpPr txBox="1"/>
          <p:nvPr/>
        </p:nvSpPr>
        <p:spPr>
          <a:xfrm>
            <a:off x="6126480" y="4792919"/>
            <a:ext cx="3108960" cy="739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피부 재생·통증·교체 횟수·처치 시간이 나아지나?</a:t>
            </a:r>
            <a:endParaRPr lang="ko-KR" sz="1200"/>
          </a:p>
        </p:txBody>
      </p:sp>
      <p:sp>
        <p:nvSpPr>
          <p:cNvPr id="32" name="Row m 3"/>
          <p:cNvSpPr txBox="1"/>
          <p:nvPr/>
        </p:nvSpPr>
        <p:spPr>
          <a:xfrm>
            <a:off x="9326880" y="4930445"/>
            <a:ext cx="2212848" cy="464149"/>
          </a:xfrm>
          <a:prstGeom prst="roundRect">
            <a:avLst>
              <a:gd name="adj" fmla="val 16000"/>
            </a:avLst>
          </a:prstGeom>
          <a:solidFill>
            <a:srgbClr val="ECEDF1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3B3F57"/>
                </a:solidFill>
                <a:latin typeface="210 옴니고딕 050"/>
                <a:ea typeface="210 옴니고딕 050"/>
                <a:cs typeface="210 옴니고딕 050"/>
              </a:rPr>
              <a:t>성인 2도 화상 비교임상</a:t>
            </a:r>
            <a:endParaRPr lang="ko-KR" sz="1000"/>
          </a:p>
        </p:txBody>
      </p:sp>
      <p:sp>
        <p:nvSpPr>
          <p:cNvPr id="33" name="Order label"/>
          <p:cNvSpPr txBox="1"/>
          <p:nvPr/>
        </p:nvSpPr>
        <p:spPr>
          <a:xfrm>
            <a:off x="502920" y="5807172"/>
            <a:ext cx="146304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주장 순서</a:t>
            </a:r>
            <a:endParaRPr lang="ko-KR" sz="1200"/>
          </a:p>
        </p:txBody>
      </p:sp>
      <p:sp>
        <p:nvSpPr>
          <p:cNvPr id="34" name="Order 0"/>
          <p:cNvSpPr txBox="1"/>
          <p:nvPr/>
        </p:nvSpPr>
        <p:spPr>
          <a:xfrm>
            <a:off x="1783080" y="5807172"/>
            <a:ext cx="2542032" cy="429768"/>
          </a:xfrm>
          <a:prstGeom prst="homePlate">
            <a:avLst>
              <a:gd name="adj" fmla="val 30000"/>
            </a:avLst>
          </a:prstGeom>
          <a:solidFill>
            <a:srgbClr val="10229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2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보호 · 습윤</a:t>
            </a:r>
            <a:endParaRPr lang="ko-KR" sz="1200"/>
          </a:p>
        </p:txBody>
      </p:sp>
      <p:sp>
        <p:nvSpPr>
          <p:cNvPr id="35" name="Order 1"/>
          <p:cNvSpPr txBox="1"/>
          <p:nvPr/>
        </p:nvSpPr>
        <p:spPr>
          <a:xfrm>
            <a:off x="4233672" y="5807172"/>
            <a:ext cx="2542032" cy="429768"/>
          </a:xfrm>
          <a:prstGeom prst="chevron">
            <a:avLst>
              <a:gd name="adj" fmla="val 30000"/>
            </a:avLst>
          </a:prstGeom>
          <a:solidFill>
            <a:srgbClr val="437D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2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사용 편의</a:t>
            </a:r>
            <a:endParaRPr lang="ko-KR" sz="1200"/>
          </a:p>
        </p:txBody>
      </p:sp>
      <p:sp>
        <p:nvSpPr>
          <p:cNvPr id="36" name="Order 2"/>
          <p:cNvSpPr txBox="1"/>
          <p:nvPr/>
        </p:nvSpPr>
        <p:spPr>
          <a:xfrm>
            <a:off x="6684264" y="5807172"/>
            <a:ext cx="2542032" cy="429768"/>
          </a:xfrm>
          <a:prstGeom prst="chevron">
            <a:avLst>
              <a:gd name="adj" fmla="val 30000"/>
            </a:avLst>
          </a:prstGeom>
          <a:solidFill>
            <a:srgbClr val="3B3F5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2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임상 성능</a:t>
            </a:r>
            <a:endParaRPr lang="ko-KR" sz="1200"/>
          </a:p>
        </p:txBody>
      </p:sp>
      <p:sp>
        <p:nvSpPr>
          <p:cNvPr id="37" name="Order 3"/>
          <p:cNvSpPr txBox="1"/>
          <p:nvPr/>
        </p:nvSpPr>
        <p:spPr>
          <a:xfrm>
            <a:off x="9134856" y="5807172"/>
            <a:ext cx="2542032" cy="429768"/>
          </a:xfrm>
          <a:prstGeom prst="chevron">
            <a:avLst>
              <a:gd name="adj" fmla="val 30000"/>
            </a:avLst>
          </a:prstGeom>
          <a:solidFill>
            <a:srgbClr val="7030A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2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케라틴 기여</a:t>
            </a:r>
            <a:endParaRPr lang="ko-KR" sz="1200"/>
          </a:p>
        </p:txBody>
      </p:sp>
      <p:sp>
        <p:nvSpPr>
          <p:cNvPr id="38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FDA K162759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Keratin Macrophage Study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3"/>
              </a:rPr>
              <a:t>BioFriends KheAl 제품자료</a:t>
            </a:r>
            <a:endParaRPr lang="ko-KR" sz="75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국내 인허가 · 임상 절차 — 6단계와 임상시험 설계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실제 견적 전이라 절차만 표시 · 목표 품목: 생체유래흡수성창상피복재 B07070.07 (4등급)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21</a:t>
            </a:r>
            <a:endParaRPr lang="ko-KR" sz="800"/>
          </a:p>
        </p:txBody>
      </p:sp>
      <p:sp>
        <p:nvSpPr>
          <p:cNvPr id="8" name="St 0"/>
          <p:cNvSpPr txBox="1"/>
          <p:nvPr/>
        </p:nvSpPr>
        <p:spPr>
          <a:xfrm>
            <a:off x="502920" y="1664208"/>
            <a:ext cx="1938528" cy="481340"/>
          </a:xfrm>
          <a:prstGeom prst="homePlate">
            <a:avLst>
              <a:gd name="adj" fmla="val 25000"/>
            </a:avLst>
          </a:prstGeom>
          <a:solidFill>
            <a:srgbClr val="102290"/>
          </a:solidFill>
          <a:ln>
            <a:noFill/>
          </a:ln>
        </p:spPr>
        <p:txBody>
          <a:bodyPr wrap="square" lIns="182880" tIns="18288" rIns="109728" bIns="18288" anchor="ctr">
            <a:noAutofit/>
          </a:bodyPr>
          <a:lstStyle/>
          <a:p>
            <a:pPr marL="0" indent="0" algn="ctr">
              <a:buNone/>
            </a:pPr>
            <a:r>
              <a:rPr lang="ko-KR" sz="11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1  품목 · 사용목적 확정</a:t>
            </a:r>
            <a:endParaRPr lang="ko-KR" sz="1100"/>
          </a:p>
        </p:txBody>
      </p:sp>
      <p:sp>
        <p:nvSpPr>
          <p:cNvPr id="9" name="Ss 0"/>
          <p:cNvSpPr txBox="1"/>
          <p:nvPr/>
        </p:nvSpPr>
        <p:spPr>
          <a:xfrm>
            <a:off x="594360" y="2179930"/>
            <a:ext cx="1755648" cy="2750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B07070.07 · 흡수 · 사용기간</a:t>
            </a:r>
            <a:endParaRPr lang="ko-KR" sz="950"/>
          </a:p>
        </p:txBody>
      </p:sp>
      <p:sp>
        <p:nvSpPr>
          <p:cNvPr id="10" name="St 1"/>
          <p:cNvSpPr txBox="1"/>
          <p:nvPr/>
        </p:nvSpPr>
        <p:spPr>
          <a:xfrm>
            <a:off x="2350008" y="1664208"/>
            <a:ext cx="1938528" cy="481340"/>
          </a:xfrm>
          <a:prstGeom prst="chevron">
            <a:avLst>
              <a:gd name="adj" fmla="val 25000"/>
            </a:avLst>
          </a:prstGeom>
          <a:solidFill>
            <a:srgbClr val="102290"/>
          </a:solidFill>
          <a:ln>
            <a:noFill/>
          </a:ln>
        </p:spPr>
        <p:txBody>
          <a:bodyPr wrap="square" lIns="182880" tIns="18288" rIns="109728" bIns="18288" anchor="ctr">
            <a:noAutofit/>
          </a:bodyPr>
          <a:lstStyle/>
          <a:p>
            <a:pPr marL="0" indent="0" algn="ctr">
              <a:buNone/>
            </a:pPr>
            <a:r>
              <a:rPr lang="ko-KR" sz="11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2  부족 자료 점검</a:t>
            </a:r>
            <a:endParaRPr lang="ko-KR" sz="1100"/>
          </a:p>
        </p:txBody>
      </p:sp>
      <p:sp>
        <p:nvSpPr>
          <p:cNvPr id="11" name="Ss 1"/>
          <p:cNvSpPr txBox="1"/>
          <p:nvPr/>
        </p:nvSpPr>
        <p:spPr>
          <a:xfrm>
            <a:off x="2441448" y="2179930"/>
            <a:ext cx="1755648" cy="2750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성능 · 안전성 · 멸균 · 안정성</a:t>
            </a:r>
            <a:endParaRPr lang="ko-KR" sz="950"/>
          </a:p>
        </p:txBody>
      </p:sp>
      <p:sp>
        <p:nvSpPr>
          <p:cNvPr id="12" name="St 2"/>
          <p:cNvSpPr txBox="1"/>
          <p:nvPr/>
        </p:nvSpPr>
        <p:spPr>
          <a:xfrm>
            <a:off x="4197096" y="1664208"/>
            <a:ext cx="1938528" cy="481340"/>
          </a:xfrm>
          <a:prstGeom prst="chevron">
            <a:avLst>
              <a:gd name="adj" fmla="val 25000"/>
            </a:avLst>
          </a:prstGeom>
          <a:solidFill>
            <a:srgbClr val="102290"/>
          </a:solidFill>
          <a:ln>
            <a:noFill/>
          </a:ln>
        </p:spPr>
        <p:txBody>
          <a:bodyPr wrap="square" lIns="182880" tIns="18288" rIns="109728" bIns="18288" anchor="ctr">
            <a:noAutofit/>
          </a:bodyPr>
          <a:lstStyle/>
          <a:p>
            <a:pPr marL="0" indent="0" algn="ctr">
              <a:buNone/>
            </a:pPr>
            <a:r>
              <a:rPr lang="ko-KR" sz="11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3  임상 계획</a:t>
            </a:r>
            <a:endParaRPr lang="ko-KR" sz="1100"/>
          </a:p>
        </p:txBody>
      </p:sp>
      <p:sp>
        <p:nvSpPr>
          <p:cNvPr id="13" name="Ss 2"/>
          <p:cNvSpPr txBox="1"/>
          <p:nvPr/>
        </p:nvSpPr>
        <p:spPr>
          <a:xfrm>
            <a:off x="4288536" y="2179930"/>
            <a:ext cx="1755648" cy="2750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비교군 · 평가 · 환자 수</a:t>
            </a:r>
            <a:endParaRPr lang="ko-KR" sz="950"/>
          </a:p>
        </p:txBody>
      </p:sp>
      <p:sp>
        <p:nvSpPr>
          <p:cNvPr id="14" name="St 3"/>
          <p:cNvSpPr txBox="1"/>
          <p:nvPr/>
        </p:nvSpPr>
        <p:spPr>
          <a:xfrm>
            <a:off x="6044184" y="1664208"/>
            <a:ext cx="1938528" cy="481340"/>
          </a:xfrm>
          <a:prstGeom prst="chevron">
            <a:avLst>
              <a:gd name="adj" fmla="val 25000"/>
            </a:avLst>
          </a:prstGeom>
          <a:solidFill>
            <a:srgbClr val="437DFF"/>
          </a:solidFill>
          <a:ln>
            <a:noFill/>
          </a:ln>
        </p:spPr>
        <p:txBody>
          <a:bodyPr wrap="square" lIns="182880" tIns="18288" rIns="109728" bIns="18288" anchor="ctr">
            <a:noAutofit/>
          </a:bodyPr>
          <a:lstStyle/>
          <a:p>
            <a:pPr marL="0" indent="0" algn="ctr">
              <a:buNone/>
            </a:pPr>
            <a:r>
              <a:rPr lang="ko-KR" sz="11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4  식약처 · IRB 승인</a:t>
            </a:r>
            <a:endParaRPr lang="ko-KR" sz="1100"/>
          </a:p>
        </p:txBody>
      </p:sp>
      <p:sp>
        <p:nvSpPr>
          <p:cNvPr id="15" name="Ss 3"/>
          <p:cNvSpPr txBox="1"/>
          <p:nvPr/>
        </p:nvSpPr>
        <p:spPr>
          <a:xfrm>
            <a:off x="6135624" y="2179930"/>
            <a:ext cx="1755648" cy="2750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계획 승인 · 보험 · 계약</a:t>
            </a:r>
            <a:endParaRPr lang="ko-KR" sz="950"/>
          </a:p>
        </p:txBody>
      </p:sp>
      <p:sp>
        <p:nvSpPr>
          <p:cNvPr id="16" name="St 4"/>
          <p:cNvSpPr txBox="1"/>
          <p:nvPr/>
        </p:nvSpPr>
        <p:spPr>
          <a:xfrm>
            <a:off x="7891272" y="1664208"/>
            <a:ext cx="1938528" cy="481340"/>
          </a:xfrm>
          <a:prstGeom prst="chevron">
            <a:avLst>
              <a:gd name="adj" fmla="val 25000"/>
            </a:avLst>
          </a:prstGeom>
          <a:solidFill>
            <a:srgbClr val="437DFF"/>
          </a:solidFill>
          <a:ln>
            <a:noFill/>
          </a:ln>
        </p:spPr>
        <p:txBody>
          <a:bodyPr wrap="square" lIns="182880" tIns="18288" rIns="109728" bIns="18288" anchor="ctr">
            <a:noAutofit/>
          </a:bodyPr>
          <a:lstStyle/>
          <a:p>
            <a:pPr marL="0" indent="0" algn="ctr">
              <a:buNone/>
            </a:pPr>
            <a:r>
              <a:rPr lang="ko-KR" sz="11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5  임상 수행 · 분석</a:t>
            </a:r>
            <a:endParaRPr lang="ko-KR" sz="1100"/>
          </a:p>
        </p:txBody>
      </p:sp>
      <p:sp>
        <p:nvSpPr>
          <p:cNvPr id="17" name="Ss 4"/>
          <p:cNvSpPr txBox="1"/>
          <p:nvPr/>
        </p:nvSpPr>
        <p:spPr>
          <a:xfrm>
            <a:off x="7982712" y="2179930"/>
            <a:ext cx="1755648" cy="2750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등록 · 추적 · 통계 · 보고서</a:t>
            </a:r>
            <a:endParaRPr lang="ko-KR" sz="950"/>
          </a:p>
        </p:txBody>
      </p:sp>
      <p:sp>
        <p:nvSpPr>
          <p:cNvPr id="18" name="St 5"/>
          <p:cNvSpPr txBox="1"/>
          <p:nvPr/>
        </p:nvSpPr>
        <p:spPr>
          <a:xfrm>
            <a:off x="9738360" y="1664208"/>
            <a:ext cx="1938528" cy="481340"/>
          </a:xfrm>
          <a:prstGeom prst="chevron">
            <a:avLst>
              <a:gd name="adj" fmla="val 25000"/>
            </a:avLst>
          </a:prstGeom>
          <a:solidFill>
            <a:srgbClr val="3B3F57"/>
          </a:solidFill>
          <a:ln>
            <a:noFill/>
          </a:ln>
        </p:spPr>
        <p:txBody>
          <a:bodyPr wrap="square" lIns="182880" tIns="18288" rIns="109728" bIns="18288" anchor="ctr">
            <a:noAutofit/>
          </a:bodyPr>
          <a:lstStyle/>
          <a:p>
            <a:pPr marL="0" indent="0" algn="ctr">
              <a:buNone/>
            </a:pPr>
            <a:r>
              <a:rPr lang="ko-KR" sz="11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6  품목허가</a:t>
            </a:r>
            <a:endParaRPr lang="ko-KR" sz="1100"/>
          </a:p>
        </p:txBody>
      </p:sp>
      <p:sp>
        <p:nvSpPr>
          <p:cNvPr id="19" name="Ss 5"/>
          <p:cNvSpPr txBox="1"/>
          <p:nvPr/>
        </p:nvSpPr>
        <p:spPr>
          <a:xfrm>
            <a:off x="9829800" y="2179930"/>
            <a:ext cx="1755648" cy="2750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기술문서 · GMP</a:t>
            </a:r>
            <a:endParaRPr lang="ko-KR" sz="950"/>
          </a:p>
        </p:txBody>
      </p:sp>
      <p:sp>
        <p:nvSpPr>
          <p:cNvPr id="20" name="Ln 0"/>
          <p:cNvSpPr txBox="1"/>
          <p:nvPr/>
        </p:nvSpPr>
        <p:spPr>
          <a:xfrm>
            <a:off x="502920" y="2540935"/>
            <a:ext cx="1188720" cy="361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품질 · GMP</a:t>
            </a:r>
            <a:endParaRPr lang="ko-KR" sz="1050"/>
          </a:p>
        </p:txBody>
      </p:sp>
      <p:sp>
        <p:nvSpPr>
          <p:cNvPr id="21" name="Lb 0"/>
          <p:cNvSpPr/>
          <p:nvPr/>
        </p:nvSpPr>
        <p:spPr>
          <a:xfrm>
            <a:off x="1737360" y="2575316"/>
            <a:ext cx="9948672" cy="292242"/>
          </a:xfrm>
          <a:prstGeom prst="roundRect">
            <a:avLst>
              <a:gd name="adj" fmla="val 50000"/>
            </a:avLst>
          </a:prstGeom>
          <a:solidFill>
            <a:srgbClr val="F0F1F5"/>
          </a:solidFill>
          <a:ln>
            <a:noFill/>
          </a:ln>
        </p:spPr>
      </p:sp>
      <p:sp>
        <p:nvSpPr>
          <p:cNvPr id="22" name="Lr 0"/>
          <p:cNvSpPr txBox="1"/>
          <p:nvPr/>
        </p:nvSpPr>
        <p:spPr>
          <a:xfrm>
            <a:off x="1737360" y="2575316"/>
            <a:ext cx="9948672" cy="292242"/>
          </a:xfrm>
          <a:prstGeom prst="roundRect">
            <a:avLst>
              <a:gd name="adj" fmla="val 50000"/>
            </a:avLst>
          </a:prstGeom>
          <a:solidFill>
            <a:srgbClr val="E6E9F5"/>
          </a:solidFill>
          <a:ln w="9525">
            <a:solidFill>
              <a:srgbClr val="102290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제조공정 · 원료관리 · 멸균 · 포장 · 안정성</a:t>
            </a:r>
            <a:endParaRPr lang="ko-KR" sz="1000"/>
          </a:p>
        </p:txBody>
      </p:sp>
      <p:sp>
        <p:nvSpPr>
          <p:cNvPr id="23" name="Ln 1"/>
          <p:cNvSpPr txBox="1"/>
          <p:nvPr/>
        </p:nvSpPr>
        <p:spPr>
          <a:xfrm>
            <a:off x="502920" y="2953512"/>
            <a:ext cx="1188720" cy="361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비임상 · 성능</a:t>
            </a:r>
            <a:endParaRPr lang="ko-KR" sz="1050"/>
          </a:p>
        </p:txBody>
      </p:sp>
      <p:sp>
        <p:nvSpPr>
          <p:cNvPr id="24" name="Lb 1"/>
          <p:cNvSpPr/>
          <p:nvPr/>
        </p:nvSpPr>
        <p:spPr>
          <a:xfrm>
            <a:off x="1737360" y="2987893"/>
            <a:ext cx="9948672" cy="292242"/>
          </a:xfrm>
          <a:prstGeom prst="roundRect">
            <a:avLst>
              <a:gd name="adj" fmla="val 50000"/>
            </a:avLst>
          </a:prstGeom>
          <a:solidFill>
            <a:srgbClr val="F0F1F5"/>
          </a:solidFill>
          <a:ln>
            <a:noFill/>
          </a:ln>
        </p:spPr>
      </p:sp>
      <p:sp>
        <p:nvSpPr>
          <p:cNvPr id="25" name="Lr 1"/>
          <p:cNvSpPr txBox="1"/>
          <p:nvPr/>
        </p:nvSpPr>
        <p:spPr>
          <a:xfrm>
            <a:off x="1737360" y="2987893"/>
            <a:ext cx="6632448" cy="292242"/>
          </a:xfrm>
          <a:prstGeom prst="roundRect">
            <a:avLst>
              <a:gd name="adj" fmla="val 50000"/>
            </a:avLst>
          </a:prstGeom>
          <a:solidFill>
            <a:srgbClr val="F1E8F7"/>
          </a:solidFill>
          <a:ln w="9525">
            <a:solidFill>
              <a:srgbClr val="7030A0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생물학적 안전성 · 흡수 · 보습 · 바르기 · 사용적합성</a:t>
            </a:r>
            <a:endParaRPr lang="ko-KR" sz="1000"/>
          </a:p>
        </p:txBody>
      </p:sp>
      <p:sp>
        <p:nvSpPr>
          <p:cNvPr id="26" name="Ln 2"/>
          <p:cNvSpPr txBox="1"/>
          <p:nvPr/>
        </p:nvSpPr>
        <p:spPr>
          <a:xfrm>
            <a:off x="502920" y="3366089"/>
            <a:ext cx="1188720" cy="361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임상 · 규제</a:t>
            </a:r>
            <a:endParaRPr lang="ko-KR" sz="1050"/>
          </a:p>
        </p:txBody>
      </p:sp>
      <p:sp>
        <p:nvSpPr>
          <p:cNvPr id="27" name="Lb 2"/>
          <p:cNvSpPr/>
          <p:nvPr/>
        </p:nvSpPr>
        <p:spPr>
          <a:xfrm>
            <a:off x="1737360" y="3400471"/>
            <a:ext cx="9948672" cy="292242"/>
          </a:xfrm>
          <a:prstGeom prst="roundRect">
            <a:avLst>
              <a:gd name="adj" fmla="val 50000"/>
            </a:avLst>
          </a:prstGeom>
          <a:solidFill>
            <a:srgbClr val="F0F1F5"/>
          </a:solidFill>
          <a:ln>
            <a:noFill/>
          </a:ln>
        </p:spPr>
      </p:sp>
      <p:sp>
        <p:nvSpPr>
          <p:cNvPr id="28" name="Lr 2"/>
          <p:cNvSpPr txBox="1"/>
          <p:nvPr/>
        </p:nvSpPr>
        <p:spPr>
          <a:xfrm>
            <a:off x="5053584" y="3400471"/>
            <a:ext cx="6632448" cy="292242"/>
          </a:xfrm>
          <a:prstGeom prst="roundRect">
            <a:avLst>
              <a:gd name="adj" fmla="val 50000"/>
            </a:avLst>
          </a:prstGeom>
          <a:solidFill>
            <a:srgbClr val="E8EFFF"/>
          </a:solidFill>
          <a:ln w="9525">
            <a:solidFill>
              <a:srgbClr val="437DFF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식약처 계획승인 · IRB · 병원 · 비교군 · 통계</a:t>
            </a:r>
            <a:endParaRPr lang="ko-KR" sz="1000"/>
          </a:p>
        </p:txBody>
      </p:sp>
      <p:sp>
        <p:nvSpPr>
          <p:cNvPr id="29" name="Trial bar back"/>
          <p:cNvSpPr/>
          <p:nvPr/>
        </p:nvSpPr>
        <p:spPr>
          <a:xfrm>
            <a:off x="502920" y="3856025"/>
            <a:ext cx="11183112" cy="309433"/>
          </a:xfrm>
          <a:prstGeom prst="parallelogram">
            <a:avLst/>
          </a:prstGeom>
          <a:solidFill>
            <a:srgbClr val="7030A0"/>
          </a:solidFill>
          <a:ln>
            <a:noFill/>
          </a:ln>
        </p:spPr>
      </p:sp>
      <p:sp>
        <p:nvSpPr>
          <p:cNvPr id="30" name="Trial bar"/>
          <p:cNvSpPr txBox="1"/>
          <p:nvPr/>
        </p:nvSpPr>
        <p:spPr>
          <a:xfrm>
            <a:off x="566928" y="3856025"/>
            <a:ext cx="11055096" cy="309433"/>
          </a:xfrm>
          <a:prstGeom prst="parallelogram">
            <a:avLst/>
          </a:prstGeom>
          <a:solidFill>
            <a:srgbClr val="3B3F5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1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임상시험 설계안 — 성인 2도 화상, 기존 드레싱과 비교</a:t>
            </a:r>
            <a:endParaRPr lang="ko-KR" sz="1150"/>
          </a:p>
        </p:txBody>
      </p:sp>
      <p:sp>
        <p:nvSpPr>
          <p:cNvPr id="31" name="Pc 0"/>
          <p:cNvSpPr/>
          <p:nvPr/>
        </p:nvSpPr>
        <p:spPr>
          <a:xfrm>
            <a:off x="502920" y="4242816"/>
            <a:ext cx="2734056" cy="90251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32" name="Pt 0"/>
          <p:cNvSpPr txBox="1"/>
          <p:nvPr/>
        </p:nvSpPr>
        <p:spPr>
          <a:xfrm>
            <a:off x="594360" y="4328770"/>
            <a:ext cx="640080" cy="275052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대상</a:t>
            </a:r>
            <a:endParaRPr lang="ko-KR" sz="1050"/>
          </a:p>
        </p:txBody>
      </p:sp>
      <p:sp>
        <p:nvSpPr>
          <p:cNvPr id="33" name="Pd 0"/>
          <p:cNvSpPr txBox="1"/>
          <p:nvPr/>
        </p:nvSpPr>
        <p:spPr>
          <a:xfrm>
            <a:off x="1325880" y="4285793"/>
            <a:ext cx="1847088" cy="8165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ko-KR" sz="9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성인 · 감염이 조절된 2도 화상</a:t>
            </a:r>
            <a:endParaRPr lang="ko-KR" sz="1100"/>
          </a:p>
          <a:p>
            <a:pPr marL="0" indent="0" algn="l">
              <a:spcAft>
                <a:spcPts val="200"/>
              </a:spcAft>
              <a:buNone/>
            </a:pPr>
            <a:r>
              <a:rPr lang="ko-KR" sz="9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3도 · 활동성 감염 제외</a:t>
            </a:r>
            <a:endParaRPr lang="ko-KR" sz="1100"/>
          </a:p>
        </p:txBody>
      </p:sp>
      <p:sp>
        <p:nvSpPr>
          <p:cNvPr id="34" name="Pc 1"/>
          <p:cNvSpPr/>
          <p:nvPr/>
        </p:nvSpPr>
        <p:spPr>
          <a:xfrm>
            <a:off x="3328416" y="4242816"/>
            <a:ext cx="2734056" cy="90251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35" name="Pt 1"/>
          <p:cNvSpPr txBox="1"/>
          <p:nvPr/>
        </p:nvSpPr>
        <p:spPr>
          <a:xfrm>
            <a:off x="3419856" y="4328770"/>
            <a:ext cx="640080" cy="275052"/>
          </a:xfrm>
          <a:prstGeom prst="roundRect">
            <a:avLst>
              <a:gd name="adj" fmla="val 16000"/>
            </a:avLst>
          </a:prstGeom>
          <a:solidFill>
            <a:srgbClr val="437DFF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비교</a:t>
            </a:r>
            <a:endParaRPr lang="ko-KR" sz="1050"/>
          </a:p>
        </p:txBody>
      </p:sp>
      <p:sp>
        <p:nvSpPr>
          <p:cNvPr id="36" name="Pd 1"/>
          <p:cNvSpPr txBox="1"/>
          <p:nvPr/>
        </p:nvSpPr>
        <p:spPr>
          <a:xfrm>
            <a:off x="4151376" y="4285793"/>
            <a:ext cx="1847088" cy="8165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ko-KR" sz="9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KheAl  vs  기존 습윤 드레싱</a:t>
            </a:r>
            <a:endParaRPr lang="ko-KR" sz="1100"/>
          </a:p>
          <a:p>
            <a:pPr marL="0" indent="0" algn="l">
              <a:spcAft>
                <a:spcPts val="200"/>
              </a:spcAft>
              <a:buNone/>
            </a:pPr>
            <a:r>
              <a:rPr lang="ko-KR" sz="9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또는 병원 표준처치</a:t>
            </a:r>
            <a:endParaRPr lang="ko-KR" sz="1100"/>
          </a:p>
        </p:txBody>
      </p:sp>
      <p:sp>
        <p:nvSpPr>
          <p:cNvPr id="37" name="Pc 2"/>
          <p:cNvSpPr/>
          <p:nvPr/>
        </p:nvSpPr>
        <p:spPr>
          <a:xfrm>
            <a:off x="6153912" y="4242816"/>
            <a:ext cx="2734056" cy="90251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38" name="Pt 2"/>
          <p:cNvSpPr txBox="1"/>
          <p:nvPr/>
        </p:nvSpPr>
        <p:spPr>
          <a:xfrm>
            <a:off x="6245352" y="4328770"/>
            <a:ext cx="640080" cy="275052"/>
          </a:xfrm>
          <a:prstGeom prst="roundRect">
            <a:avLst>
              <a:gd name="adj" fmla="val 16000"/>
            </a:avLst>
          </a:prstGeom>
          <a:solidFill>
            <a:srgbClr val="7030A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규모</a:t>
            </a:r>
            <a:endParaRPr lang="ko-KR" sz="1050"/>
          </a:p>
        </p:txBody>
      </p:sp>
      <p:sp>
        <p:nvSpPr>
          <p:cNvPr id="39" name="Pd 2"/>
          <p:cNvSpPr txBox="1"/>
          <p:nvPr/>
        </p:nvSpPr>
        <p:spPr>
          <a:xfrm>
            <a:off x="6976872" y="4285793"/>
            <a:ext cx="1847088" cy="8165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ko-KR" sz="9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병원 2곳 · 무작위 배정</a:t>
            </a:r>
            <a:endParaRPr lang="ko-KR" sz="1100"/>
          </a:p>
          <a:p>
            <a:pPr marL="0" indent="0" algn="l">
              <a:spcAft>
                <a:spcPts val="200"/>
              </a:spcAft>
              <a:buNone/>
            </a:pPr>
            <a:r>
              <a:rPr lang="ko-KR" sz="9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총 60명 (예산 기준 가정)</a:t>
            </a:r>
            <a:endParaRPr lang="ko-KR" sz="1100"/>
          </a:p>
        </p:txBody>
      </p:sp>
      <p:sp>
        <p:nvSpPr>
          <p:cNvPr id="40" name="Pc 3"/>
          <p:cNvSpPr/>
          <p:nvPr/>
        </p:nvSpPr>
        <p:spPr>
          <a:xfrm>
            <a:off x="8979408" y="4242816"/>
            <a:ext cx="2734056" cy="90251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41" name="Pt 3"/>
          <p:cNvSpPr txBox="1"/>
          <p:nvPr/>
        </p:nvSpPr>
        <p:spPr>
          <a:xfrm>
            <a:off x="9070848" y="4328770"/>
            <a:ext cx="640080" cy="275052"/>
          </a:xfrm>
          <a:prstGeom prst="roundRect">
            <a:avLst>
              <a:gd name="adj" fmla="val 16000"/>
            </a:avLst>
          </a:prstGeom>
          <a:solidFill>
            <a:srgbClr val="3B3F57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평가</a:t>
            </a:r>
            <a:endParaRPr lang="ko-KR" sz="1050"/>
          </a:p>
        </p:txBody>
      </p:sp>
      <p:sp>
        <p:nvSpPr>
          <p:cNvPr id="42" name="Pd 3"/>
          <p:cNvSpPr txBox="1"/>
          <p:nvPr/>
        </p:nvSpPr>
        <p:spPr>
          <a:xfrm>
            <a:off x="9802368" y="4285793"/>
            <a:ext cx="1847088" cy="8165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ko-KR" sz="9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1차 상처가 완전히 덮이는 시간</a:t>
            </a:r>
            <a:endParaRPr lang="ko-KR" sz="1100"/>
          </a:p>
          <a:p>
            <a:pPr marL="0" indent="0" algn="l">
              <a:spcAft>
                <a:spcPts val="200"/>
              </a:spcAft>
              <a:buNone/>
            </a:pPr>
            <a:r>
              <a:rPr lang="ko-KR" sz="9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2차 통증 · 교체 횟수 · 처치 시간 · 안전성</a:t>
            </a:r>
            <a:endParaRPr lang="ko-KR" sz="1100"/>
          </a:p>
        </p:txBody>
      </p:sp>
      <p:sp>
        <p:nvSpPr>
          <p:cNvPr id="43" name="Visit l"/>
          <p:cNvSpPr txBox="1"/>
          <p:nvPr/>
        </p:nvSpPr>
        <p:spPr>
          <a:xfrm>
            <a:off x="502920" y="5239878"/>
            <a:ext cx="1463040" cy="4125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방문 (1인 5회)</a:t>
            </a:r>
            <a:endParaRPr lang="ko-KR" sz="1050"/>
          </a:p>
        </p:txBody>
      </p:sp>
      <p:sp>
        <p:nvSpPr>
          <p:cNvPr id="44" name="Vs 0"/>
          <p:cNvSpPr txBox="1"/>
          <p:nvPr/>
        </p:nvSpPr>
        <p:spPr>
          <a:xfrm>
            <a:off x="1965960" y="5257068"/>
            <a:ext cx="1965960" cy="378196"/>
          </a:xfrm>
          <a:prstGeom prst="homePlate">
            <a:avLst>
              <a:gd name="adj" fmla="val 25000"/>
            </a:avLst>
          </a:prstGeom>
          <a:solidFill>
            <a:srgbClr val="10229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선별</a:t>
            </a:r>
            <a:endParaRPr lang="ko-KR" sz="1000"/>
          </a:p>
        </p:txBody>
      </p:sp>
      <p:sp>
        <p:nvSpPr>
          <p:cNvPr id="45" name="Vs 1"/>
          <p:cNvSpPr txBox="1"/>
          <p:nvPr/>
        </p:nvSpPr>
        <p:spPr>
          <a:xfrm>
            <a:off x="3886200" y="5257068"/>
            <a:ext cx="1965960" cy="378196"/>
          </a:xfrm>
          <a:prstGeom prst="chevron">
            <a:avLst>
              <a:gd name="adj" fmla="val 25000"/>
            </a:avLst>
          </a:prstGeom>
          <a:solidFill>
            <a:srgbClr val="437D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Day 1 첫 적용</a:t>
            </a:r>
            <a:endParaRPr lang="ko-KR" sz="1000"/>
          </a:p>
        </p:txBody>
      </p:sp>
      <p:sp>
        <p:nvSpPr>
          <p:cNvPr id="46" name="Vs 2"/>
          <p:cNvSpPr txBox="1"/>
          <p:nvPr/>
        </p:nvSpPr>
        <p:spPr>
          <a:xfrm>
            <a:off x="5806440" y="5257068"/>
            <a:ext cx="1965960" cy="378196"/>
          </a:xfrm>
          <a:prstGeom prst="chevron">
            <a:avLst>
              <a:gd name="adj" fmla="val 25000"/>
            </a:avLst>
          </a:prstGeom>
          <a:solidFill>
            <a:srgbClr val="437D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Day 7</a:t>
            </a:r>
            <a:endParaRPr lang="ko-KR" sz="1000"/>
          </a:p>
        </p:txBody>
      </p:sp>
      <p:sp>
        <p:nvSpPr>
          <p:cNvPr id="47" name="Vs 3"/>
          <p:cNvSpPr txBox="1"/>
          <p:nvPr/>
        </p:nvSpPr>
        <p:spPr>
          <a:xfrm>
            <a:off x="7726680" y="5257068"/>
            <a:ext cx="1965960" cy="378196"/>
          </a:xfrm>
          <a:prstGeom prst="chevron">
            <a:avLst>
              <a:gd name="adj" fmla="val 25000"/>
            </a:avLst>
          </a:prstGeom>
          <a:solidFill>
            <a:srgbClr val="437D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Day 14</a:t>
            </a:r>
            <a:endParaRPr lang="ko-KR" sz="1000"/>
          </a:p>
        </p:txBody>
      </p:sp>
      <p:sp>
        <p:nvSpPr>
          <p:cNvPr id="48" name="Vs 4"/>
          <p:cNvSpPr txBox="1"/>
          <p:nvPr/>
        </p:nvSpPr>
        <p:spPr>
          <a:xfrm>
            <a:off x="9646920" y="5257068"/>
            <a:ext cx="1965960" cy="378196"/>
          </a:xfrm>
          <a:prstGeom prst="chevron">
            <a:avLst>
              <a:gd name="adj" fmla="val 25000"/>
            </a:avLst>
          </a:prstGeom>
          <a:solidFill>
            <a:srgbClr val="3B3F5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Day 21 또는 완치</a:t>
            </a:r>
            <a:endParaRPr lang="ko-KR" sz="1000"/>
          </a:p>
        </p:txBody>
      </p:sp>
      <p:sp>
        <p:nvSpPr>
          <p:cNvPr id="49" name="Key box"/>
          <p:cNvSpPr/>
          <p:nvPr/>
        </p:nvSpPr>
        <p:spPr>
          <a:xfrm>
            <a:off x="502920" y="5807172"/>
            <a:ext cx="11183112" cy="429768"/>
          </a:xfrm>
          <a:prstGeom prst="roundRect">
            <a:avLst>
              <a:gd name="adj" fmla="val 12000"/>
            </a:avLst>
          </a:prstGeom>
          <a:solidFill>
            <a:srgbClr val="E6E9F5"/>
          </a:solidFill>
          <a:ln>
            <a:noFill/>
          </a:ln>
        </p:spPr>
      </p:sp>
      <p:sp>
        <p:nvSpPr>
          <p:cNvPr id="50" name="Key label"/>
          <p:cNvSpPr txBox="1"/>
          <p:nvPr/>
        </p:nvSpPr>
        <p:spPr>
          <a:xfrm>
            <a:off x="640080" y="5893125"/>
            <a:ext cx="685800" cy="257861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핵심</a:t>
            </a:r>
            <a:endParaRPr lang="ko-KR" sz="1000"/>
          </a:p>
        </p:txBody>
      </p:sp>
      <p:sp>
        <p:nvSpPr>
          <p:cNvPr id="51" name="Key text"/>
          <p:cNvSpPr txBox="1"/>
          <p:nvPr/>
        </p:nvSpPr>
        <p:spPr>
          <a:xfrm>
            <a:off x="1463040" y="5807172"/>
            <a:ext cx="1005840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계약 전 병원별 모집 가능성 조사 필수 — KeraStat 화상 시험은 30명 계획 중 14명 등록 후 조기 종료</a:t>
            </a:r>
            <a:endParaRPr lang="ko-KR" sz="1250"/>
          </a:p>
        </p:txBody>
      </p:sp>
      <p:sp>
        <p:nvSpPr>
          <p:cNvPr id="52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의료기기 품목 및 품목별 등급 규정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식약처 창상피복재 통합 가이드라인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3"/>
              </a:rPr>
              <a:t>ClinicalTrials.gov NCT03564795</a:t>
            </a:r>
            <a:endParaRPr lang="ko-KR" sz="75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FDA 510(k) 과정과 국가별 임상비용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KeraStat이 간 510(k) 경로를 그대로 따름 · 비용은 견적 1건(멕시코) + 공개자료 모델(미국 · 한국) · 1달러 = 1,400원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22</a:t>
            </a:r>
            <a:endParaRPr lang="ko-KR" sz="800"/>
          </a:p>
        </p:txBody>
      </p:sp>
      <p:sp>
        <p:nvSpPr>
          <p:cNvPr id="8" name="La 0"/>
          <p:cNvSpPr txBox="1"/>
          <p:nvPr/>
        </p:nvSpPr>
        <p:spPr>
          <a:xfrm>
            <a:off x="502920" y="1664208"/>
            <a:ext cx="1097280" cy="6016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KeraStat</a:t>
            </a:r>
            <a:endParaRPr lang="ko-KR" sz="1100"/>
          </a:p>
          <a:p>
            <a:pPr marL="0" indent="0" algn="l">
              <a:buNone/>
            </a:pPr>
            <a:r>
              <a:rPr lang="ko-KR" sz="11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(실제)</a:t>
            </a:r>
            <a:endParaRPr lang="ko-KR" sz="1100"/>
          </a:p>
        </p:txBody>
      </p:sp>
      <p:sp>
        <p:nvSpPr>
          <p:cNvPr id="9" name="Ls 00"/>
          <p:cNvSpPr txBox="1"/>
          <p:nvPr/>
        </p:nvSpPr>
        <p:spPr>
          <a:xfrm>
            <a:off x="1600200" y="1664208"/>
            <a:ext cx="2029968" cy="601675"/>
          </a:xfrm>
          <a:prstGeom prst="homePlate">
            <a:avLst>
              <a:gd name="adj" fmla="val 18000"/>
            </a:avLst>
          </a:prstGeom>
          <a:solidFill>
            <a:srgbClr val="102290"/>
          </a:solidFill>
          <a:ln>
            <a:noFill/>
          </a:ln>
        </p:spPr>
        <p:txBody>
          <a:bodyPr wrap="square" lIns="164592" tIns="18288" rIns="91440" bIns="18288" anchor="ctr">
            <a:noAutofit/>
          </a:bodyPr>
          <a:lstStyle/>
          <a:p>
            <a:pPr marL="0" indent="0" algn="ctr">
              <a:buNone/>
            </a:pPr>
            <a:r>
              <a:rPr lang="ko-KR" sz="9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원료 · 시험</a:t>
            </a:r>
            <a:endParaRPr lang="ko-KR" sz="950"/>
          </a:p>
          <a:p>
            <a:pPr marL="0" indent="0" algn="ctr">
              <a:buNone/>
            </a:pPr>
            <a:r>
              <a:rPr lang="ko-KR" sz="950">
                <a:solidFill>
                  <a:srgbClr val="FFFFFF"/>
                </a:solidFill>
                <a:latin typeface="210 옴니고딕 040"/>
                <a:ea typeface="210 옴니고딕 040"/>
                <a:cs typeface="210 옴니고딕 040"/>
              </a:rPr>
              <a:t>생체적합성 · 동물</a:t>
            </a:r>
            <a:endParaRPr lang="ko-KR" sz="950"/>
          </a:p>
        </p:txBody>
      </p:sp>
      <p:sp>
        <p:nvSpPr>
          <p:cNvPr id="10" name="Ls 01"/>
          <p:cNvSpPr txBox="1"/>
          <p:nvPr/>
        </p:nvSpPr>
        <p:spPr>
          <a:xfrm>
            <a:off x="3593592" y="1664208"/>
            <a:ext cx="2029968" cy="601675"/>
          </a:xfrm>
          <a:prstGeom prst="chevron">
            <a:avLst>
              <a:gd name="adj" fmla="val 18000"/>
            </a:avLst>
          </a:prstGeom>
          <a:solidFill>
            <a:srgbClr val="102290"/>
          </a:solidFill>
          <a:ln>
            <a:noFill/>
          </a:ln>
        </p:spPr>
        <p:txBody>
          <a:bodyPr wrap="square" lIns="164592" tIns="18288" rIns="91440" bIns="18288" anchor="ctr">
            <a:noAutofit/>
          </a:bodyPr>
          <a:lstStyle/>
          <a:p>
            <a:pPr marL="0" indent="0" algn="ctr">
              <a:buNone/>
            </a:pPr>
            <a:r>
              <a:rPr lang="ko-KR" sz="9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510(k) 제출</a:t>
            </a:r>
            <a:endParaRPr lang="ko-KR" sz="950"/>
          </a:p>
          <a:p>
            <a:pPr marL="0" indent="0" algn="ctr">
              <a:buNone/>
            </a:pPr>
            <a:r>
              <a:rPr lang="ko-KR" sz="950">
                <a:solidFill>
                  <a:srgbClr val="FFFFFF"/>
                </a:solidFill>
                <a:latin typeface="210 옴니고딕 040"/>
                <a:ea typeface="210 옴니고딕 040"/>
                <a:cs typeface="210 옴니고딕 040"/>
              </a:rPr>
              <a:t>비교대상 Keratec</a:t>
            </a:r>
            <a:endParaRPr lang="ko-KR" sz="950"/>
          </a:p>
        </p:txBody>
      </p:sp>
      <p:sp>
        <p:nvSpPr>
          <p:cNvPr id="11" name="Ls 02"/>
          <p:cNvSpPr txBox="1"/>
          <p:nvPr/>
        </p:nvSpPr>
        <p:spPr>
          <a:xfrm>
            <a:off x="5586984" y="1664208"/>
            <a:ext cx="2029968" cy="601675"/>
          </a:xfrm>
          <a:prstGeom prst="chevron">
            <a:avLst>
              <a:gd name="adj" fmla="val 18000"/>
            </a:avLst>
          </a:prstGeom>
          <a:solidFill>
            <a:srgbClr val="102290"/>
          </a:solidFill>
          <a:ln>
            <a:noFill/>
          </a:ln>
        </p:spPr>
        <p:txBody>
          <a:bodyPr wrap="square" lIns="164592" tIns="18288" rIns="91440" bIns="18288" anchor="ctr">
            <a:noAutofit/>
          </a:bodyPr>
          <a:lstStyle/>
          <a:p>
            <a:pPr marL="0" indent="0" algn="ctr">
              <a:buNone/>
            </a:pPr>
            <a:r>
              <a:rPr lang="ko-KR" sz="9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2017.06.02 허가</a:t>
            </a:r>
            <a:endParaRPr lang="ko-KR" sz="950"/>
          </a:p>
          <a:p>
            <a:pPr marL="0" indent="0" algn="ctr">
              <a:buNone/>
            </a:pPr>
            <a:r>
              <a:rPr lang="ko-KR" sz="950">
                <a:solidFill>
                  <a:srgbClr val="FFFFFF"/>
                </a:solidFill>
                <a:latin typeface="210 옴니고딕 040"/>
                <a:ea typeface="210 옴니고딕 040"/>
                <a:cs typeface="210 옴니고딕 040"/>
              </a:rPr>
              <a:t>K162759</a:t>
            </a:r>
            <a:endParaRPr lang="ko-KR" sz="950"/>
          </a:p>
        </p:txBody>
      </p:sp>
      <p:sp>
        <p:nvSpPr>
          <p:cNvPr id="12" name="Ls 03"/>
          <p:cNvSpPr txBox="1"/>
          <p:nvPr/>
        </p:nvSpPr>
        <p:spPr>
          <a:xfrm>
            <a:off x="7580376" y="1664208"/>
            <a:ext cx="2029968" cy="601675"/>
          </a:xfrm>
          <a:prstGeom prst="chevron">
            <a:avLst>
              <a:gd name="adj" fmla="val 18000"/>
            </a:avLst>
          </a:prstGeom>
          <a:solidFill>
            <a:srgbClr val="102290"/>
          </a:solidFill>
          <a:ln>
            <a:noFill/>
          </a:ln>
        </p:spPr>
        <p:txBody>
          <a:bodyPr wrap="square" lIns="164592" tIns="18288" rIns="91440" bIns="18288" anchor="ctr">
            <a:noAutofit/>
          </a:bodyPr>
          <a:lstStyle/>
          <a:p>
            <a:pPr marL="0" indent="0" algn="ctr">
              <a:buNone/>
            </a:pPr>
            <a:r>
              <a:rPr lang="ko-KR" sz="9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2020 Cream 허가</a:t>
            </a:r>
            <a:endParaRPr lang="ko-KR" sz="950"/>
          </a:p>
          <a:p>
            <a:pPr marL="0" indent="0" algn="ctr">
              <a:buNone/>
            </a:pPr>
            <a:r>
              <a:rPr lang="ko-KR" sz="950">
                <a:solidFill>
                  <a:srgbClr val="FFFFFF"/>
                </a:solidFill>
                <a:latin typeface="210 옴니고딕 040"/>
                <a:ea typeface="210 옴니고딕 040"/>
                <a:cs typeface="210 옴니고딕 040"/>
              </a:rPr>
              <a:t>K192386</a:t>
            </a:r>
            <a:endParaRPr lang="ko-KR" sz="950"/>
          </a:p>
        </p:txBody>
      </p:sp>
      <p:sp>
        <p:nvSpPr>
          <p:cNvPr id="13" name="Ls 04"/>
          <p:cNvSpPr txBox="1"/>
          <p:nvPr/>
        </p:nvSpPr>
        <p:spPr>
          <a:xfrm>
            <a:off x="9573768" y="1664208"/>
            <a:ext cx="2029968" cy="601675"/>
          </a:xfrm>
          <a:prstGeom prst="chevron">
            <a:avLst>
              <a:gd name="adj" fmla="val 18000"/>
            </a:avLst>
          </a:prstGeom>
          <a:solidFill>
            <a:srgbClr val="3B3F57"/>
          </a:solidFill>
          <a:ln>
            <a:noFill/>
          </a:ln>
        </p:spPr>
        <p:txBody>
          <a:bodyPr wrap="square" lIns="164592" tIns="18288" rIns="91440" bIns="18288" anchor="ctr">
            <a:noAutofit/>
          </a:bodyPr>
          <a:lstStyle/>
          <a:p>
            <a:pPr marL="0" indent="0" algn="ctr">
              <a:buNone/>
            </a:pPr>
            <a:r>
              <a:rPr lang="ko-KR" sz="9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유통</a:t>
            </a:r>
            <a:endParaRPr lang="ko-KR" sz="950"/>
          </a:p>
          <a:p>
            <a:pPr marL="0" indent="0" algn="ctr">
              <a:buNone/>
            </a:pPr>
            <a:r>
              <a:rPr lang="ko-KR" sz="950">
                <a:solidFill>
                  <a:srgbClr val="FFFFFF"/>
                </a:solidFill>
                <a:latin typeface="210 옴니고딕 040"/>
                <a:ea typeface="210 옴니고딕 040"/>
                <a:cs typeface="210 옴니고딕 040"/>
              </a:rPr>
              <a:t>Combat Medical · ASPN</a:t>
            </a:r>
            <a:endParaRPr lang="ko-KR" sz="950"/>
          </a:p>
        </p:txBody>
      </p:sp>
      <p:sp>
        <p:nvSpPr>
          <p:cNvPr id="14" name="La 1"/>
          <p:cNvSpPr txBox="1"/>
          <p:nvPr/>
        </p:nvSpPr>
        <p:spPr>
          <a:xfrm>
            <a:off x="502920" y="2369028"/>
            <a:ext cx="1097280" cy="6016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KheAl</a:t>
            </a:r>
            <a:endParaRPr lang="ko-KR" sz="1100"/>
          </a:p>
          <a:p>
            <a:pPr marL="0" indent="0" algn="l">
              <a:buNone/>
            </a:pPr>
            <a:r>
              <a:rPr lang="ko-KR" sz="11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(계획)</a:t>
            </a:r>
            <a:endParaRPr lang="ko-KR" sz="1100"/>
          </a:p>
        </p:txBody>
      </p:sp>
      <p:sp>
        <p:nvSpPr>
          <p:cNvPr id="15" name="Ls 10"/>
          <p:cNvSpPr txBox="1"/>
          <p:nvPr/>
        </p:nvSpPr>
        <p:spPr>
          <a:xfrm>
            <a:off x="1600200" y="2369028"/>
            <a:ext cx="2029968" cy="601675"/>
          </a:xfrm>
          <a:prstGeom prst="homePlate">
            <a:avLst>
              <a:gd name="adj" fmla="val 18000"/>
            </a:avLst>
          </a:prstGeom>
          <a:solidFill>
            <a:srgbClr val="437DFF"/>
          </a:solidFill>
          <a:ln>
            <a:noFill/>
          </a:ln>
        </p:spPr>
        <p:txBody>
          <a:bodyPr wrap="square" lIns="164592" tIns="18288" rIns="91440" bIns="18288" anchor="ctr">
            <a:noAutofit/>
          </a:bodyPr>
          <a:lstStyle/>
          <a:p>
            <a:pPr marL="0" indent="0" algn="ctr">
              <a:buNone/>
            </a:pPr>
            <a:r>
              <a:rPr lang="ko-KR" sz="9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Pre-Sub 사전상담</a:t>
            </a:r>
            <a:endParaRPr lang="ko-KR" sz="950"/>
          </a:p>
          <a:p>
            <a:pPr marL="0" indent="0" algn="ctr">
              <a:buNone/>
            </a:pPr>
            <a:r>
              <a:rPr lang="ko-KR" sz="950">
                <a:solidFill>
                  <a:srgbClr val="FFFFFF"/>
                </a:solidFill>
                <a:latin typeface="210 옴니고딕 040"/>
                <a:ea typeface="210 옴니고딕 040"/>
                <a:cs typeface="210 옴니고딕 040"/>
              </a:rPr>
              <a:t>(무료)</a:t>
            </a:r>
            <a:endParaRPr lang="ko-KR" sz="950"/>
          </a:p>
        </p:txBody>
      </p:sp>
      <p:sp>
        <p:nvSpPr>
          <p:cNvPr id="16" name="Ls 11"/>
          <p:cNvSpPr txBox="1"/>
          <p:nvPr/>
        </p:nvSpPr>
        <p:spPr>
          <a:xfrm>
            <a:off x="3593592" y="2369028"/>
            <a:ext cx="2029968" cy="601675"/>
          </a:xfrm>
          <a:prstGeom prst="chevron">
            <a:avLst>
              <a:gd name="adj" fmla="val 18000"/>
            </a:avLst>
          </a:prstGeom>
          <a:solidFill>
            <a:srgbClr val="437DFF"/>
          </a:solidFill>
          <a:ln>
            <a:noFill/>
          </a:ln>
        </p:spPr>
        <p:txBody>
          <a:bodyPr wrap="square" lIns="164592" tIns="18288" rIns="91440" bIns="18288" anchor="ctr">
            <a:noAutofit/>
          </a:bodyPr>
          <a:lstStyle/>
          <a:p>
            <a:pPr marL="0" indent="0" algn="ctr">
              <a:buNone/>
            </a:pPr>
            <a:r>
              <a:rPr lang="ko-KR" sz="9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시험 보완</a:t>
            </a:r>
            <a:endParaRPr lang="ko-KR" sz="950"/>
          </a:p>
          <a:p>
            <a:pPr marL="0" indent="0" algn="ctr">
              <a:buNone/>
            </a:pPr>
            <a:r>
              <a:rPr lang="ko-KR" sz="950">
                <a:solidFill>
                  <a:srgbClr val="FFFFFF"/>
                </a:solidFill>
                <a:latin typeface="210 옴니고딕 040"/>
                <a:ea typeface="210 옴니고딕 040"/>
                <a:cs typeface="210 옴니고딕 040"/>
              </a:rPr>
              <a:t>생체적합성 · 원료 안전성</a:t>
            </a:r>
            <a:endParaRPr lang="ko-KR" sz="950"/>
          </a:p>
        </p:txBody>
      </p:sp>
      <p:sp>
        <p:nvSpPr>
          <p:cNvPr id="17" name="Ls 12"/>
          <p:cNvSpPr txBox="1"/>
          <p:nvPr/>
        </p:nvSpPr>
        <p:spPr>
          <a:xfrm>
            <a:off x="5586984" y="2369028"/>
            <a:ext cx="2029968" cy="601675"/>
          </a:xfrm>
          <a:prstGeom prst="chevron">
            <a:avLst>
              <a:gd name="adj" fmla="val 18000"/>
            </a:avLst>
          </a:prstGeom>
          <a:solidFill>
            <a:srgbClr val="437DFF"/>
          </a:solidFill>
          <a:ln>
            <a:noFill/>
          </a:ln>
        </p:spPr>
        <p:txBody>
          <a:bodyPr wrap="square" lIns="164592" tIns="18288" rIns="91440" bIns="18288" anchor="ctr">
            <a:noAutofit/>
          </a:bodyPr>
          <a:lstStyle/>
          <a:p>
            <a:pPr marL="0" indent="0" algn="ctr">
              <a:buNone/>
            </a:pPr>
            <a:r>
              <a:rPr lang="ko-KR" sz="9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510(k) 제출</a:t>
            </a:r>
            <a:endParaRPr lang="ko-KR" sz="950"/>
          </a:p>
          <a:p>
            <a:pPr marL="0" indent="0" algn="ctr">
              <a:buNone/>
            </a:pPr>
            <a:r>
              <a:rPr lang="ko-KR" sz="950">
                <a:solidFill>
                  <a:srgbClr val="FFFFFF"/>
                </a:solidFill>
                <a:latin typeface="210 옴니고딕 040"/>
                <a:ea typeface="210 옴니고딕 040"/>
                <a:cs typeface="210 옴니고딕 040"/>
              </a:rPr>
              <a:t>비교대상 KeraStat Gel</a:t>
            </a:r>
            <a:endParaRPr lang="ko-KR" sz="950"/>
          </a:p>
        </p:txBody>
      </p:sp>
      <p:sp>
        <p:nvSpPr>
          <p:cNvPr id="18" name="Ls 13"/>
          <p:cNvSpPr txBox="1"/>
          <p:nvPr/>
        </p:nvSpPr>
        <p:spPr>
          <a:xfrm>
            <a:off x="7580376" y="2369028"/>
            <a:ext cx="2029968" cy="601675"/>
          </a:xfrm>
          <a:prstGeom prst="chevron">
            <a:avLst>
              <a:gd name="adj" fmla="val 18000"/>
            </a:avLst>
          </a:prstGeom>
          <a:solidFill>
            <a:srgbClr val="437DFF"/>
          </a:solidFill>
          <a:ln>
            <a:noFill/>
          </a:ln>
        </p:spPr>
        <p:txBody>
          <a:bodyPr wrap="square" lIns="164592" tIns="18288" rIns="91440" bIns="18288" anchor="ctr">
            <a:noAutofit/>
          </a:bodyPr>
          <a:lstStyle/>
          <a:p>
            <a:pPr marL="0" indent="0" algn="ctr">
              <a:buNone/>
            </a:pPr>
            <a:r>
              <a:rPr lang="ko-KR" sz="9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FDA 심사</a:t>
            </a:r>
            <a:endParaRPr lang="ko-KR" sz="950"/>
          </a:p>
          <a:p>
            <a:pPr marL="0" indent="0" algn="ctr">
              <a:buNone/>
            </a:pPr>
            <a:r>
              <a:rPr lang="ko-KR" sz="950">
                <a:solidFill>
                  <a:srgbClr val="FFFFFF"/>
                </a:solidFill>
                <a:latin typeface="210 옴니고딕 040"/>
                <a:ea typeface="210 옴니고딕 040"/>
                <a:cs typeface="210 옴니고딕 040"/>
              </a:rPr>
              <a:t>(목표 90일)</a:t>
            </a:r>
            <a:endParaRPr lang="ko-KR" sz="950"/>
          </a:p>
        </p:txBody>
      </p:sp>
      <p:sp>
        <p:nvSpPr>
          <p:cNvPr id="19" name="Ls 14"/>
          <p:cNvSpPr txBox="1"/>
          <p:nvPr/>
        </p:nvSpPr>
        <p:spPr>
          <a:xfrm>
            <a:off x="9573768" y="2369028"/>
            <a:ext cx="2029968" cy="601675"/>
          </a:xfrm>
          <a:prstGeom prst="chevron">
            <a:avLst>
              <a:gd name="adj" fmla="val 18000"/>
            </a:avLst>
          </a:prstGeom>
          <a:solidFill>
            <a:srgbClr val="3B3F57"/>
          </a:solidFill>
          <a:ln>
            <a:noFill/>
          </a:ln>
        </p:spPr>
        <p:txBody>
          <a:bodyPr wrap="square" lIns="164592" tIns="18288" rIns="91440" bIns="18288" anchor="ctr">
            <a:noAutofit/>
          </a:bodyPr>
          <a:lstStyle/>
          <a:p>
            <a:pPr marL="0" indent="0" algn="ctr">
              <a:buNone/>
            </a:pPr>
            <a:r>
              <a:rPr lang="ko-KR" sz="9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시설 등록 · 미국 대리인</a:t>
            </a:r>
            <a:endParaRPr lang="ko-KR" sz="950"/>
          </a:p>
          <a:p>
            <a:pPr marL="0" indent="0" algn="ctr">
              <a:buNone/>
            </a:pPr>
            <a:r>
              <a:rPr lang="ko-KR" sz="950">
                <a:solidFill>
                  <a:srgbClr val="FFFFFF"/>
                </a:solidFill>
                <a:latin typeface="210 옴니고딕 040"/>
                <a:ea typeface="210 옴니고딕 040"/>
                <a:cs typeface="210 옴니고딕 040"/>
              </a:rPr>
              <a:t>판매 시작</a:t>
            </a:r>
            <a:endParaRPr lang="ko-KR" sz="950"/>
          </a:p>
        </p:txBody>
      </p:sp>
      <p:sp>
        <p:nvSpPr>
          <p:cNvPr id="20" name="Fee"/>
          <p:cNvSpPr txBox="1"/>
          <p:nvPr/>
        </p:nvSpPr>
        <p:spPr>
          <a:xfrm>
            <a:off x="502920" y="3108228"/>
            <a:ext cx="11183112" cy="343814"/>
          </a:xfrm>
          <a:prstGeom prst="roundRect">
            <a:avLst>
              <a:gd name="adj" fmla="val 14000"/>
            </a:avLst>
          </a:prstGeom>
          <a:solidFill>
            <a:srgbClr val="E6E9F5"/>
          </a:solidFill>
          <a:ln>
            <a:noFill/>
          </a:ln>
        </p:spPr>
        <p:txBody>
          <a:bodyPr wrap="square" lIns="109728" tIns="18288" rIns="91440" bIns="18288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KheAl FDA 고정비 약 0.29억 = 510(k) 심사 수수료 $7,163 (중소기업 인정 시, 일반 $28,653) + 시설 등록 $13,785 / 년 (FY2027) · 시험 보완 · 컨설팅은 Pre-Sub 후 견적</a:t>
            </a:r>
            <a:endParaRPr lang="ko-KR" sz="1000"/>
          </a:p>
        </p:txBody>
      </p:sp>
      <p:sp>
        <p:nvSpPr>
          <p:cNvPr id="21" name="Cost bar back"/>
          <p:cNvSpPr/>
          <p:nvPr/>
        </p:nvSpPr>
        <p:spPr>
          <a:xfrm>
            <a:off x="502920" y="3572378"/>
            <a:ext cx="11183112" cy="309433"/>
          </a:xfrm>
          <a:prstGeom prst="parallelogram">
            <a:avLst/>
          </a:prstGeom>
          <a:solidFill>
            <a:srgbClr val="7030A0"/>
          </a:solidFill>
          <a:ln>
            <a:noFill/>
          </a:ln>
        </p:spPr>
      </p:sp>
      <p:sp>
        <p:nvSpPr>
          <p:cNvPr id="22" name="Cost bar"/>
          <p:cNvSpPr txBox="1"/>
          <p:nvPr/>
        </p:nvSpPr>
        <p:spPr>
          <a:xfrm>
            <a:off x="566928" y="3572378"/>
            <a:ext cx="11055096" cy="309433"/>
          </a:xfrm>
          <a:prstGeom prst="parallelogram">
            <a:avLst/>
          </a:prstGeom>
          <a:solidFill>
            <a:srgbClr val="3B3F5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  <a:defRPr/>
            </a:pPr>
            <a:r>
              <a:rPr lang="ko-KR" sz="11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임상</a:t>
            </a:r>
            <a:r>
              <a:rPr lang="ko-KR" altLang="en-US" sz="11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실험 수행 예상 실험비용</a:t>
            </a:r>
            <a:endParaRPr lang="ko-KR" altLang="en-US" sz="1150" b="1">
              <a:solidFill>
                <a:srgbClr val="ffffff"/>
              </a:solidFill>
              <a:latin typeface="210 옴니고딕 050"/>
              <a:ea typeface="210 옴니고딕 050"/>
              <a:cs typeface="210 옴니고딕 050"/>
            </a:endParaRPr>
          </a:p>
        </p:txBody>
      </p:sp>
      <p:sp>
        <p:nvSpPr>
          <p:cNvPr id="23" name="Cc 0"/>
          <p:cNvSpPr/>
          <p:nvPr/>
        </p:nvSpPr>
        <p:spPr>
          <a:xfrm>
            <a:off x="502920" y="3967764"/>
            <a:ext cx="11183112" cy="51572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24" name="Cn 0"/>
          <p:cNvSpPr txBox="1"/>
          <p:nvPr/>
        </p:nvSpPr>
        <p:spPr>
          <a:xfrm>
            <a:off x="621792" y="3967764"/>
            <a:ext cx="1600200" cy="515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멕시코</a:t>
            </a:r>
            <a:endParaRPr lang="ko-KR" sz="1100"/>
          </a:p>
          <a:p>
            <a:pPr marL="0" indent="0" algn="l">
              <a:buNone/>
            </a:pPr>
            <a:r>
              <a:rPr lang="ko-KR" sz="8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실제 견적 (CORVIA, 2025.07)</a:t>
            </a:r>
            <a:endParaRPr lang="ko-KR" sz="1100"/>
          </a:p>
        </p:txBody>
      </p:sp>
      <p:sp>
        <p:nvSpPr>
          <p:cNvPr id="25" name="Cb 0"/>
          <p:cNvSpPr/>
          <p:nvPr/>
        </p:nvSpPr>
        <p:spPr>
          <a:xfrm>
            <a:off x="2286000" y="4096695"/>
            <a:ext cx="1147970" cy="257861"/>
          </a:xfrm>
          <a:prstGeom prst="rect">
            <a:avLst/>
          </a:prstGeom>
          <a:solidFill>
            <a:srgbClr val="102290"/>
          </a:solidFill>
          <a:ln>
            <a:noFill/>
          </a:ln>
        </p:spPr>
      </p:sp>
      <p:sp>
        <p:nvSpPr>
          <p:cNvPr id="26" name="Cv 0"/>
          <p:cNvSpPr txBox="1"/>
          <p:nvPr/>
        </p:nvSpPr>
        <p:spPr>
          <a:xfrm>
            <a:off x="3507122" y="3967764"/>
            <a:ext cx="914400" cy="515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3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2.31억</a:t>
            </a:r>
            <a:endParaRPr lang="ko-KR" sz="1300"/>
          </a:p>
        </p:txBody>
      </p:sp>
      <p:sp>
        <p:nvSpPr>
          <p:cNvPr id="27" name="Cd 0"/>
          <p:cNvSpPr txBox="1"/>
          <p:nvPr/>
        </p:nvSpPr>
        <p:spPr>
          <a:xfrm>
            <a:off x="6949440" y="3967764"/>
            <a:ext cx="4663440" cy="515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40명 · 1기관 · VAT 포함 2.68억</a:t>
            </a:r>
            <a:endParaRPr lang="ko-KR" sz="1100"/>
          </a:p>
          <a:p>
            <a:pPr marL="0" indent="0" algn="l">
              <a:buNone/>
            </a:pPr>
            <a:r>
              <a:rPr lang="ko-KR" sz="8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견적 검산: 소계 불일치 3곳 · 방문일정 · 의약품용 항목 → 재견적 필요</a:t>
            </a:r>
            <a:endParaRPr lang="ko-KR" sz="1100"/>
          </a:p>
        </p:txBody>
      </p:sp>
      <p:sp>
        <p:nvSpPr>
          <p:cNvPr id="28" name="Cc 1"/>
          <p:cNvSpPr/>
          <p:nvPr/>
        </p:nvSpPr>
        <p:spPr>
          <a:xfrm>
            <a:off x="502920" y="4543654"/>
            <a:ext cx="11183112" cy="51572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29" name="Cn 1"/>
          <p:cNvSpPr txBox="1"/>
          <p:nvPr/>
        </p:nvSpPr>
        <p:spPr>
          <a:xfrm>
            <a:off x="621792" y="4543654"/>
            <a:ext cx="1600200" cy="515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미국</a:t>
            </a:r>
            <a:endParaRPr lang="ko-KR" sz="1100"/>
          </a:p>
          <a:p>
            <a:pPr marL="0" indent="0" algn="l">
              <a:buNone/>
            </a:pPr>
            <a:r>
              <a:rPr lang="ko-KR" sz="8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공개 단가 모델</a:t>
            </a:r>
            <a:endParaRPr lang="ko-KR" sz="1100"/>
          </a:p>
        </p:txBody>
      </p:sp>
      <p:sp>
        <p:nvSpPr>
          <p:cNvPr id="30" name="Cb 1"/>
          <p:cNvSpPr/>
          <p:nvPr/>
        </p:nvSpPr>
        <p:spPr>
          <a:xfrm>
            <a:off x="2286000" y="4672584"/>
            <a:ext cx="3657600" cy="257861"/>
          </a:xfrm>
          <a:prstGeom prst="rect">
            <a:avLst/>
          </a:prstGeom>
          <a:solidFill>
            <a:srgbClr val="7030A0"/>
          </a:solidFill>
          <a:ln>
            <a:noFill/>
          </a:ln>
        </p:spPr>
      </p:sp>
      <p:sp>
        <p:nvSpPr>
          <p:cNvPr id="31" name="Cv 1"/>
          <p:cNvSpPr txBox="1"/>
          <p:nvPr/>
        </p:nvSpPr>
        <p:spPr>
          <a:xfrm>
            <a:off x="6016752" y="4543654"/>
            <a:ext cx="914400" cy="515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30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7.36억</a:t>
            </a:r>
            <a:endParaRPr lang="ko-KR" sz="1300"/>
          </a:p>
        </p:txBody>
      </p:sp>
      <p:sp>
        <p:nvSpPr>
          <p:cNvPr id="32" name="Cd 1"/>
          <p:cNvSpPr txBox="1"/>
          <p:nvPr/>
        </p:nvSpPr>
        <p:spPr>
          <a:xfrm>
            <a:off x="6949440" y="4543654"/>
            <a:ext cx="4663440" cy="515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60명 · 2기관 · 예비비 15% 포함</a:t>
            </a:r>
            <a:endParaRPr lang="ko-KR" sz="1100"/>
          </a:p>
          <a:p>
            <a:pPr marL="0" indent="0" algn="l">
              <a:buNone/>
            </a:pPr>
            <a:r>
              <a:rPr lang="ko-KR" sz="8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대상자 방문 · 처치 2.87억이 최대 · FDA 비용 별도</a:t>
            </a:r>
            <a:endParaRPr lang="ko-KR" sz="1100"/>
          </a:p>
        </p:txBody>
      </p:sp>
      <p:sp>
        <p:nvSpPr>
          <p:cNvPr id="33" name="Cc 2"/>
          <p:cNvSpPr/>
          <p:nvPr/>
        </p:nvSpPr>
        <p:spPr>
          <a:xfrm>
            <a:off x="502920" y="5119543"/>
            <a:ext cx="11183112" cy="51572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34" name="Cn 2"/>
          <p:cNvSpPr txBox="1"/>
          <p:nvPr/>
        </p:nvSpPr>
        <p:spPr>
          <a:xfrm>
            <a:off x="621792" y="5119543"/>
            <a:ext cx="1600200" cy="515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한국</a:t>
            </a:r>
            <a:endParaRPr lang="ko-KR" sz="1100"/>
          </a:p>
          <a:p>
            <a:pPr marL="0" indent="0" algn="l">
              <a:buNone/>
            </a:pPr>
            <a:r>
              <a:rPr lang="ko-KR" sz="8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공개자료 계획 모델</a:t>
            </a:r>
            <a:endParaRPr lang="ko-KR" sz="1100"/>
          </a:p>
        </p:txBody>
      </p:sp>
      <p:sp>
        <p:nvSpPr>
          <p:cNvPr id="35" name="Cb 2"/>
          <p:cNvSpPr/>
          <p:nvPr/>
        </p:nvSpPr>
        <p:spPr>
          <a:xfrm>
            <a:off x="2286000" y="5248473"/>
            <a:ext cx="2484783" cy="257861"/>
          </a:xfrm>
          <a:prstGeom prst="rect">
            <a:avLst/>
          </a:prstGeom>
          <a:solidFill>
            <a:srgbClr val="437DFF"/>
          </a:solidFill>
          <a:ln>
            <a:noFill/>
          </a:ln>
        </p:spPr>
      </p:sp>
      <p:sp>
        <p:nvSpPr>
          <p:cNvPr id="36" name="Cv 2"/>
          <p:cNvSpPr txBox="1"/>
          <p:nvPr/>
        </p:nvSpPr>
        <p:spPr>
          <a:xfrm>
            <a:off x="4843935" y="5119543"/>
            <a:ext cx="914400" cy="515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3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5.00억</a:t>
            </a:r>
            <a:endParaRPr lang="ko-KR" sz="1300"/>
          </a:p>
        </p:txBody>
      </p:sp>
      <p:sp>
        <p:nvSpPr>
          <p:cNvPr id="37" name="Cd 2"/>
          <p:cNvSpPr txBox="1"/>
          <p:nvPr/>
        </p:nvSpPr>
        <p:spPr>
          <a:xfrm>
            <a:off x="6949440" y="5119543"/>
            <a:ext cx="4663440" cy="515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60명 · 2기관 · 5회 방문</a:t>
            </a:r>
            <a:endParaRPr lang="ko-KR" sz="1100"/>
          </a:p>
          <a:p>
            <a:pPr marL="0" indent="0" algn="l">
              <a:buNone/>
            </a:pPr>
            <a:r>
              <a:rPr lang="ko-KR" sz="8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치료 · 추적 1.55억이 최대 · IRB · 간접비 20% 공개 기준 반영</a:t>
            </a:r>
            <a:endParaRPr lang="ko-KR" sz="1100"/>
          </a:p>
        </p:txBody>
      </p:sp>
      <p:sp>
        <p:nvSpPr>
          <p:cNvPr id="38" name="Key box"/>
          <p:cNvSpPr/>
          <p:nvPr/>
        </p:nvSpPr>
        <p:spPr>
          <a:xfrm>
            <a:off x="502920" y="5807172"/>
            <a:ext cx="11183112" cy="429768"/>
          </a:xfrm>
          <a:prstGeom prst="roundRect">
            <a:avLst>
              <a:gd name="adj" fmla="val 12000"/>
            </a:avLst>
          </a:prstGeom>
          <a:solidFill>
            <a:srgbClr val="E6E9F5"/>
          </a:solidFill>
          <a:ln>
            <a:noFill/>
          </a:ln>
        </p:spPr>
      </p:sp>
      <p:sp>
        <p:nvSpPr>
          <p:cNvPr id="39" name="Key label"/>
          <p:cNvSpPr txBox="1"/>
          <p:nvPr/>
        </p:nvSpPr>
        <p:spPr>
          <a:xfrm>
            <a:off x="640080" y="5893125"/>
            <a:ext cx="685800" cy="257861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핵심</a:t>
            </a:r>
            <a:endParaRPr lang="ko-KR" sz="1000"/>
          </a:p>
        </p:txBody>
      </p:sp>
      <p:sp>
        <p:nvSpPr>
          <p:cNvPr id="40" name="Key text"/>
          <p:cNvSpPr txBox="1"/>
          <p:nvPr/>
        </p:nvSpPr>
        <p:spPr>
          <a:xfrm>
            <a:off x="1463040" y="5807172"/>
            <a:ext cx="1005840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510(k)만이면 고정비 약 0.29억 · 임상까지 필요하면 국가별 2.3~7.4억 → Pre-Sub로 임상 필요 여부부터 확정</a:t>
            </a:r>
            <a:endParaRPr lang="ko-KR" sz="1250"/>
          </a:p>
        </p:txBody>
      </p:sp>
      <p:sp>
        <p:nvSpPr>
          <p:cNvPr id="41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FDA K162759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FDA K192386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3"/>
              </a:rPr>
              <a:t>FDA MDUFA FY2027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4"/>
              </a:rPr>
              <a:t>CORVIA 견적서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5"/>
              </a:rPr>
              <a:t>UVA Clinical Research Fees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6"/>
              </a:rPr>
              <a:t>한강성심병원 IRB · 간접비</a:t>
            </a:r>
            <a:endParaRPr lang="ko-KR" sz="75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5억원 사용 계획 — 3가지 안 비교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병원·CRO 견적 · 판매가 확정 전 공개자료 기준 · 각 안의 비용은 앞 장 산출값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23</a:t>
            </a:r>
            <a:endParaRPr lang="ko-KR" sz="800"/>
          </a:p>
        </p:txBody>
      </p:sp>
      <p:sp>
        <p:nvSpPr>
          <p:cNvPr id="8" name="Opt 0"/>
          <p:cNvSpPr/>
          <p:nvPr/>
        </p:nvSpPr>
        <p:spPr>
          <a:xfrm>
            <a:off x="502920" y="1664208"/>
            <a:ext cx="3648456" cy="330921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9" name="Opt h 0"/>
          <p:cNvSpPr txBox="1"/>
          <p:nvPr/>
        </p:nvSpPr>
        <p:spPr>
          <a:xfrm>
            <a:off x="502920" y="1664208"/>
            <a:ext cx="3648456" cy="446959"/>
          </a:xfrm>
          <a:prstGeom prst="round2SameRect">
            <a:avLst>
              <a:gd name="adj" fmla="val 16000"/>
            </a:avLst>
          </a:prstGeom>
          <a:solidFill>
            <a:srgbClr val="437D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3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안 A  </a:t>
            </a:r>
            <a:r>
              <a:rPr lang="ko-KR" sz="13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국내 임상 우선</a:t>
            </a:r>
            <a:endParaRPr lang="ko-KR" sz="1300"/>
          </a:p>
        </p:txBody>
      </p:sp>
      <p:sp>
        <p:nvSpPr>
          <p:cNvPr id="10" name="Opt l 00"/>
          <p:cNvSpPr txBox="1"/>
          <p:nvPr/>
        </p:nvSpPr>
        <p:spPr>
          <a:xfrm>
            <a:off x="640080" y="2222906"/>
            <a:ext cx="7772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쓰는 곳</a:t>
            </a:r>
            <a:endParaRPr lang="ko-KR" sz="950"/>
          </a:p>
        </p:txBody>
      </p:sp>
      <p:sp>
        <p:nvSpPr>
          <p:cNvPr id="11" name="Opt v 00"/>
          <p:cNvSpPr txBox="1"/>
          <p:nvPr/>
        </p:nvSpPr>
        <p:spPr>
          <a:xfrm>
            <a:off x="640080" y="2454981"/>
            <a:ext cx="338328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국내 임상 5.00억 전액</a:t>
            </a:r>
            <a:endParaRPr lang="ko-KR" sz="1050"/>
          </a:p>
        </p:txBody>
      </p:sp>
      <p:sp>
        <p:nvSpPr>
          <p:cNvPr id="12" name="Opt l 01"/>
          <p:cNvSpPr txBox="1"/>
          <p:nvPr/>
        </p:nvSpPr>
        <p:spPr>
          <a:xfrm>
            <a:off x="640080" y="2893344"/>
            <a:ext cx="7772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얻는 것</a:t>
            </a:r>
            <a:endParaRPr lang="ko-KR" sz="950"/>
          </a:p>
        </p:txBody>
      </p:sp>
      <p:sp>
        <p:nvSpPr>
          <p:cNvPr id="13" name="Opt v 01"/>
          <p:cNvSpPr txBox="1"/>
          <p:nvPr/>
        </p:nvSpPr>
        <p:spPr>
          <a:xfrm>
            <a:off x="640080" y="3125419"/>
            <a:ext cx="338328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식약처 허가용 임상 완료</a:t>
            </a:r>
            <a:endParaRPr lang="ko-KR" sz="1050"/>
          </a:p>
        </p:txBody>
      </p:sp>
      <p:sp>
        <p:nvSpPr>
          <p:cNvPr id="14" name="Opt l 02"/>
          <p:cNvSpPr txBox="1"/>
          <p:nvPr/>
        </p:nvSpPr>
        <p:spPr>
          <a:xfrm>
            <a:off x="640080" y="3563783"/>
            <a:ext cx="7772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남는 돈</a:t>
            </a:r>
            <a:endParaRPr lang="ko-KR" sz="950"/>
          </a:p>
        </p:txBody>
      </p:sp>
      <p:sp>
        <p:nvSpPr>
          <p:cNvPr id="15" name="Opt v 02"/>
          <p:cNvSpPr txBox="1"/>
          <p:nvPr/>
        </p:nvSpPr>
        <p:spPr>
          <a:xfrm>
            <a:off x="640080" y="3795857"/>
            <a:ext cx="338328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0 → 허가 수수료 · GMP · 급여 등재 비용 별도</a:t>
            </a:r>
            <a:endParaRPr lang="ko-KR" sz="1050"/>
          </a:p>
        </p:txBody>
      </p:sp>
      <p:sp>
        <p:nvSpPr>
          <p:cNvPr id="16" name="Opt l 03"/>
          <p:cNvSpPr txBox="1"/>
          <p:nvPr/>
        </p:nvSpPr>
        <p:spPr>
          <a:xfrm>
            <a:off x="640080" y="4234221"/>
            <a:ext cx="7772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위험</a:t>
            </a:r>
            <a:endParaRPr lang="ko-KR" sz="950"/>
          </a:p>
        </p:txBody>
      </p:sp>
      <p:sp>
        <p:nvSpPr>
          <p:cNvPr id="17" name="Opt v 03"/>
          <p:cNvSpPr txBox="1"/>
          <p:nvPr/>
        </p:nvSpPr>
        <p:spPr>
          <a:xfrm>
            <a:off x="640080" y="4466295"/>
            <a:ext cx="338328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예비비 0.55억뿐 · 미국 진출은 그다음</a:t>
            </a:r>
            <a:endParaRPr lang="ko-KR" sz="1050"/>
          </a:p>
        </p:txBody>
      </p:sp>
      <p:sp>
        <p:nvSpPr>
          <p:cNvPr id="18" name="Opt 1"/>
          <p:cNvSpPr/>
          <p:nvPr/>
        </p:nvSpPr>
        <p:spPr>
          <a:xfrm>
            <a:off x="4270248" y="1664208"/>
            <a:ext cx="3648456" cy="3309214"/>
          </a:xfrm>
          <a:prstGeom prst="roundRect">
            <a:avLst>
              <a:gd name="adj" fmla="val 4000"/>
            </a:avLst>
          </a:prstGeom>
          <a:solidFill>
            <a:srgbClr val="E6E9F5"/>
          </a:solidFill>
          <a:ln w="9525">
            <a:solidFill>
              <a:srgbClr val="102290"/>
            </a:solidFill>
          </a:ln>
        </p:spPr>
      </p:sp>
      <p:sp>
        <p:nvSpPr>
          <p:cNvPr id="19" name="Opt h 1"/>
          <p:cNvSpPr txBox="1"/>
          <p:nvPr/>
        </p:nvSpPr>
        <p:spPr>
          <a:xfrm>
            <a:off x="4270248" y="1664208"/>
            <a:ext cx="3648456" cy="446959"/>
          </a:xfrm>
          <a:prstGeom prst="round2Same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3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안 B  </a:t>
            </a:r>
            <a:r>
              <a:rPr lang="ko-KR" sz="13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미국 510(k) 우선</a:t>
            </a:r>
            <a:r>
              <a:rPr lang="ko-KR" sz="1100" b="1">
                <a:solidFill>
                  <a:srgbClr val="FFE08A"/>
                </a:solidFill>
                <a:latin typeface="210 옴니고딕 050"/>
                <a:ea typeface="210 옴니고딕 050"/>
                <a:cs typeface="210 옴니고딕 050"/>
              </a:rPr>
              <a:t>  ★ 제안</a:t>
            </a:r>
            <a:endParaRPr lang="ko-KR" sz="1300"/>
          </a:p>
        </p:txBody>
      </p:sp>
      <p:sp>
        <p:nvSpPr>
          <p:cNvPr id="20" name="Opt l 10"/>
          <p:cNvSpPr txBox="1"/>
          <p:nvPr/>
        </p:nvSpPr>
        <p:spPr>
          <a:xfrm>
            <a:off x="4407408" y="2222906"/>
            <a:ext cx="7772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쓰는 곳</a:t>
            </a:r>
            <a:endParaRPr lang="ko-KR" sz="950"/>
          </a:p>
        </p:txBody>
      </p:sp>
      <p:sp>
        <p:nvSpPr>
          <p:cNvPr id="21" name="Opt v 10"/>
          <p:cNvSpPr txBox="1"/>
          <p:nvPr/>
        </p:nvSpPr>
        <p:spPr>
          <a:xfrm>
            <a:off x="4407408" y="2454981"/>
            <a:ext cx="338328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FDA 고정비 0.29억 + 국내 임상 준비 0.45억 (설계 · 기관 선정 · IRB)</a:t>
            </a:r>
            <a:endParaRPr lang="ko-KR" sz="1050"/>
          </a:p>
        </p:txBody>
      </p:sp>
      <p:sp>
        <p:nvSpPr>
          <p:cNvPr id="22" name="Opt l 11"/>
          <p:cNvSpPr txBox="1"/>
          <p:nvPr/>
        </p:nvSpPr>
        <p:spPr>
          <a:xfrm>
            <a:off x="4407408" y="2893344"/>
            <a:ext cx="7772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얻는 것</a:t>
            </a:r>
            <a:endParaRPr lang="ko-KR" sz="950"/>
          </a:p>
        </p:txBody>
      </p:sp>
      <p:sp>
        <p:nvSpPr>
          <p:cNvPr id="23" name="Opt v 11"/>
          <p:cNvSpPr txBox="1"/>
          <p:nvPr/>
        </p:nvSpPr>
        <p:spPr>
          <a:xfrm>
            <a:off x="4407408" y="3125419"/>
            <a:ext cx="338328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KeraStat 경로로 미국 판매 허가 가능성 조기 확인</a:t>
            </a:r>
            <a:endParaRPr lang="ko-KR" sz="1050"/>
          </a:p>
        </p:txBody>
      </p:sp>
      <p:sp>
        <p:nvSpPr>
          <p:cNvPr id="24" name="Opt l 12"/>
          <p:cNvSpPr txBox="1"/>
          <p:nvPr/>
        </p:nvSpPr>
        <p:spPr>
          <a:xfrm>
            <a:off x="4407408" y="3563783"/>
            <a:ext cx="7772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남는 돈</a:t>
            </a:r>
            <a:endParaRPr lang="ko-KR" sz="950"/>
          </a:p>
        </p:txBody>
      </p:sp>
      <p:sp>
        <p:nvSpPr>
          <p:cNvPr id="25" name="Opt v 12"/>
          <p:cNvSpPr txBox="1"/>
          <p:nvPr/>
        </p:nvSpPr>
        <p:spPr>
          <a:xfrm>
            <a:off x="4407408" y="3795857"/>
            <a:ext cx="338328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약 4.3억 → 시험 보완 · 컨설팅 후 국내 임상 매칭 재원</a:t>
            </a:r>
            <a:endParaRPr lang="ko-KR" sz="1050"/>
          </a:p>
        </p:txBody>
      </p:sp>
      <p:sp>
        <p:nvSpPr>
          <p:cNvPr id="26" name="Opt l 13"/>
          <p:cNvSpPr txBox="1"/>
          <p:nvPr/>
        </p:nvSpPr>
        <p:spPr>
          <a:xfrm>
            <a:off x="4407408" y="4234221"/>
            <a:ext cx="7772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위험</a:t>
            </a:r>
            <a:endParaRPr lang="ko-KR" sz="950"/>
          </a:p>
        </p:txBody>
      </p:sp>
      <p:sp>
        <p:nvSpPr>
          <p:cNvPr id="27" name="Opt v 13"/>
          <p:cNvSpPr txBox="1"/>
          <p:nvPr/>
        </p:nvSpPr>
        <p:spPr>
          <a:xfrm>
            <a:off x="4407408" y="4466295"/>
            <a:ext cx="338328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FDA가 임상 요구 시 임상비 추가 (22쪽: 2.3~7.4억)</a:t>
            </a:r>
            <a:endParaRPr lang="ko-KR" sz="1050"/>
          </a:p>
        </p:txBody>
      </p:sp>
      <p:sp>
        <p:nvSpPr>
          <p:cNvPr id="28" name="Opt 2"/>
          <p:cNvSpPr/>
          <p:nvPr/>
        </p:nvSpPr>
        <p:spPr>
          <a:xfrm>
            <a:off x="8037576" y="1664208"/>
            <a:ext cx="3648456" cy="330921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29" name="Opt h 2"/>
          <p:cNvSpPr txBox="1"/>
          <p:nvPr/>
        </p:nvSpPr>
        <p:spPr>
          <a:xfrm>
            <a:off x="8037576" y="1664208"/>
            <a:ext cx="3648456" cy="446959"/>
          </a:xfrm>
          <a:prstGeom prst="round2SameRect">
            <a:avLst>
              <a:gd name="adj" fmla="val 16000"/>
            </a:avLst>
          </a:prstGeom>
          <a:solidFill>
            <a:srgbClr val="7030A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3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안 C  </a:t>
            </a:r>
            <a:r>
              <a:rPr lang="ko-KR" sz="13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정부과제 매칭</a:t>
            </a:r>
            <a:endParaRPr lang="ko-KR" sz="1300"/>
          </a:p>
        </p:txBody>
      </p:sp>
      <p:sp>
        <p:nvSpPr>
          <p:cNvPr id="30" name="Opt l 20"/>
          <p:cNvSpPr txBox="1"/>
          <p:nvPr/>
        </p:nvSpPr>
        <p:spPr>
          <a:xfrm>
            <a:off x="8174736" y="2222906"/>
            <a:ext cx="7772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쓰는 곳</a:t>
            </a:r>
            <a:endParaRPr lang="ko-KR" sz="950"/>
          </a:p>
        </p:txBody>
      </p:sp>
      <p:sp>
        <p:nvSpPr>
          <p:cNvPr id="31" name="Opt v 20"/>
          <p:cNvSpPr txBox="1"/>
          <p:nvPr/>
        </p:nvSpPr>
        <p:spPr>
          <a:xfrm>
            <a:off x="8174736" y="2454981"/>
            <a:ext cx="338328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5억을 KMDF 임상 과제의 기업부담금으로</a:t>
            </a:r>
            <a:endParaRPr lang="ko-KR" sz="1050"/>
          </a:p>
        </p:txBody>
      </p:sp>
      <p:sp>
        <p:nvSpPr>
          <p:cNvPr id="32" name="Opt l 21"/>
          <p:cNvSpPr txBox="1"/>
          <p:nvPr/>
        </p:nvSpPr>
        <p:spPr>
          <a:xfrm>
            <a:off x="8174736" y="2893344"/>
            <a:ext cx="7772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얻는 것</a:t>
            </a:r>
            <a:endParaRPr lang="ko-KR" sz="950"/>
          </a:p>
        </p:txBody>
      </p:sp>
      <p:sp>
        <p:nvSpPr>
          <p:cNvPr id="33" name="Opt v 21"/>
          <p:cNvSpPr txBox="1"/>
          <p:nvPr/>
        </p:nvSpPr>
        <p:spPr>
          <a:xfrm>
            <a:off x="8174736" y="3125419"/>
            <a:ext cx="338328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예시: 정부지원 75% 한도면 총사업비 최대 20억</a:t>
            </a:r>
            <a:endParaRPr lang="ko-KR" sz="1050"/>
          </a:p>
        </p:txBody>
      </p:sp>
      <p:sp>
        <p:nvSpPr>
          <p:cNvPr id="34" name="Opt l 22"/>
          <p:cNvSpPr txBox="1"/>
          <p:nvPr/>
        </p:nvSpPr>
        <p:spPr>
          <a:xfrm>
            <a:off x="8174736" y="3563783"/>
            <a:ext cx="7772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남는 돈</a:t>
            </a:r>
            <a:endParaRPr lang="ko-KR" sz="950"/>
          </a:p>
        </p:txBody>
      </p:sp>
      <p:sp>
        <p:nvSpPr>
          <p:cNvPr id="35" name="Opt v 22"/>
          <p:cNvSpPr txBox="1"/>
          <p:nvPr/>
        </p:nvSpPr>
        <p:spPr>
          <a:xfrm>
            <a:off x="8174736" y="3795857"/>
            <a:ext cx="338328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과제 기간 동안 분할 집행</a:t>
            </a:r>
            <a:endParaRPr lang="ko-KR" sz="1050"/>
          </a:p>
        </p:txBody>
      </p:sp>
      <p:sp>
        <p:nvSpPr>
          <p:cNvPr id="36" name="Opt l 23"/>
          <p:cNvSpPr txBox="1"/>
          <p:nvPr/>
        </p:nvSpPr>
        <p:spPr>
          <a:xfrm>
            <a:off x="8174736" y="4234221"/>
            <a:ext cx="7772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위험</a:t>
            </a:r>
            <a:endParaRPr lang="ko-KR" sz="950"/>
          </a:p>
        </p:txBody>
      </p:sp>
      <p:sp>
        <p:nvSpPr>
          <p:cNvPr id="37" name="Opt v 23"/>
          <p:cNvSpPr txBox="1"/>
          <p:nvPr/>
        </p:nvSpPr>
        <p:spPr>
          <a:xfrm>
            <a:off x="8174736" y="4466295"/>
            <a:ext cx="338328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선정 불확실 · 2027 공고 시기 의존</a:t>
            </a:r>
            <a:endParaRPr lang="ko-KR" sz="1050"/>
          </a:p>
        </p:txBody>
      </p:sp>
      <p:sp>
        <p:nvSpPr>
          <p:cNvPr id="38" name="Plan rec"/>
          <p:cNvSpPr txBox="1"/>
          <p:nvPr/>
        </p:nvSpPr>
        <p:spPr>
          <a:xfrm>
            <a:off x="502920" y="5059375"/>
            <a:ext cx="11183112" cy="644652"/>
          </a:xfrm>
          <a:prstGeom prst="roundRect">
            <a:avLst>
              <a:gd name="adj" fmla="val 12000"/>
            </a:avLst>
          </a:prstGeom>
          <a:solidFill>
            <a:srgbClr val="E6E9F5"/>
          </a:solidFill>
          <a:ln>
            <a:noFill/>
          </a:ln>
        </p:spPr>
        <p:txBody>
          <a:bodyPr wrap="square" lIns="137160" tIns="36576" rIns="137160" bIns="36576" anchor="ctr">
            <a:noAutofit/>
          </a:bodyPr>
          <a:lstStyle/>
          <a:p>
            <a:pPr marL="0" indent="0" algn="ctr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제안 (B + C): 지금은 FDA 510(k)를 KeraStat 경로로 소액 준비하고, 남은 재원은 2027 KMDF 임상 과제의 기업부담금으로 써서 국내 임상을 정부 지원과 함께 수행</a:t>
            </a:r>
            <a:endParaRPr lang="ko-KR" sz="1200"/>
          </a:p>
        </p:txBody>
      </p:sp>
      <p:sp>
        <p:nvSpPr>
          <p:cNvPr id="39" name="Plan note"/>
          <p:cNvSpPr txBox="1"/>
          <p:nvPr/>
        </p:nvSpPr>
        <p:spPr>
          <a:xfrm>
            <a:off x="502920" y="5747004"/>
            <a:ext cx="11183112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참고: 국내 4등급 허가 수수료 (임상자료 포함, 전자민원) 약 150만원 — 신개발의료기기 해당 시 수수료 대폭 인상 보도 → 해당 여부 확인 · ‘75%’는 국가연구개발 일반 기준 예시, 공고별 확인</a:t>
            </a:r>
            <a:endParaRPr lang="ko-KR" sz="950"/>
          </a:p>
        </p:txBody>
      </p:sp>
      <p:sp>
        <p:nvSpPr>
          <p:cNvPr id="40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FDA MDUFA Fees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의료기기 허가 수수료 정리 (CLARE Partners)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3"/>
              </a:rPr>
              <a:t>신개발의료기기 수수료 보도 (서울경제)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4"/>
              </a:rPr>
              <a:t>KMDF 공고</a:t>
            </a:r>
            <a:endParaRPr lang="ko-KR" sz="75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신청 가능 과제 · 허가 후 예상 매출처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과제는 정식 공고명 · 주관 부처 그대로 표기 · 지금 접수 중: 2026년 해외규격인증획득 지원사업 (3차)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24</a:t>
            </a:r>
            <a:endParaRPr lang="ko-KR" sz="800"/>
          </a:p>
        </p:txBody>
      </p:sp>
      <p:sp>
        <p:nvSpPr>
          <p:cNvPr id="8" name="G bar back"/>
          <p:cNvSpPr/>
          <p:nvPr/>
        </p:nvSpPr>
        <p:spPr>
          <a:xfrm>
            <a:off x="502920" y="1664208"/>
            <a:ext cx="6903720" cy="309433"/>
          </a:xfrm>
          <a:prstGeom prst="parallelogram">
            <a:avLst/>
          </a:prstGeom>
          <a:solidFill>
            <a:srgbClr val="7030A0"/>
          </a:solidFill>
          <a:ln>
            <a:noFill/>
          </a:ln>
        </p:spPr>
      </p:sp>
      <p:sp>
        <p:nvSpPr>
          <p:cNvPr id="9" name="G bar"/>
          <p:cNvSpPr txBox="1"/>
          <p:nvPr/>
        </p:nvSpPr>
        <p:spPr>
          <a:xfrm>
            <a:off x="566928" y="1664208"/>
            <a:ext cx="6775704" cy="309433"/>
          </a:xfrm>
          <a:prstGeom prst="parallelogram">
            <a:avLst/>
          </a:prstGeom>
          <a:solidFill>
            <a:srgbClr val="3B3F5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1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신청 가능 과제 (정식 명칭 · 주관)</a:t>
            </a:r>
            <a:endParaRPr lang="ko-KR" sz="1150"/>
          </a:p>
        </p:txBody>
      </p:sp>
      <p:graphicFrame>
        <p:nvGraphicFramePr>
          <p:cNvPr id="10" name="Grants"/>
          <p:cNvGraphicFramePr>
            <a:graphicFrameLocks noGrp="1"/>
          </p:cNvGraphicFramePr>
          <p:nvPr/>
        </p:nvGraphicFramePr>
        <p:xfrm>
          <a:off x="502920" y="2050999"/>
          <a:ext cx="6903720" cy="2853660"/>
        </p:xfrm>
        <a:graphic>
          <a:graphicData uri="http://schemas.openxmlformats.org/drawingml/2006/table">
            <a:tbl>
              <a:tblPr firstRow="1"/>
              <a:tblGrid>
                <a:gridCol w="640080"/>
                <a:gridCol w="3337560"/>
                <a:gridCol w="1828800"/>
                <a:gridCol w="1097280"/>
              </a:tblGrid>
              <a:tr h="2750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시기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과제명 · 주관 부처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지원 내용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일정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지금</a:t>
                      </a:r>
                      <a:endParaRPr lang="ko-KR" sz="950"/>
                    </a:p>
                  </a:txBody>
                  <a:tcPr marL="27432" marR="27432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C00A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 b="1">
                          <a:solidFill>
                            <a:srgbClr val="C00A3E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2026년 해외규격인증획득 지원사업 (3차)</a:t>
                      </a:r>
                      <a:endParaRPr lang="ko-KR" sz="95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중소벤처기업부 · 해외규격인증획득지원센터</a:t>
                      </a:r>
                      <a:endParaRPr lang="ko-KR" sz="800"/>
                    </a:p>
                  </a:txBody>
                  <a:tcPr marL="54864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BE6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해외 인증 · 시험 · 컨설팅 50~70% · 의료기기 최대 1.5억</a:t>
                      </a:r>
                      <a:endParaRPr lang="ko-KR" sz="850"/>
                    </a:p>
                  </a:txBody>
                  <a:tcPr marL="54864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BE6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850" b="1">
                          <a:solidFill>
                            <a:srgbClr val="C00A3E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10.14~11.13 접수 중</a:t>
                      </a:r>
                      <a:endParaRPr lang="ko-KR" sz="850"/>
                    </a:p>
                  </a:txBody>
                  <a:tcPr marL="54864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BE6E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지금</a:t>
                      </a:r>
                      <a:endParaRPr lang="ko-KR" sz="950"/>
                    </a:p>
                  </a:txBody>
                  <a:tcPr marL="27432" marR="27432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3B3F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Small Business Determination (SBD) Program</a:t>
                      </a:r>
                      <a:endParaRPr lang="ko-KR" sz="95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미국 FDA (CDRH)</a:t>
                      </a:r>
                      <a:endParaRPr lang="ko-KR" sz="800"/>
                    </a:p>
                  </a:txBody>
                  <a:tcPr marL="54864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510(k) 수수료 감면 $28,653 → $7,163</a:t>
                      </a:r>
                      <a:endParaRPr lang="ko-KR" sz="850"/>
                    </a:p>
                  </a:txBody>
                  <a:tcPr marL="54864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매년 신청</a:t>
                      </a:r>
                      <a:endParaRPr lang="ko-KR" sz="850"/>
                    </a:p>
                  </a:txBody>
                  <a:tcPr marL="54864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지금</a:t>
                      </a:r>
                      <a:endParaRPr lang="ko-KR" sz="950"/>
                    </a:p>
                  </a:txBody>
                  <a:tcPr marL="27432" marR="27432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3B3F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Q-Submission Program (Pre-Submission)</a:t>
                      </a:r>
                      <a:endParaRPr lang="ko-KR" sz="95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미국 FDA (CDRH)</a:t>
                      </a:r>
                      <a:endParaRPr lang="ko-KR" sz="800"/>
                    </a:p>
                  </a:txBody>
                  <a:tcPr marL="54864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510(k) 제출 전 자료 범위 확인 · 무료</a:t>
                      </a:r>
                      <a:endParaRPr lang="ko-KR" sz="850"/>
                    </a:p>
                  </a:txBody>
                  <a:tcPr marL="54864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상시</a:t>
                      </a:r>
                      <a:endParaRPr lang="ko-KR" sz="850"/>
                    </a:p>
                  </a:txBody>
                  <a:tcPr marL="54864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2027</a:t>
                      </a:r>
                      <a:endParaRPr lang="ko-KR" sz="950"/>
                    </a:p>
                  </a:txBody>
                  <a:tcPr marL="27432" marR="27432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437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범부처 첨단 의료기기 연구개발사업 — 의료현장 진입 역량 강화 (임상 · 규제과학)</a:t>
                      </a:r>
                      <a:endParaRPr lang="ko-KR" sz="95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범부처의료기기연구개발사업단 (KMDF) · 과기정통부 · 산업부 · 복지부 · 식약처</a:t>
                      </a:r>
                      <a:endParaRPr lang="ko-KR" sz="800"/>
                    </a:p>
                  </a:txBody>
                  <a:tcPr marL="54864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허가용 국내 · 국외 임상 (RFP별 규모)</a:t>
                      </a:r>
                      <a:endParaRPr lang="ko-KR" sz="850"/>
                    </a:p>
                  </a:txBody>
                  <a:tcPr marL="54864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2026: 2.19~3.9 · 6.9~6.29</a:t>
                      </a:r>
                      <a:endParaRPr lang="ko-KR" sz="850"/>
                    </a:p>
                  </a:txBody>
                  <a:tcPr marL="54864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2027</a:t>
                      </a:r>
                      <a:endParaRPr lang="ko-KR" sz="950"/>
                    </a:p>
                  </a:txBody>
                  <a:tcPr marL="27432" marR="27432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437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2026년 글로벌 규제 대응 비용 지원 사업 (의료기기)</a:t>
                      </a:r>
                      <a:endParaRPr lang="ko-KR" sz="95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보건복지부 · 한국보건산업진흥원 (K-VIP)</a:t>
                      </a:r>
                      <a:endParaRPr lang="ko-KR" sz="800"/>
                    </a:p>
                  </a:txBody>
                  <a:tcPr marL="54864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FDA · EMA 등 해외 인허가 · 유지 · 갱신 비용</a:t>
                      </a:r>
                      <a:endParaRPr lang="ko-KR" sz="850"/>
                    </a:p>
                  </a:txBody>
                  <a:tcPr marL="54864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2026: 3차 9.28 마감</a:t>
                      </a:r>
                      <a:endParaRPr lang="ko-KR" sz="850"/>
                    </a:p>
                  </a:txBody>
                  <a:tcPr marL="54864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허가 후</a:t>
                      </a:r>
                      <a:endParaRPr lang="ko-KR" sz="950"/>
                    </a:p>
                  </a:txBody>
                  <a:tcPr marL="27432" marR="27432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2026년 국산의료기기 사용자(의료기관) 임상평가 지원 사업</a:t>
                      </a:r>
                      <a:endParaRPr lang="ko-KR" sz="95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보건복지부 · 한국보건산업진흥원</a:t>
                      </a:r>
                      <a:endParaRPr lang="ko-KR" sz="800"/>
                    </a:p>
                  </a:txBody>
                  <a:tcPr marL="54864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단년 0.75억 · 단일기관 다년 1.2억 · 다기관 다년 2억</a:t>
                      </a:r>
                      <a:endParaRPr lang="ko-KR" sz="850"/>
                    </a:p>
                  </a:txBody>
                  <a:tcPr marL="54864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2026: ~2.6 마감</a:t>
                      </a:r>
                      <a:endParaRPr lang="ko-KR" sz="850"/>
                    </a:p>
                  </a:txBody>
                  <a:tcPr marL="54864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B bar back"/>
          <p:cNvSpPr/>
          <p:nvPr/>
        </p:nvSpPr>
        <p:spPr>
          <a:xfrm>
            <a:off x="7589520" y="1664208"/>
            <a:ext cx="4096512" cy="309433"/>
          </a:xfrm>
          <a:prstGeom prst="parallelogram">
            <a:avLst/>
          </a:prstGeom>
          <a:solidFill>
            <a:srgbClr val="7030A0"/>
          </a:solidFill>
          <a:ln>
            <a:noFill/>
          </a:ln>
        </p:spPr>
      </p:sp>
      <p:sp>
        <p:nvSpPr>
          <p:cNvPr id="12" name="B bar"/>
          <p:cNvSpPr txBox="1"/>
          <p:nvPr/>
        </p:nvSpPr>
        <p:spPr>
          <a:xfrm>
            <a:off x="7653528" y="1664208"/>
            <a:ext cx="3968496" cy="309433"/>
          </a:xfrm>
          <a:prstGeom prst="parallelogram">
            <a:avLst/>
          </a:prstGeom>
          <a:solidFill>
            <a:srgbClr val="3B3F5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1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허가 후 예상 매출처</a:t>
            </a:r>
            <a:endParaRPr lang="ko-KR" sz="1150"/>
          </a:p>
        </p:txBody>
      </p:sp>
      <p:sp>
        <p:nvSpPr>
          <p:cNvPr id="13" name="K card"/>
          <p:cNvSpPr/>
          <p:nvPr/>
        </p:nvSpPr>
        <p:spPr>
          <a:xfrm>
            <a:off x="7589520" y="2050999"/>
            <a:ext cx="4096512" cy="176204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14" name="K t"/>
          <p:cNvSpPr txBox="1"/>
          <p:nvPr/>
        </p:nvSpPr>
        <p:spPr>
          <a:xfrm>
            <a:off x="7699248" y="2093976"/>
            <a:ext cx="3886200" cy="2750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5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국내 — 식약처 허가 후</a:t>
            </a:r>
            <a:endParaRPr lang="ko-KR" sz="1150"/>
          </a:p>
        </p:txBody>
      </p:sp>
      <p:sp>
        <p:nvSpPr>
          <p:cNvPr id="15" name="K g"/>
          <p:cNvSpPr txBox="1"/>
          <p:nvPr/>
        </p:nvSpPr>
        <p:spPr>
          <a:xfrm>
            <a:off x="7699248" y="2377623"/>
            <a:ext cx="3886200" cy="361005"/>
          </a:xfrm>
          <a:prstGeom prst="roundRect">
            <a:avLst>
              <a:gd name="adj" fmla="val 14000"/>
            </a:avLst>
          </a:prstGeom>
          <a:solidFill>
            <a:srgbClr val="E8EFFF"/>
          </a:solidFill>
          <a:ln>
            <a:noFill/>
          </a:ln>
        </p:spPr>
        <p:txBody>
          <a:bodyPr wrap="square" lIns="64008" tIns="18288" rIns="45720" bIns="18288" anchor="ctr">
            <a:noAutofit/>
          </a:bodyPr>
          <a:lstStyle/>
          <a:p>
            <a:pPr marL="0" indent="0" algn="l">
              <a:buNone/>
            </a:pPr>
            <a:r>
              <a:rPr lang="ko-KR" sz="85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관문  품목허가 → 치료재료 급여 결정 (심평원) → 병원 재료위원회</a:t>
            </a:r>
            <a:endParaRPr lang="ko-KR" sz="850"/>
          </a:p>
        </p:txBody>
      </p:sp>
      <p:sp>
        <p:nvSpPr>
          <p:cNvPr id="16" name="K ch 0"/>
          <p:cNvSpPr txBox="1"/>
          <p:nvPr/>
        </p:nvSpPr>
        <p:spPr>
          <a:xfrm>
            <a:off x="7699248" y="2833177"/>
            <a:ext cx="1143000" cy="257861"/>
          </a:xfrm>
          <a:prstGeom prst="roundRect">
            <a:avLst>
              <a:gd name="adj" fmla="val 16000"/>
            </a:avLst>
          </a:prstGeom>
          <a:solidFill>
            <a:srgbClr val="437DFF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8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화상전문병원</a:t>
            </a:r>
            <a:endParaRPr lang="ko-KR" sz="850"/>
          </a:p>
        </p:txBody>
      </p:sp>
      <p:sp>
        <p:nvSpPr>
          <p:cNvPr id="17" name="K w 0"/>
          <p:cNvSpPr txBox="1"/>
          <p:nvPr/>
        </p:nvSpPr>
        <p:spPr>
          <a:xfrm>
            <a:off x="8915400" y="2807391"/>
            <a:ext cx="2724912" cy="3094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한림대 한강성심병원 · 베스티안</a:t>
            </a:r>
            <a:endParaRPr lang="ko-KR" sz="900"/>
          </a:p>
        </p:txBody>
      </p:sp>
      <p:sp>
        <p:nvSpPr>
          <p:cNvPr id="18" name="K ch 1"/>
          <p:cNvSpPr txBox="1"/>
          <p:nvPr/>
        </p:nvSpPr>
        <p:spPr>
          <a:xfrm>
            <a:off x="7699248" y="3159801"/>
            <a:ext cx="1143000" cy="257861"/>
          </a:xfrm>
          <a:prstGeom prst="roundRect">
            <a:avLst>
              <a:gd name="adj" fmla="val 16000"/>
            </a:avLst>
          </a:prstGeom>
          <a:solidFill>
            <a:srgbClr val="437DFF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8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상급종합병원</a:t>
            </a:r>
            <a:endParaRPr lang="ko-KR" sz="850"/>
          </a:p>
        </p:txBody>
      </p:sp>
      <p:sp>
        <p:nvSpPr>
          <p:cNvPr id="19" name="K w 1"/>
          <p:cNvSpPr txBox="1"/>
          <p:nvPr/>
        </p:nvSpPr>
        <p:spPr>
          <a:xfrm>
            <a:off x="8915400" y="3134015"/>
            <a:ext cx="2724912" cy="3094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서울대 · 서울아산 · 세브란스 · 삼성서울</a:t>
            </a:r>
            <a:endParaRPr lang="ko-KR" sz="900"/>
          </a:p>
        </p:txBody>
      </p:sp>
      <p:sp>
        <p:nvSpPr>
          <p:cNvPr id="20" name="K ch 2"/>
          <p:cNvSpPr txBox="1"/>
          <p:nvPr/>
        </p:nvSpPr>
        <p:spPr>
          <a:xfrm>
            <a:off x="7699248" y="3486424"/>
            <a:ext cx="1143000" cy="257861"/>
          </a:xfrm>
          <a:prstGeom prst="roundRect">
            <a:avLst>
              <a:gd name="adj" fmla="val 16000"/>
            </a:avLst>
          </a:prstGeom>
          <a:solidFill>
            <a:srgbClr val="437DFF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8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창상 유통</a:t>
            </a:r>
            <a:endParaRPr lang="ko-KR" sz="850"/>
          </a:p>
        </p:txBody>
      </p:sp>
      <p:sp>
        <p:nvSpPr>
          <p:cNvPr id="21" name="K w 2"/>
          <p:cNvSpPr txBox="1"/>
          <p:nvPr/>
        </p:nvSpPr>
        <p:spPr>
          <a:xfrm>
            <a:off x="8915400" y="3460638"/>
            <a:ext cx="2724912" cy="3094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CareCamp · 원메디슨 등</a:t>
            </a:r>
            <a:endParaRPr lang="ko-KR" sz="900"/>
          </a:p>
        </p:txBody>
      </p:sp>
      <p:sp>
        <p:nvSpPr>
          <p:cNvPr id="22" name="U card"/>
          <p:cNvSpPr/>
          <p:nvPr/>
        </p:nvSpPr>
        <p:spPr>
          <a:xfrm>
            <a:off x="7589520" y="3899002"/>
            <a:ext cx="4096512" cy="176204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23" name="U t"/>
          <p:cNvSpPr txBox="1"/>
          <p:nvPr/>
        </p:nvSpPr>
        <p:spPr>
          <a:xfrm>
            <a:off x="7699248" y="3941978"/>
            <a:ext cx="3886200" cy="2750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미국 — FDA 510(k) 후</a:t>
            </a:r>
            <a:endParaRPr lang="ko-KR" sz="1150"/>
          </a:p>
        </p:txBody>
      </p:sp>
      <p:sp>
        <p:nvSpPr>
          <p:cNvPr id="24" name="U g"/>
          <p:cNvSpPr txBox="1"/>
          <p:nvPr/>
        </p:nvSpPr>
        <p:spPr>
          <a:xfrm>
            <a:off x="7699248" y="4225625"/>
            <a:ext cx="3886200" cy="361005"/>
          </a:xfrm>
          <a:prstGeom prst="roundRect">
            <a:avLst>
              <a:gd name="adj" fmla="val 14000"/>
            </a:avLst>
          </a:prstGeom>
          <a:solidFill>
            <a:srgbClr val="E6E9F5"/>
          </a:solidFill>
          <a:ln>
            <a:noFill/>
          </a:ln>
        </p:spPr>
        <p:txBody>
          <a:bodyPr wrap="square" lIns="64008" tIns="18288" rIns="45720" bIns="18288" anchor="ctr">
            <a:noAutofit/>
          </a:bodyPr>
          <a:lstStyle/>
          <a:p>
            <a:pPr marL="0" indent="0" algn="l">
              <a:buNone/>
            </a:pPr>
            <a:r>
              <a:rPr lang="ko-KR" sz="8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관문  510(k) → 병원 formulary · GPO 계약 → 유통사 등록</a:t>
            </a:r>
            <a:endParaRPr lang="ko-KR" sz="850"/>
          </a:p>
        </p:txBody>
      </p:sp>
      <p:sp>
        <p:nvSpPr>
          <p:cNvPr id="25" name="U ch 0"/>
          <p:cNvSpPr txBox="1"/>
          <p:nvPr/>
        </p:nvSpPr>
        <p:spPr>
          <a:xfrm>
            <a:off x="7699248" y="4681179"/>
            <a:ext cx="1143000" cy="257861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8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ABA 화상센터</a:t>
            </a:r>
            <a:endParaRPr lang="ko-KR" sz="850"/>
          </a:p>
        </p:txBody>
      </p:sp>
      <p:sp>
        <p:nvSpPr>
          <p:cNvPr id="26" name="U w 0"/>
          <p:cNvSpPr txBox="1"/>
          <p:nvPr/>
        </p:nvSpPr>
        <p:spPr>
          <a:xfrm>
            <a:off x="8915400" y="4655393"/>
            <a:ext cx="2724912" cy="3094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MedStar · UNC Jaycee · Harborview · Vanderbilt</a:t>
            </a:r>
            <a:endParaRPr lang="ko-KR" sz="900"/>
          </a:p>
        </p:txBody>
      </p:sp>
      <p:sp>
        <p:nvSpPr>
          <p:cNvPr id="27" name="U ch 1"/>
          <p:cNvSpPr txBox="1"/>
          <p:nvPr/>
        </p:nvSpPr>
        <p:spPr>
          <a:xfrm>
            <a:off x="7699248" y="5007803"/>
            <a:ext cx="1143000" cy="257861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8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구매조직 (GPO)</a:t>
            </a:r>
            <a:endParaRPr lang="ko-KR" sz="850"/>
          </a:p>
        </p:txBody>
      </p:sp>
      <p:sp>
        <p:nvSpPr>
          <p:cNvPr id="28" name="U w 1"/>
          <p:cNvSpPr txBox="1"/>
          <p:nvPr/>
        </p:nvSpPr>
        <p:spPr>
          <a:xfrm>
            <a:off x="8915400" y="4982017"/>
            <a:ext cx="2724912" cy="3094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병원 · 외래 구매조직 · 창상 클리닉</a:t>
            </a:r>
            <a:endParaRPr lang="ko-KR" sz="900"/>
          </a:p>
        </p:txBody>
      </p:sp>
      <p:sp>
        <p:nvSpPr>
          <p:cNvPr id="29" name="U ch 2"/>
          <p:cNvSpPr txBox="1"/>
          <p:nvPr/>
        </p:nvSpPr>
        <p:spPr>
          <a:xfrm>
            <a:off x="7699248" y="5334427"/>
            <a:ext cx="1143000" cy="257861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8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전국 유통</a:t>
            </a:r>
            <a:endParaRPr lang="ko-KR" sz="850"/>
          </a:p>
        </p:txBody>
      </p:sp>
      <p:sp>
        <p:nvSpPr>
          <p:cNvPr id="30" name="U w 2"/>
          <p:cNvSpPr txBox="1"/>
          <p:nvPr/>
        </p:nvSpPr>
        <p:spPr>
          <a:xfrm>
            <a:off x="8915400" y="5308641"/>
            <a:ext cx="2724912" cy="3094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Medline · Cardinal Health · McKesson</a:t>
            </a:r>
            <a:endParaRPr lang="ko-KR" sz="900"/>
          </a:p>
        </p:txBody>
      </p:sp>
      <p:sp>
        <p:nvSpPr>
          <p:cNvPr id="31" name="Key box"/>
          <p:cNvSpPr/>
          <p:nvPr/>
        </p:nvSpPr>
        <p:spPr>
          <a:xfrm>
            <a:off x="502920" y="5807172"/>
            <a:ext cx="11183112" cy="429768"/>
          </a:xfrm>
          <a:prstGeom prst="roundRect">
            <a:avLst>
              <a:gd name="adj" fmla="val 12000"/>
            </a:avLst>
          </a:prstGeom>
          <a:solidFill>
            <a:srgbClr val="E6E9F5"/>
          </a:solidFill>
          <a:ln>
            <a:noFill/>
          </a:ln>
        </p:spPr>
      </p:sp>
      <p:sp>
        <p:nvSpPr>
          <p:cNvPr id="32" name="Key label"/>
          <p:cNvSpPr txBox="1"/>
          <p:nvPr/>
        </p:nvSpPr>
        <p:spPr>
          <a:xfrm>
            <a:off x="640080" y="5893125"/>
            <a:ext cx="685800" cy="257861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핵심</a:t>
            </a:r>
            <a:endParaRPr lang="ko-KR" sz="1000"/>
          </a:p>
        </p:txBody>
      </p:sp>
      <p:sp>
        <p:nvSpPr>
          <p:cNvPr id="33" name="Key text"/>
          <p:cNvSpPr txBox="1"/>
          <p:nvPr/>
        </p:nvSpPr>
        <p:spPr>
          <a:xfrm>
            <a:off x="1463040" y="5807172"/>
            <a:ext cx="1005840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지금: 해외규격인증 3차(~11.13) · FDA SBD 신청 → 2027 KMDF 공고 전 임상계획 준비 · 첫 매출처는 화상전문병원 연구자 임상</a:t>
            </a:r>
            <a:endParaRPr lang="ko-KR" sz="1250"/>
          </a:p>
        </p:txBody>
      </p:sp>
      <p:sp>
        <p:nvSpPr>
          <p:cNvPr id="34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해외규격인증획득 지원사업 3차 (KDI)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KMDF 2026 제1차 공고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3"/>
              </a:rPr>
              <a:t>KHIDI 사업공고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4"/>
              </a:rPr>
              <a:t>KHIDI 사용자 임상평가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5"/>
              </a:rPr>
              <a:t>FDA SBD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6"/>
              </a:rPr>
              <a:t>한림대 한강성심병원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7"/>
              </a:rPr>
              <a:t>MedStar Burn Center</a:t>
            </a:r>
            <a:endParaRPr lang="ko-KR" sz="750"/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301</ep:Words>
  <ep:PresentationFormat>와이드스크린</ep:PresentationFormat>
  <ep:Paragraphs>27</ep:Paragraphs>
  <ep:Slides>6</ep:Slides>
  <ep:Notes>2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ep:HeadingPairs>
  <ep:TitlesOfParts>
    <vt:vector size="7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2020-06-15T03:45:15.000</dcterms:created>
  <dc:creator>디오</dc:creator>
  <cp:lastModifiedBy>Andrew</cp:lastModifiedBy>
  <dcterms:modified xsi:type="dcterms:W3CDTF">2026-10-26T00:02:13.528</dcterms:modified>
  <cp:revision>355</cp:revision>
  <dc:title>PowerPoint 프레젠테이션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