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Default Extension="dat" ContentType="application/x-fontdata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embedTrueTypeFonts="1">
  <p:sldMasterIdLst>
    <p:sldMasterId id="2147483648" r:id="rId1"/>
  </p:sldMasterIdLst>
  <p:notesMasterIdLst>
    <p:notesMasterId r:id="rId2"/>
  </p:notesMasterIdLst>
  <p:sldIdLst>
    <p:sldId id="3000" r:id="rIdK101"/>
    <p:sldId id="3001" r:id="rIdK102"/>
    <p:sldId id="3002" r:id="rIdK103"/>
    <p:sldId id="3003" r:id="rIdK104"/>
    <p:sldId id="3004" r:id="rIdK105"/>
    <p:sldId id="3005" r:id="rIdK106"/>
    <p:sldId id="3006" r:id="rIdK107"/>
    <p:sldId id="3007" r:id="rIdK108"/>
    <p:sldId id="3008" r:id="rIdK109"/>
    <p:sldId id="3009" r:id="rIdK110"/>
    <p:sldId id="3010" r:id="rIdK111"/>
    <p:sldId id="3011" r:id="rIdK112"/>
    <p:sldId id="3012" r:id="rIdK113"/>
    <p:sldId id="3013" r:id="rIdK114"/>
    <p:sldId id="3014" r:id="rIdK115"/>
    <p:sldId id="3015" r:id="rIdK116"/>
    <p:sldId id="3016" r:id="rIdK117"/>
    <p:sldId id="3017" r:id="rIdK118"/>
    <p:sldId id="3018" r:id="rIdK119"/>
    <p:sldId id="3019" r:id="rIdK120"/>
  </p:sldIdLst>
  <p:sldSz cx="12192000" cy="6858000"/>
  <p:notesSz cx="6858000" cy="9144000"/>
  <p:embeddedFontLst>
    <p:embeddedFont>
      <p:font typeface="210 옴니고딕 020"/>
      <p:regular xmlns:r="http://schemas.openxmlformats.org/officeDocument/2006/relationships" r:id="R1e5fffe09f3f49a4"/>
    </p:embeddedFont>
    <p:embeddedFont>
      <p:font typeface="210 옴니고딕 030"/>
      <p:regular xmlns:r="http://schemas.openxmlformats.org/officeDocument/2006/relationships" r:id="Ra8c2f2df4a90446f"/>
    </p:embeddedFont>
    <p:embeddedFont>
      <p:font typeface="210 옴니고딕 040"/>
      <p:regular xmlns:r="http://schemas.openxmlformats.org/officeDocument/2006/relationships" r:id="R02058ac2fcc144fc"/>
    </p:embeddedFont>
    <p:embeddedFont>
      <p:font typeface="210 옴니고딕 050"/>
      <p:regular xmlns:r="http://schemas.openxmlformats.org/officeDocument/2006/relationships" r:id="Rd0d00f9c35dc4f5b"/>
    </p:embeddedFont>
    <p:embeddedFont>
      <p:font typeface="210 OmniGothic 040"/>
      <p:regular xmlns:r="http://schemas.openxmlformats.org/officeDocument/2006/relationships" r:id="Ra73f5305c6084fd9"/>
    </p:embeddedFont>
    <p:embeddedFont>
      <p:font typeface="맑은 고딕"/>
      <p:regular xmlns:r="http://schemas.openxmlformats.org/officeDocument/2006/relationships" r:id="Ra1b10879fa654794"/>
      <p:bold xmlns:r="http://schemas.openxmlformats.org/officeDocument/2006/relationships" r:id="Rccb44b9ba71f4e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59CA012A-77AD-5A40-8EB7-D77B477672A3}" name="기본 구역">
          <p14:sldIdLst>
            <p14:sldId id="434"/>
            <p14:sldId id="436"/>
            <p14:sldId id="443"/>
            <p14:sldId id="356"/>
            <p14:sldId id="1548"/>
            <p14:sldId id="1549"/>
          </p14:sldIdLst>
        </p14:section>
        <p14:section id="{31663534-2F4F-9A49-A4F8-5ECC59E8F6AD}" name="제목 없는 구역">
          <p14:sldIdLst/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483" autoAdjust="0"/>
    <p:restoredTop sz="95205" autoAdjust="0"/>
  </p:normalViewPr>
  <p:slideViewPr>
    <p:cSldViewPr snapToGrid="0">
      <p:cViewPr varScale="1">
        <p:scale>
          <a:sx n="100" d="100"/>
          <a:sy n="100" d="100"/>
        </p:scale>
        <p:origin x="936" y="192"/>
      </p:cViewPr>
      <p:guideLst>
        <p:guide orient="horz" pos="2159"/>
        <p:guide orient="horz" pos="227"/>
        <p:guide pos="3816"/>
        <p:guide pos="233"/>
        <p:guide pos="75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K101" Type="http://schemas.openxmlformats.org/officeDocument/2006/relationships/slide" Target="slides/slide101.xml"/><Relationship Id="rIdK102" Type="http://schemas.openxmlformats.org/officeDocument/2006/relationships/slide" Target="slides/slide102.xml"/><Relationship Id="rIdK103" Type="http://schemas.openxmlformats.org/officeDocument/2006/relationships/slide" Target="slides/slide103.xml"/><Relationship Id="rIdK104" Type="http://schemas.openxmlformats.org/officeDocument/2006/relationships/slide" Target="slides/slide104.xml"/><Relationship Id="rIdK105" Type="http://schemas.openxmlformats.org/officeDocument/2006/relationships/slide" Target="slides/slide105.xml"/><Relationship Id="rIdK106" Type="http://schemas.openxmlformats.org/officeDocument/2006/relationships/slide" Target="slides/slide106.xml"/><Relationship Id="rIdK107" Type="http://schemas.openxmlformats.org/officeDocument/2006/relationships/slide" Target="slides/slide107.xml"/><Relationship Id="rIdK108" Type="http://schemas.openxmlformats.org/officeDocument/2006/relationships/slide" Target="slides/slide108.xml"/><Relationship Id="rIdK109" Type="http://schemas.openxmlformats.org/officeDocument/2006/relationships/slide" Target="slides/slide109.xml"/><Relationship Id="rIdK110" Type="http://schemas.openxmlformats.org/officeDocument/2006/relationships/slide" Target="slides/slide110.xml"/><Relationship Id="rIdK111" Type="http://schemas.openxmlformats.org/officeDocument/2006/relationships/slide" Target="slides/slide111.xml"/><Relationship Id="rIdK112" Type="http://schemas.openxmlformats.org/officeDocument/2006/relationships/slide" Target="slides/slide112.xml"/><Relationship Id="rIdK113" Type="http://schemas.openxmlformats.org/officeDocument/2006/relationships/slide" Target="slides/slide113.xml"/><Relationship Id="rIdK114" Type="http://schemas.openxmlformats.org/officeDocument/2006/relationships/slide" Target="slides/slide114.xml"/><Relationship Id="rIdK115" Type="http://schemas.openxmlformats.org/officeDocument/2006/relationships/slide" Target="slides/slide115.xml"/><Relationship Id="rIdK116" Type="http://schemas.openxmlformats.org/officeDocument/2006/relationships/slide" Target="slides/slide116.xml"/><Relationship Id="rIdK117" Type="http://schemas.openxmlformats.org/officeDocument/2006/relationships/slide" Target="slides/slide117.xml"/><Relationship Id="rIdK118" Type="http://schemas.openxmlformats.org/officeDocument/2006/relationships/slide" Target="slides/slide118.xml"/><Relationship Id="rIdK119" Type="http://schemas.openxmlformats.org/officeDocument/2006/relationships/slide" Target="slides/slide119.xml"/><Relationship Id="rIdK120" Type="http://schemas.openxmlformats.org/officeDocument/2006/relationships/slide" Target="slides/slide120.xml"/><Relationship Id="R1e5fffe09f3f49a4" Type="http://schemas.openxmlformats.org/officeDocument/2006/relationships/font" Target="fonts/emb_font.dat"/><Relationship Id="Ra8c2f2df4a90446f" Type="http://schemas.openxmlformats.org/officeDocument/2006/relationships/font" Target="fonts/emb_font2.dat"/><Relationship Id="R02058ac2fcc144fc" Type="http://schemas.openxmlformats.org/officeDocument/2006/relationships/font" Target="fonts/emb_font3.dat"/><Relationship Id="Rd0d00f9c35dc4f5b" Type="http://schemas.openxmlformats.org/officeDocument/2006/relationships/font" Target="fonts/emb_font4.dat"/><Relationship Id="Ra73f5305c6084fd9" Type="http://schemas.openxmlformats.org/officeDocument/2006/relationships/font" Target="fonts/emb_font5.dat"/><Relationship Id="Ra1b10879fa654794" Type="http://schemas.openxmlformats.org/officeDocument/2006/relationships/font" Target="fonts/emb_font6.dat"/><Relationship Id="Rccb44b9ba71f4e35" Type="http://schemas.openxmlformats.org/officeDocument/2006/relationships/font" Target="fonts/emb_font7.dat"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77F78A2-D0E4-4C87-8826-BC21370A6572}" type="datetime1">
              <a:rPr lang="ko-KR" altLang="en-US" smtClean="0"/>
              <a:t>2026. 8. 14.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7EAFD98C-9F44-49EF-89EE-1B6D232A8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050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8BF42-5368-4EFB-81C9-CF1D0E062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AFFA5F-EECD-4C6E-A1C3-B83E74C0B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64B08-9214-4817-AD1C-9F072A0B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0898DA-E206-477C-A334-319F9D5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0E7416-5109-430E-89BC-7EC6A875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8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5E06C-B113-40E1-9AFB-0959FFBD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DD817-27E8-49DE-A714-F489B1E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1C116C-322C-4498-83A8-44F16395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ED3FDA-B5BB-4C61-9622-BE2AA6EB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2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33304A-4057-4776-9EBA-22FFE118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4D3F9E-C939-47AF-9AA5-5C4A7D2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A439A-0671-4218-8FCF-741C6168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92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BD9E866-B47E-4509-B987-895EC22EAE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4245C-E569-4F2B-B956-0AEB209D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D1FF13-7F19-4F65-9D7B-3094F99E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A5DD03-3445-4020-B0CF-CE53E69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90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49E2B7C-4C5B-484E-9620-93D8C27B09D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210 옴니고딕 030" panose="02020603020101020101" pitchFamily="18" charset="-127"/>
              <a:ea typeface="210 옴니고딕 030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FBCC8C-20ED-4735-88EB-F7ED820C35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67"/>
          <a:stretch/>
        </p:blipFill>
        <p:spPr>
          <a:xfrm>
            <a:off x="0" y="0"/>
            <a:ext cx="12192000" cy="1188720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95ECB3-F11B-44BE-860F-64D67C0A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CA864A-5E7B-4F62-801F-3FC8603B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50F69C-2C75-4EC2-9C04-4448073C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0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22AF8A-A0BF-4F6B-83E9-E7F71671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8B36F0-131D-4D01-A3BB-F3B12446C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0A049-E795-4479-8A01-BA5595459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61A66-73D4-40E6-8FCC-F2540C8CB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4710F-FF6A-4FA3-BE0B-4403C3E1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96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6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www.corvia-cro.com/" TargetMode="Externa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sec.gov/Archives/edgar/data/845982/000110465926028258/snn-20251231x20f.htm" TargetMode="External"/><Relationship Id="rL2" Type="http://schemas.openxmlformats.org/officeDocument/2006/relationships/hyperlink" Target="https://www.marketsandmarkets.com/ResearchInsight/wound-dressings-market.asp" TargetMode="Externa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marketsandmarkets.com/Market-Reports/wound-dressings-market-123903496.html" TargetMode="External"/><Relationship Id="rL2" Type="http://schemas.openxmlformats.org/officeDocument/2006/relationships/hyperlink" Target="https://www.marketsandmarkets.com/Market-Reports/geography/wound-dressings-market/US" TargetMode="External"/><Relationship Id="rL3" Type="http://schemas.openxmlformats.org/officeDocument/2006/relationships/hyperlink" Target="https://www.grandviewresearch.com/industry-analysis/advanced-wound-care-dressing-market" TargetMode="External"/><Relationship Id="rL4" Type="http://schemas.openxmlformats.org/officeDocument/2006/relationships/hyperlink" Target="https://kind.krx.co.kr/external/2025/03/07/001038/20250307002541/00591.htm" TargetMode="Externa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dmed.co.kr/services/" TargetMode="External"/><Relationship Id="rL2" Type="http://schemas.openxmlformats.org/officeDocument/2006/relationships/hyperlink" Target="https://www.venturesquare.net/952837" TargetMode="External"/><Relationship Id="rL3" Type="http://schemas.openxmlformats.org/officeDocument/2006/relationships/hyperlink" Target="https://genewel.com/kr/sub/products/prod.php?idx=7&amp;mode=view&amp;s_align=0&amp;s_cate=101011" TargetMode="External"/><Relationship Id="rL4" Type="http://schemas.openxmlformats.org/officeDocument/2006/relationships/hyperlink" Target="https://www.onemedison.com/bbs/board.php?bo_table=product&amp;wr_id=29" TargetMode="External"/><Relationship Id="rL5" Type="http://schemas.openxmlformats.org/officeDocument/2006/relationships/hyperlink" Target="https://wonbiogen.co.kr/kor/product/detail.html?f_uid=1" TargetMode="External"/><Relationship Id="rL6" Type="http://schemas.openxmlformats.org/officeDocument/2006/relationships/hyperlink" Target="https://m.dailypharm.com/user/news/232410" TargetMode="External"/><Relationship Id="rL7" Type="http://schemas.openxmlformats.org/officeDocument/2006/relationships/hyperlink" Target="https://www.wonbiogen.co.kr/kor/product/detail.html?f_ref=3&amp;f_uid=78" TargetMode="External"/><Relationship Id="rL8" Type="http://schemas.openxmlformats.org/officeDocument/2006/relationships/hyperlink" Target="https://dailypharm.com/user/news/22779" TargetMode="External"/><Relationship Id="rL9" Type="http://schemas.openxmlformats.org/officeDocument/2006/relationships/hyperlink" Target="https://dailypharm.com/user/news/51814" TargetMode="External"/><Relationship Id="rL10" Type="http://schemas.openxmlformats.org/officeDocument/2006/relationships/hyperlink" Target="https://medigatenews.com/news/840685051" TargetMode="Externa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nhsgrampian.org/globalassets/foidocument/foi-public-documents1---all-documents/WCF_IntrasiteGel.pdf" TargetMode="External"/><Relationship Id="rL2" Type="http://schemas.openxmlformats.org/officeDocument/2006/relationships/hyperlink" Target="https://prod-multisite-us.coloplast.com/coloplast/wound-care/purilon-gel" TargetMode="External"/><Relationship Id="rL3" Type="http://schemas.openxmlformats.org/officeDocument/2006/relationships/hyperlink" Target="https://www.solventum.com/en-nz/home/f/b5005265144/" TargetMode="External"/><Relationship Id="rL4" Type="http://schemas.openxmlformats.org/officeDocument/2006/relationships/hyperlink" Target="https://www.accessdata.fda.gov/cdrh_docs/pdf18/K182010.pdf" TargetMode="External"/><Relationship Id="rL5" Type="http://schemas.openxmlformats.org/officeDocument/2006/relationships/hyperlink" Target="https://accessgudid.nlm.nih.gov/devices/00850072068879" TargetMode="External"/><Relationship Id="rL6" Type="http://schemas.openxmlformats.org/officeDocument/2006/relationships/hyperlink" Target="https://www.solventum.com/en-us/home/f/b5005265077/" TargetMode="External"/><Relationship Id="rL7" Type="http://schemas.openxmlformats.org/officeDocument/2006/relationships/hyperlink" Target="https://510k.innolitics.com/device/K073251" TargetMode="External"/><Relationship Id="rL8" Type="http://schemas.openxmlformats.org/officeDocument/2006/relationships/hyperlink" Target="https://pmc.ncbi.nlm.nih.gov/articles/PMC5533852/" TargetMode="External"/><Relationship Id="rL9" Type="http://schemas.openxmlformats.org/officeDocument/2006/relationships/hyperlink" Target="https://www.lohmann-rauscher.com/en/products/wound-care/modern-wound-care/suprasorb-a/" TargetMode="External"/><Relationship Id="rL10" Type="http://schemas.openxmlformats.org/officeDocument/2006/relationships/hyperlink" Target="https://www.molnlycke.com/en-gb/products/wound-care/antimicrobial-dressings/mepilex-ag/" TargetMode="External"/><Relationship Id="rL11" Type="http://schemas.openxmlformats.org/officeDocument/2006/relationships/hyperlink" Target="https://www.convatec.com/advanced-wound-care/aquacel-family-of-dressings/" TargetMode="External"/><Relationship Id="rL12" Type="http://schemas.openxmlformats.org/officeDocument/2006/relationships/hyperlink" Target="https://www.smith-nephew.com/en/news/2018/11/27/20181127-study-demonstrates-acticoat-helps-achieve-better-clinical-outcomes" TargetMode="Externa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1" Type="http://schemas.openxmlformats.org/officeDocument/2006/relationships/image" Target="/ppt/media/cmp_kerastat_gel.png"/><Relationship Id="rI2" Type="http://schemas.openxmlformats.org/officeDocument/2006/relationships/image" Target="/ppt/media/image22.jpeg"/><Relationship Id="rI4" Type="http://schemas.openxmlformats.org/officeDocument/2006/relationships/image" Target="/ppt/media/cmp_price_benchmark.png"/><Relationship Id="rI5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cdrh_docs/pdf19/K192386.pdf" TargetMode="External"/><Relationship Id="rL3" Type="http://schemas.openxmlformats.org/officeDocument/2006/relationships/hyperlink" Target="https://clinicaltrials.gov/study/NCT03564795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www.keranetics.com/aspn-pharmacies-becomes-primary-distributor-of-kerastat-cream/" TargetMode="External"/><Relationship Id="rL6" Type="http://schemas.openxmlformats.org/officeDocument/2006/relationships/hyperlink" Target="https://patents.google.com/patent/US6270793B1/en" TargetMode="External"/><Relationship Id="rL7" Type="http://schemas.openxmlformats.org/officeDocument/2006/relationships/hyperlink" Target="https://easyrx.com/medications/kerastat-keratin/" TargetMode="External"/><Relationship Id="rL8" Type="http://schemas.openxmlformats.org/officeDocument/2006/relationships/hyperlink" Target="https://www.firstindustrialsupplies.com/kerastat-gel-5ml-tube-38-175/" TargetMode="Externa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woundsource.com/" TargetMode="External"/><Relationship Id="rL2" Type="http://schemas.openxmlformats.org/officeDocument/2006/relationships/hyperlink" Target="https://genewel.com/kr/sub/products/woundcare.php" TargetMode="Externa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pubmed.ncbi.nlm.nih.gov/24631248/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onlinelibrary.wiley.com/doi/10.1155/2016/1803912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pubmed.ncbi.nlm.nih.gov/39363952/" TargetMode="External"/><Relationship Id="rL6" Type="http://schemas.openxmlformats.org/officeDocument/2006/relationships/hyperlink" Target="https://clinicaltrials.gov/study/NCT03564795" TargetMode="External"/><Relationship Id="rL7" Type="http://schemas.openxmlformats.org/officeDocument/2006/relationships/hyperlink" Target="https://onlinelibrary.wiley.com/doi/full/10.1111/iwj.70029" TargetMode="Externa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1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www.biofriends.co.kr/" TargetMode="Externa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law.go.kr/admRulInfoP.do?admRulSeq=2100000275656&amp;chrClsCd=010202&amp;urlMode=admRulRvsInfoR" TargetMode="External"/><Relationship Id="rL2" Type="http://schemas.openxmlformats.org/officeDocument/2006/relationships/hyperlink" Target="https://www.law.go.kr/LSW/lsInfoP.do?ancYnChk=0&amp;chrClsCd=010202&amp;efYd=20260701&amp;lsiSeq=287877&amp;urlMode=lsInfoP" TargetMode="Externa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clinicaltrials.gov/study/NCT03564795" TargetMode="External"/><Relationship Id="rL2" Type="http://schemas.openxmlformats.org/officeDocument/2006/relationships/hyperlink" Target="https://cdn.clinicaltrials.gov/large-docs/95/NCT03564795/Prot_SAP_001.pdf" TargetMode="Externa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scripts/cdrh/cfdocs/cfpmn/pmn.cfm?ID=K162759" TargetMode="External"/><Relationship Id="rL3" Type="http://schemas.openxmlformats.org/officeDocument/2006/relationships/hyperlink" Target="https://www.ecfr.gov/current/title-21/chapter-I/subchapter-H/part-812/subpart-B/section-812.28" TargetMode="External"/><Relationship Id="rL4" Type="http://schemas.openxmlformats.org/officeDocument/2006/relationships/hyperlink" Target="https://www.fda.gov/regulatory-information/search-fda-guidance-documents/requests-feedback-and-meetings-medical-device-submissions-q-submission-program" TargetMode="Externa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corvia-cro.com/" TargetMode="External"/><Relationship Id="rL2" Type="http://schemas.openxmlformats.org/officeDocument/2006/relationships/hyperlink" Target="https://www.sat.gob.mx/" TargetMode="External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www.raps.org/resource/fda-unveils-fy-2027-user-fee-rates.html" TargetMode="External"/><Relationship Id="rL3" Type="http://schemas.openxmlformats.org/officeDocument/2006/relationships/hyperlink" Target="https://www.fda.gov/industry/fda-user-fee-programs/medical-device-user-fee-small-business-qualification-and-determination" TargetMode="External"/><Relationship Id="rL4" Type="http://schemas.openxmlformats.org/officeDocument/2006/relationships/hyperlink" Target="https://www.corvia-cro.com/" TargetMode="External"/><Relationship Id="rL5" Type="http://schemas.openxmlformats.org/officeDocument/2006/relationships/hyperlink" Target="https://med.virginia.edu/clinicalresearch/fees/" TargetMode="Externa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irb.hallym.or.kr/hgirb/ptp004.jsp" TargetMode="External"/><Relationship Id="rL2" Type="http://schemas.openxmlformats.org/officeDocument/2006/relationships/hyperlink" Target="https://irb.hallym.or.kr/hgirb/ptp008.jsp" TargetMode="External"/><Relationship Id="rL3" Type="http://schemas.openxmlformats.org/officeDocument/2006/relationships/hyperlink" Target="https://hrpp.snuh.org/hrpp/content.do?key=2608270001" TargetMode="External"/><Relationship Id="rL4" Type="http://schemas.openxmlformats.org/officeDocument/2006/relationships/hyperlink" Target="https://ocr.yuhs.ac/HPC/Sinchon/IRB/IrbFee" TargetMode="External"/><Relationship Id="rL5" Type="http://schemas.openxmlformats.org/officeDocument/2006/relationships/hyperlink" Target="https://kind.krx.co.kr/external/2026/05/14/000371/20260514000800/11013.htm" TargetMode="Externa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corvia-cro.com/" TargetMode="External"/><Relationship Id="rL2" Type="http://schemas.openxmlformats.org/officeDocument/2006/relationships/hyperlink" Target="https://research.cuanschutz.edu/cros/clinical-research-support-team" TargetMode="External"/><Relationship Id="rL3" Type="http://schemas.openxmlformats.org/officeDocument/2006/relationships/hyperlink" Target="https://med.virginia.edu/clinicalresearch/fees/" TargetMode="External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clarepartners.co.kr/guides/2026-09-25-fees-and-statutory-periods/" TargetMode="External"/><Relationship Id="rL3" Type="http://schemas.openxmlformats.org/officeDocument/2006/relationships/hyperlink" Target="https://www.sedaily.com/article/14047847" TargetMode="External"/><Relationship Id="rL4" Type="http://schemas.openxmlformats.org/officeDocument/2006/relationships/hyperlink" Target="https://www.kmdf.org/official" TargetMode="Externa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eiec.kdi.re.kr/policy/materialView.do?num=288065" TargetMode="External"/><Relationship Id="rL2" Type="http://schemas.openxmlformats.org/officeDocument/2006/relationships/hyperlink" Target="https://www.kmdf.org/official/view/id/4090" TargetMode="External"/><Relationship Id="rL3" Type="http://schemas.openxmlformats.org/officeDocument/2006/relationships/hyperlink" Target="https://www.khidi.or.kr/mdtis/bizPbanc/bizPbancList?menuId=MENU03471" TargetMode="External"/><Relationship Id="rL4" Type="http://schemas.openxmlformats.org/officeDocument/2006/relationships/hyperlink" Target="https://www.khidi.or.kr/board/view?linkId=48938749&amp;menuId=MENU01108" TargetMode="External"/><Relationship Id="rL5" Type="http://schemas.openxmlformats.org/officeDocument/2006/relationships/hyperlink" Target="https://www.fda.gov/industry/fda-user-fee-programs/medical-device-user-fee-small-business-qualification-and-determination" TargetMode="External"/><Relationship Id="rL6" Type="http://schemas.openxmlformats.org/officeDocument/2006/relationships/hyperlink" Target="https://m.boannews.com/html/detail.html?idx=120808" TargetMode="External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hangang.hallym.or.kr/index.asp" TargetMode="External"/><Relationship Id="rL2" Type="http://schemas.openxmlformats.org/officeDocument/2006/relationships/hyperlink" Target="https://ctc.bestian.kr/about/greeting" TargetMode="External"/><Relationship Id="rL3" Type="http://schemas.openxmlformats.org/officeDocument/2006/relationships/hyperlink" Target="https://www.medstarhealth.org/services/burn-center" TargetMode="External"/><Relationship Id="rL4" Type="http://schemas.openxmlformats.org/officeDocument/2006/relationships/hyperlink" Target="https://news.vumc.org/2025/05/29/vanderbilt-burn-center-earns-american-burn-association-verification-as-devoted-champion-phyllis-streiff-reaches-41-year-milestone/" TargetMode="External"/><Relationship Id="rL5" Type="http://schemas.openxmlformats.org/officeDocument/2006/relationships/hyperlink" Target="https://www.keranetics.com/aspn-pharmacies-becomes-primary-distributor-of-kerastat-cream/" TargetMode="Externa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govtribe.com/file/government-file/t0106-price-line-103-2024-combat-safeguard-medical-price-list-dot-xlsx-1" TargetMode="External"/><Relationship Id="rL2" Type="http://schemas.openxmlformats.org/officeDocument/2006/relationships/hyperlink" Target="https://www.keranetics.com/products/kerastat-gel/" TargetMode="External"/></Relationships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요청사항별 결론 — 한 장 요약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6개 요청에 대한 답과 근거 쪽수 · 공개자료 기준 (병원·CRO 실견적, KheAl 원가·판매가는 미확정)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15</a:t>
            </a:r>
            <a:endParaRPr lang="ko-KR" sz="800"/>
          </a:p>
        </p:txBody>
      </p:sp>
      <p:graphicFrame>
        <p:nvGraphicFramePr>
          <p:cNvPr id="8" name="Summary table"/>
          <p:cNvGraphicFramePr>
            <a:graphicFrameLocks noGrp="1"/>
          </p:cNvGraphicFramePr>
          <p:nvPr/>
        </p:nvGraphicFramePr>
        <p:xfrm>
          <a:off x="502920" y="1664208"/>
          <a:ext cx="11183112" cy="405701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8257032"/>
                <a:gridCol w="914400"/>
              </a:tblGrid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요청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결론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쪽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시장조사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창상피복재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글로벌 $11.6B(2025) → $15.9B(2030). 국내는 폼 드레싱 68.8% 중심 → KheAl은 ‘진물 적은 2도 화상용 바르는 겔’ 틈새부터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16–17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· 해외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11개 · 해외 13개 비교. 국내 케라틴 창상피복재는 확인되지 않음 → 직접 벤치마크는 KeraStat Gel (FDA 510(k))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18–20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신청 가능 과제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임상 · 인허가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지금 접수 중: 해외규격인증획득 지원사업 3차(~11.13, 의료기기 최대 1.5억). 2027: 범부처 첨단 의료기기 R&amp;D 임상 · KHIDI 글로벌 규제 대응. 허가 후: 사용자 임상평가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32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예상 매출처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식약처 · FDA 허가 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국내: 화상전문병원 · 상급종합병원 · 창상 유통사 (급여 등재가 관문). 미국: ABA 화상센터 · GPO · 전국 유통사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33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추가 비용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멕시코 견적 기반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KeraStat과 같은 510(k): FDA 고정비 $20,948 (0.29억, 중소기업 감면 시). 멕시코 임상을 보조근거로 쓰면 VAT 포함 +$191,774 (2.68억)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26–28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 임상비 · 5억 사용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공개자료 계획 모델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임상 5.00억 (성인 60명 · 2기관). 5억 사용 3안 비교 → 제안: 미국 510(k) 먼저 + 국내 임상은 정부과제 매칭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29–31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CORVIA COR-COT-25-013 (견적서 원본)</a:t>
            </a:r>
            <a:endParaRPr lang="ko-KR" sz="75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글로벌 경쟁구도 — 상위 4개사 44%, 나머지 56%는 분산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대형사는 폼·은·흡수 드레싱 중심 → 케라틴 복합 겔은 별도 틈새로 공략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16</a:t>
            </a:r>
            <a:endParaRPr lang="ko-KR" sz="800"/>
          </a:p>
        </p:txBody>
      </p:sp>
      <p:sp>
        <p:nvSpPr>
          <p:cNvPr id="8" name="Share card"/>
          <p:cNvSpPr/>
          <p:nvPr/>
        </p:nvSpPr>
        <p:spPr>
          <a:xfrm>
            <a:off x="502920" y="1664208"/>
            <a:ext cx="681228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Share title"/>
          <p:cNvSpPr txBox="1"/>
          <p:nvPr/>
        </p:nvSpPr>
        <p:spPr>
          <a:xfrm>
            <a:off x="731520" y="1767352"/>
            <a:ext cx="64008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Advanced Wound Management 회사별 점유율 (2025 · 시장 $13.1B)</a:t>
            </a:r>
            <a:endParaRPr lang="ko-KR" sz="1200"/>
          </a:p>
        </p:txBody>
      </p:sp>
      <p:sp>
        <p:nvSpPr>
          <p:cNvPr id="10" name="Top4 bar"/>
          <p:cNvSpPr/>
          <p:nvPr/>
        </p:nvSpPr>
        <p:spPr>
          <a:xfrm>
            <a:off x="731520" y="2162739"/>
            <a:ext cx="2796235" cy="532912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Rest bar"/>
          <p:cNvSpPr/>
          <p:nvPr/>
        </p:nvSpPr>
        <p:spPr>
          <a:xfrm>
            <a:off x="3527755" y="2162739"/>
            <a:ext cx="3558845" cy="532912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12" name="Top4 label"/>
          <p:cNvSpPr txBox="1"/>
          <p:nvPr/>
        </p:nvSpPr>
        <p:spPr>
          <a:xfrm>
            <a:off x="731520" y="2162739"/>
            <a:ext cx="2796235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상위 4개사 44%</a:t>
            </a:r>
            <a:endParaRPr lang="ko-KR" sz="1400"/>
          </a:p>
        </p:txBody>
      </p:sp>
      <p:sp>
        <p:nvSpPr>
          <p:cNvPr id="13" name="Rest label"/>
          <p:cNvSpPr txBox="1"/>
          <p:nvPr/>
        </p:nvSpPr>
        <p:spPr>
          <a:xfrm>
            <a:off x="3527755" y="2162739"/>
            <a:ext cx="3558845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기타 56%</a:t>
            </a:r>
            <a:endParaRPr lang="ko-KR" sz="1400"/>
          </a:p>
        </p:txBody>
      </p:sp>
      <p:sp>
        <p:nvSpPr>
          <p:cNvPr id="14" name="Co 0"/>
          <p:cNvSpPr txBox="1"/>
          <p:nvPr/>
        </p:nvSpPr>
        <p:spPr>
          <a:xfrm>
            <a:off x="731520" y="2953512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Smith+Nephew</a:t>
            </a:r>
            <a:endParaRPr lang="ko-KR" sz="1200"/>
          </a:p>
        </p:txBody>
      </p:sp>
      <p:sp>
        <p:nvSpPr>
          <p:cNvPr id="15" name="Track 0"/>
          <p:cNvSpPr/>
          <p:nvPr/>
        </p:nvSpPr>
        <p:spPr>
          <a:xfrm>
            <a:off x="2331720" y="3022275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16" name="Bar 0"/>
          <p:cNvSpPr/>
          <p:nvPr/>
        </p:nvSpPr>
        <p:spPr>
          <a:xfrm>
            <a:off x="2331720" y="3022275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437DFF"/>
          </a:solidFill>
          <a:ln>
            <a:noFill/>
          </a:ln>
        </p:spPr>
      </p:sp>
      <p:sp>
        <p:nvSpPr>
          <p:cNvPr id="17" name="Val 0"/>
          <p:cNvSpPr txBox="1"/>
          <p:nvPr/>
        </p:nvSpPr>
        <p:spPr>
          <a:xfrm>
            <a:off x="6400800" y="2953512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500"/>
          </a:p>
        </p:txBody>
      </p:sp>
      <p:sp>
        <p:nvSpPr>
          <p:cNvPr id="18" name="Co 1"/>
          <p:cNvSpPr txBox="1"/>
          <p:nvPr/>
        </p:nvSpPr>
        <p:spPr>
          <a:xfrm>
            <a:off x="731520" y="3555187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Solventum</a:t>
            </a:r>
            <a:endParaRPr lang="ko-KR" sz="1200"/>
          </a:p>
        </p:txBody>
      </p:sp>
      <p:sp>
        <p:nvSpPr>
          <p:cNvPr id="19" name="Track 1"/>
          <p:cNvSpPr/>
          <p:nvPr/>
        </p:nvSpPr>
        <p:spPr>
          <a:xfrm>
            <a:off x="2331720" y="3623950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0" name="Bar 1"/>
          <p:cNvSpPr/>
          <p:nvPr/>
        </p:nvSpPr>
        <p:spPr>
          <a:xfrm>
            <a:off x="2331720" y="3623950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102290"/>
          </a:solidFill>
          <a:ln>
            <a:noFill/>
          </a:ln>
        </p:spPr>
      </p:sp>
      <p:sp>
        <p:nvSpPr>
          <p:cNvPr id="21" name="Val 1"/>
          <p:cNvSpPr txBox="1"/>
          <p:nvPr/>
        </p:nvSpPr>
        <p:spPr>
          <a:xfrm>
            <a:off x="6400800" y="3555187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500"/>
          </a:p>
        </p:txBody>
      </p:sp>
      <p:sp>
        <p:nvSpPr>
          <p:cNvPr id="22" name="Co 2"/>
          <p:cNvSpPr txBox="1"/>
          <p:nvPr/>
        </p:nvSpPr>
        <p:spPr>
          <a:xfrm>
            <a:off x="731520" y="4156862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Mölnlycke</a:t>
            </a:r>
            <a:endParaRPr lang="ko-KR" sz="1200"/>
          </a:p>
        </p:txBody>
      </p:sp>
      <p:sp>
        <p:nvSpPr>
          <p:cNvPr id="23" name="Track 2"/>
          <p:cNvSpPr/>
          <p:nvPr/>
        </p:nvSpPr>
        <p:spPr>
          <a:xfrm>
            <a:off x="2331720" y="4225625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4" name="Bar 2"/>
          <p:cNvSpPr/>
          <p:nvPr/>
        </p:nvSpPr>
        <p:spPr>
          <a:xfrm>
            <a:off x="2331720" y="4225625"/>
            <a:ext cx="2873829" cy="257861"/>
          </a:xfrm>
          <a:prstGeom prst="roundRect">
            <a:avLst>
              <a:gd name="adj" fmla="val 50000"/>
            </a:avLst>
          </a:prstGeom>
          <a:solidFill>
            <a:srgbClr val="6F8BD8"/>
          </a:solidFill>
          <a:ln>
            <a:noFill/>
          </a:ln>
        </p:spPr>
      </p:sp>
      <p:sp>
        <p:nvSpPr>
          <p:cNvPr id="25" name="Val 2"/>
          <p:cNvSpPr txBox="1"/>
          <p:nvPr/>
        </p:nvSpPr>
        <p:spPr>
          <a:xfrm>
            <a:off x="6400800" y="4156862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10%</a:t>
            </a:r>
            <a:endParaRPr lang="ko-KR" sz="1500"/>
          </a:p>
        </p:txBody>
      </p:sp>
      <p:sp>
        <p:nvSpPr>
          <p:cNvPr id="26" name="Co 3"/>
          <p:cNvSpPr txBox="1"/>
          <p:nvPr/>
        </p:nvSpPr>
        <p:spPr>
          <a:xfrm>
            <a:off x="731520" y="4758538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ConvaTec</a:t>
            </a:r>
            <a:endParaRPr lang="ko-KR" sz="1200"/>
          </a:p>
        </p:txBody>
      </p:sp>
      <p:sp>
        <p:nvSpPr>
          <p:cNvPr id="27" name="Track 3"/>
          <p:cNvSpPr/>
          <p:nvPr/>
        </p:nvSpPr>
        <p:spPr>
          <a:xfrm>
            <a:off x="2331720" y="4827300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8" name="Bar 3"/>
          <p:cNvSpPr/>
          <p:nvPr/>
        </p:nvSpPr>
        <p:spPr>
          <a:xfrm>
            <a:off x="2331720" y="4827300"/>
            <a:ext cx="1724297" cy="257861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</p:sp>
      <p:sp>
        <p:nvSpPr>
          <p:cNvPr id="29" name="Val 3"/>
          <p:cNvSpPr txBox="1"/>
          <p:nvPr/>
        </p:nvSpPr>
        <p:spPr>
          <a:xfrm>
            <a:off x="6400800" y="4758538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6%</a:t>
            </a:r>
            <a:endParaRPr lang="ko-KR" sz="1500"/>
          </a:p>
        </p:txBody>
      </p:sp>
      <p:sp>
        <p:nvSpPr>
          <p:cNvPr id="30" name="Share note"/>
          <p:cNvSpPr txBox="1"/>
          <p:nvPr/>
        </p:nvSpPr>
        <p:spPr>
          <a:xfrm>
            <a:off x="731520" y="5343022"/>
            <a:ext cx="64008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회사 전체 점유율 — Mepilex·AQUACEL·KeraStat 등 개별 제품 점유율이 아님</a:t>
            </a:r>
            <a:endParaRPr lang="ko-KR" sz="950"/>
          </a:p>
        </p:txBody>
      </p:sp>
      <p:sp>
        <p:nvSpPr>
          <p:cNvPr id="31" name="Meaning card"/>
          <p:cNvSpPr/>
          <p:nvPr/>
        </p:nvSpPr>
        <p:spPr>
          <a:xfrm>
            <a:off x="7498080" y="1664208"/>
            <a:ext cx="4187952" cy="3996842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2" name="Meaning title"/>
          <p:cNvSpPr txBox="1"/>
          <p:nvPr/>
        </p:nvSpPr>
        <p:spPr>
          <a:xfrm>
            <a:off x="7726680" y="1767352"/>
            <a:ext cx="3749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KheAl에 주는 의미</a:t>
            </a:r>
            <a:endParaRPr lang="ko-KR" sz="1300"/>
          </a:p>
        </p:txBody>
      </p:sp>
      <p:sp>
        <p:nvSpPr>
          <p:cNvPr id="33" name="M num 0"/>
          <p:cNvSpPr txBox="1"/>
          <p:nvPr/>
        </p:nvSpPr>
        <p:spPr>
          <a:xfrm>
            <a:off x="7726680" y="2222906"/>
            <a:ext cx="384048" cy="361005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092"/>
          </a:p>
        </p:txBody>
      </p:sp>
      <p:sp>
        <p:nvSpPr>
          <p:cNvPr id="34" name="M head 0"/>
          <p:cNvSpPr txBox="1"/>
          <p:nvPr/>
        </p:nvSpPr>
        <p:spPr>
          <a:xfrm>
            <a:off x="8229600" y="2205716"/>
            <a:ext cx="3337560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시장은 분산</a:t>
            </a:r>
            <a:endParaRPr lang="ko-KR" sz="1250"/>
          </a:p>
        </p:txBody>
      </p:sp>
      <p:sp>
        <p:nvSpPr>
          <p:cNvPr id="35" name="M body 0"/>
          <p:cNvSpPr txBox="1"/>
          <p:nvPr/>
        </p:nvSpPr>
        <p:spPr>
          <a:xfrm>
            <a:off x="8229600" y="2532339"/>
            <a:ext cx="333756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기타 56% — 전문·틈새 제품이 들어갈 자리가 있음</a:t>
            </a:r>
            <a:endParaRPr lang="ko-KR" sz="1100"/>
          </a:p>
        </p:txBody>
      </p:sp>
      <p:sp>
        <p:nvSpPr>
          <p:cNvPr id="36" name="M num 1"/>
          <p:cNvSpPr txBox="1"/>
          <p:nvPr/>
        </p:nvSpPr>
        <p:spPr>
          <a:xfrm>
            <a:off x="7726680" y="3340303"/>
            <a:ext cx="384048" cy="361005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092"/>
          </a:p>
        </p:txBody>
      </p:sp>
      <p:sp>
        <p:nvSpPr>
          <p:cNvPr id="37" name="M head 1"/>
          <p:cNvSpPr txBox="1"/>
          <p:nvPr/>
        </p:nvSpPr>
        <p:spPr>
          <a:xfrm>
            <a:off x="8229600" y="3323112"/>
            <a:ext cx="3337560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대형사 주력은 폼·은·흡수</a:t>
            </a:r>
            <a:endParaRPr lang="ko-KR" sz="1250"/>
          </a:p>
        </p:txBody>
      </p:sp>
      <p:sp>
        <p:nvSpPr>
          <p:cNvPr id="38" name="M body 1"/>
          <p:cNvSpPr txBox="1"/>
          <p:nvPr/>
        </p:nvSpPr>
        <p:spPr>
          <a:xfrm>
            <a:off x="8229600" y="3649736"/>
            <a:ext cx="333756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Mepilex · AQUACEL 등 감염·고삼출 관리 제품</a:t>
            </a:r>
            <a:endParaRPr lang="ko-KR" sz="1100"/>
          </a:p>
        </p:txBody>
      </p:sp>
      <p:sp>
        <p:nvSpPr>
          <p:cNvPr id="39" name="M num 2"/>
          <p:cNvSpPr txBox="1"/>
          <p:nvPr/>
        </p:nvSpPr>
        <p:spPr>
          <a:xfrm>
            <a:off x="7726680" y="4457700"/>
            <a:ext cx="384048" cy="361005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092"/>
          </a:p>
        </p:txBody>
      </p:sp>
      <p:sp>
        <p:nvSpPr>
          <p:cNvPr id="40" name="M head 2"/>
          <p:cNvSpPr txBox="1"/>
          <p:nvPr/>
        </p:nvSpPr>
        <p:spPr>
          <a:xfrm>
            <a:off x="8229600" y="4440509"/>
            <a:ext cx="3337560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케라틴 겔은 별도 집계 없음</a:t>
            </a:r>
            <a:endParaRPr lang="ko-KR" sz="1250"/>
          </a:p>
        </p:txBody>
      </p:sp>
      <p:sp>
        <p:nvSpPr>
          <p:cNvPr id="41" name="M body 2"/>
          <p:cNvSpPr txBox="1"/>
          <p:nvPr/>
        </p:nvSpPr>
        <p:spPr>
          <a:xfrm>
            <a:off x="8229600" y="4767133"/>
            <a:ext cx="333756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시장 규모는 ‘2도 화상 · 습윤 겔’ 적응증 기준으로 산정</a:t>
            </a:r>
            <a:endParaRPr lang="ko-KR" sz="1100"/>
          </a:p>
        </p:txBody>
      </p:sp>
      <p:sp>
        <p:nvSpPr>
          <p:cNvPr id="42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3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4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KheAl은 대형사와 정면 경쟁이 아니라, 그들이 비워 둔 ‘진물 적은 2도 화상용 바르는 겔’을 노린다</a:t>
            </a:r>
            <a:endParaRPr lang="ko-KR" sz="1250"/>
          </a:p>
        </p:txBody>
      </p:sp>
      <p:sp>
        <p:nvSpPr>
          <p:cNvPr id="45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Smith+Nephew 2025 Annual Report (SEC)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MarketsandMarkets</a:t>
            </a:r>
            <a:endParaRPr lang="ko-KR" sz="75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대상 시장 — 전체 · 첨단 드레싱 · 폼 외 습윤 드레싱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줄 = 같은 지표 · 모두 원화 환산 (1달러 = 1,400원) · 글로벌과 국내는 조사 연도 · 기관이 달라 ‘크기 차이’만 참고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17</a:t>
            </a:r>
            <a:endParaRPr lang="ko-KR" sz="800"/>
          </a:p>
        </p:txBody>
      </p:sp>
      <p:sp>
        <p:nvSpPr>
          <p:cNvPr id="8" name="G head back"/>
          <p:cNvSpPr/>
          <p:nvPr/>
        </p:nvSpPr>
        <p:spPr>
          <a:xfrm>
            <a:off x="3246120" y="1664208"/>
            <a:ext cx="38862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G head"/>
          <p:cNvSpPr txBox="1"/>
          <p:nvPr/>
        </p:nvSpPr>
        <p:spPr>
          <a:xfrm>
            <a:off x="3310128" y="1664208"/>
            <a:ext cx="37581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글로벌 · 미국</a:t>
            </a:r>
            <a:endParaRPr lang="ko-KR" sz="1200"/>
          </a:p>
        </p:txBody>
      </p:sp>
      <p:sp>
        <p:nvSpPr>
          <p:cNvPr id="10" name="K head back"/>
          <p:cNvSpPr/>
          <p:nvPr/>
        </p:nvSpPr>
        <p:spPr>
          <a:xfrm>
            <a:off x="7269480" y="1664208"/>
            <a:ext cx="324612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1" name="K head"/>
          <p:cNvSpPr txBox="1"/>
          <p:nvPr/>
        </p:nvSpPr>
        <p:spPr>
          <a:xfrm>
            <a:off x="7333488" y="1664208"/>
            <a:ext cx="311810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</a:t>
            </a:r>
            <a:endParaRPr lang="ko-KR" sz="1200"/>
          </a:p>
        </p:txBody>
      </p:sp>
      <p:sp>
        <p:nvSpPr>
          <p:cNvPr id="12" name="R head"/>
          <p:cNvSpPr txBox="1"/>
          <p:nvPr/>
        </p:nvSpPr>
        <p:spPr>
          <a:xfrm>
            <a:off x="10607040" y="1664208"/>
            <a:ext cx="107899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국내 / 글로벌</a:t>
            </a:r>
            <a:endParaRPr lang="ko-KR" sz="1000"/>
          </a:p>
        </p:txBody>
      </p:sp>
      <p:sp>
        <p:nvSpPr>
          <p:cNvPr id="13" name="Row 0"/>
          <p:cNvSpPr/>
          <p:nvPr/>
        </p:nvSpPr>
        <p:spPr>
          <a:xfrm>
            <a:off x="502920" y="2093976"/>
            <a:ext cx="11183112" cy="10142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Nm 0"/>
          <p:cNvSpPr txBox="1"/>
          <p:nvPr/>
        </p:nvSpPr>
        <p:spPr>
          <a:xfrm>
            <a:off x="640080" y="2222906"/>
            <a:ext cx="25603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①  창상피복재 전체</a:t>
            </a:r>
            <a:endParaRPr lang="ko-KR" sz="1300"/>
          </a:p>
        </p:txBody>
      </p:sp>
      <p:sp>
        <p:nvSpPr>
          <p:cNvPr id="15" name="Sub 0"/>
          <p:cNvSpPr txBox="1"/>
          <p:nvPr/>
        </p:nvSpPr>
        <p:spPr>
          <a:xfrm>
            <a:off x="640080" y="2592507"/>
            <a:ext cx="25603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드레싱 시장 전체</a:t>
            </a:r>
            <a:endParaRPr lang="ko-KR" sz="950"/>
          </a:p>
        </p:txBody>
      </p:sp>
      <p:sp>
        <p:nvSpPr>
          <p:cNvPr id="16" name="Gb 0"/>
          <p:cNvSpPr txBox="1"/>
          <p:nvPr/>
        </p:nvSpPr>
        <p:spPr>
          <a:xfrm>
            <a:off x="3291840" y="2162739"/>
            <a:ext cx="3794760" cy="446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16.2조원</a:t>
            </a:r>
            <a:endParaRPr lang="ko-KR" sz="2400"/>
          </a:p>
        </p:txBody>
      </p:sp>
      <p:sp>
        <p:nvSpPr>
          <p:cNvPr id="17" name="Gs 0"/>
          <p:cNvSpPr txBox="1"/>
          <p:nvPr/>
        </p:nvSpPr>
        <p:spPr>
          <a:xfrm>
            <a:off x="3291840" y="2609698"/>
            <a:ext cx="379476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2025 · $11.6B  →  2030 22.3조원 ($15.9B)</a:t>
            </a:r>
            <a:endParaRPr lang="ko-KR" sz="1100"/>
          </a:p>
          <a:p>
            <a:pPr marL="0" indent="0" algn="l">
              <a:spcAft>
                <a:spcPts val="100"/>
              </a:spcAft>
              <a:buNone/>
            </a:pPr>
            <a:r>
              <a:rPr lang="ko-KR" sz="9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 2.8조원 ($2.03B, 2025)</a:t>
            </a:r>
            <a:endParaRPr lang="ko-KR" sz="1100"/>
          </a:p>
        </p:txBody>
      </p:sp>
      <p:sp>
        <p:nvSpPr>
          <p:cNvPr id="18" name="Kb 0"/>
          <p:cNvSpPr txBox="1"/>
          <p:nvPr/>
        </p:nvSpPr>
        <p:spPr>
          <a:xfrm>
            <a:off x="7315200" y="2162739"/>
            <a:ext cx="3200400" cy="446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4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3,319억원</a:t>
            </a:r>
            <a:endParaRPr lang="ko-KR" sz="2400"/>
          </a:p>
        </p:txBody>
      </p:sp>
      <p:sp>
        <p:nvSpPr>
          <p:cNvPr id="19" name="Ks 0"/>
          <p:cNvSpPr txBox="1"/>
          <p:nvPr/>
        </p:nvSpPr>
        <p:spPr>
          <a:xfrm>
            <a:off x="7315200" y="2609698"/>
            <a:ext cx="320040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2022 추정 · 최종 구입가 기준</a:t>
            </a:r>
            <a:endParaRPr lang="ko-KR" sz="950"/>
          </a:p>
        </p:txBody>
      </p:sp>
      <p:sp>
        <p:nvSpPr>
          <p:cNvPr id="20" name="Ratio 0"/>
          <p:cNvSpPr txBox="1"/>
          <p:nvPr/>
        </p:nvSpPr>
        <p:spPr>
          <a:xfrm>
            <a:off x="10680192" y="2403409"/>
            <a:ext cx="932688" cy="378196"/>
          </a:xfrm>
          <a:prstGeom prst="round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2.0%</a:t>
            </a:r>
            <a:endParaRPr lang="ko-KR" sz="1200"/>
          </a:p>
        </p:txBody>
      </p:sp>
      <p:sp>
        <p:nvSpPr>
          <p:cNvPr id="21" name="Row 1"/>
          <p:cNvSpPr/>
          <p:nvPr/>
        </p:nvSpPr>
        <p:spPr>
          <a:xfrm>
            <a:off x="502920" y="3211373"/>
            <a:ext cx="11183112" cy="10142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Nm 1"/>
          <p:cNvSpPr txBox="1"/>
          <p:nvPr/>
        </p:nvSpPr>
        <p:spPr>
          <a:xfrm>
            <a:off x="640080" y="3340303"/>
            <a:ext cx="25603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②  첨단 드레싱</a:t>
            </a:r>
            <a:endParaRPr lang="ko-KR" sz="1300"/>
          </a:p>
        </p:txBody>
      </p:sp>
      <p:sp>
        <p:nvSpPr>
          <p:cNvPr id="23" name="Sub 1"/>
          <p:cNvSpPr txBox="1"/>
          <p:nvPr/>
        </p:nvSpPr>
        <p:spPr>
          <a:xfrm>
            <a:off x="640080" y="3709904"/>
            <a:ext cx="25603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폼 + 습윤 계열 (거즈 · 음압 제외)</a:t>
            </a:r>
            <a:endParaRPr lang="ko-KR" sz="950"/>
          </a:p>
        </p:txBody>
      </p:sp>
      <p:sp>
        <p:nvSpPr>
          <p:cNvPr id="24" name="Gb 1"/>
          <p:cNvSpPr txBox="1"/>
          <p:nvPr/>
        </p:nvSpPr>
        <p:spPr>
          <a:xfrm>
            <a:off x="3291840" y="3280136"/>
            <a:ext cx="3794760" cy="446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9.0조원</a:t>
            </a:r>
            <a:endParaRPr lang="ko-KR" sz="2400"/>
          </a:p>
        </p:txBody>
      </p:sp>
      <p:sp>
        <p:nvSpPr>
          <p:cNvPr id="25" name="Gs 1"/>
          <p:cNvSpPr txBox="1"/>
          <p:nvPr/>
        </p:nvSpPr>
        <p:spPr>
          <a:xfrm>
            <a:off x="3291840" y="3727094"/>
            <a:ext cx="379476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2025 · $6.4B  →  2030 13.2조원 ($9.4B)</a:t>
            </a:r>
            <a:endParaRPr lang="ko-KR" sz="1100"/>
          </a:p>
        </p:txBody>
      </p:sp>
      <p:sp>
        <p:nvSpPr>
          <p:cNvPr id="26" name="Kb 1"/>
          <p:cNvSpPr txBox="1"/>
          <p:nvPr/>
        </p:nvSpPr>
        <p:spPr>
          <a:xfrm>
            <a:off x="7315200" y="3280136"/>
            <a:ext cx="3200400" cy="446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4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1,307억원</a:t>
            </a:r>
            <a:endParaRPr lang="ko-KR" sz="2400"/>
          </a:p>
        </p:txBody>
      </p:sp>
      <p:sp>
        <p:nvSpPr>
          <p:cNvPr id="27" name="Ks 1"/>
          <p:cNvSpPr txBox="1"/>
          <p:nvPr/>
        </p:nvSpPr>
        <p:spPr>
          <a:xfrm>
            <a:off x="7315200" y="3727094"/>
            <a:ext cx="320040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2022 · 병원 급여 청구 1,579억 중 폼 68.8% + 기타 습윤 14.0%</a:t>
            </a:r>
            <a:endParaRPr lang="ko-KR" sz="950"/>
          </a:p>
        </p:txBody>
      </p:sp>
      <p:sp>
        <p:nvSpPr>
          <p:cNvPr id="28" name="Ratio 1"/>
          <p:cNvSpPr txBox="1"/>
          <p:nvPr/>
        </p:nvSpPr>
        <p:spPr>
          <a:xfrm>
            <a:off x="10680192" y="3520806"/>
            <a:ext cx="932688" cy="378196"/>
          </a:xfrm>
          <a:prstGeom prst="round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1.5%</a:t>
            </a:r>
            <a:endParaRPr lang="ko-KR" sz="1200"/>
          </a:p>
        </p:txBody>
      </p:sp>
      <p:sp>
        <p:nvSpPr>
          <p:cNvPr id="29" name="Row 2"/>
          <p:cNvSpPr/>
          <p:nvPr/>
        </p:nvSpPr>
        <p:spPr>
          <a:xfrm>
            <a:off x="502920" y="4328770"/>
            <a:ext cx="11183112" cy="1014252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30" name="Nm 2"/>
          <p:cNvSpPr txBox="1"/>
          <p:nvPr/>
        </p:nvSpPr>
        <p:spPr>
          <a:xfrm>
            <a:off x="640080" y="4457700"/>
            <a:ext cx="256032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③  폼 외 습윤 드레싱</a:t>
            </a:r>
            <a:endParaRPr lang="ko-KR" sz="1300"/>
          </a:p>
        </p:txBody>
      </p:sp>
      <p:sp>
        <p:nvSpPr>
          <p:cNvPr id="31" name="Sub 2"/>
          <p:cNvSpPr txBox="1"/>
          <p:nvPr/>
        </p:nvSpPr>
        <p:spPr>
          <a:xfrm>
            <a:off x="640080" y="4827300"/>
            <a:ext cx="256032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거즈 · 음압도 제외 = KheAl 영역 (하이드로겔 · 하이드로콜로이드 · 알지네이트 등)</a:t>
            </a:r>
            <a:endParaRPr lang="ko-KR" sz="950"/>
          </a:p>
        </p:txBody>
      </p:sp>
      <p:sp>
        <p:nvSpPr>
          <p:cNvPr id="32" name="Gb 2"/>
          <p:cNvSpPr txBox="1"/>
          <p:nvPr/>
        </p:nvSpPr>
        <p:spPr>
          <a:xfrm>
            <a:off x="3291840" y="4397532"/>
            <a:ext cx="3794760" cy="446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약 6.8조원</a:t>
            </a:r>
            <a:endParaRPr lang="ko-KR" sz="2400"/>
          </a:p>
        </p:txBody>
      </p:sp>
      <p:sp>
        <p:nvSpPr>
          <p:cNvPr id="33" name="Gs 2"/>
          <p:cNvSpPr txBox="1"/>
          <p:nvPr/>
        </p:nvSpPr>
        <p:spPr>
          <a:xfrm>
            <a:off x="3291840" y="4844491"/>
            <a:ext cx="379476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추정 = 첨단 드레싱 × (1 − 폼 비중 23.6%)</a:t>
            </a:r>
            <a:endParaRPr lang="ko-KR" sz="1100"/>
          </a:p>
        </p:txBody>
      </p:sp>
      <p:sp>
        <p:nvSpPr>
          <p:cNvPr id="34" name="Kb 2"/>
          <p:cNvSpPr txBox="1"/>
          <p:nvPr/>
        </p:nvSpPr>
        <p:spPr>
          <a:xfrm>
            <a:off x="7315200" y="4397532"/>
            <a:ext cx="3200400" cy="446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2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약 221억원</a:t>
            </a:r>
            <a:endParaRPr lang="ko-KR" sz="2400"/>
          </a:p>
        </p:txBody>
      </p:sp>
      <p:sp>
        <p:nvSpPr>
          <p:cNvPr id="35" name="Ks 2"/>
          <p:cNvSpPr txBox="1"/>
          <p:nvPr/>
        </p:nvSpPr>
        <p:spPr>
          <a:xfrm>
            <a:off x="7315200" y="4844491"/>
            <a:ext cx="320040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급여 청구 중 하이드로콜로이드 2.3 + 알지네이트 · 하이드로파이버 1.6 + 기타 10.1 = 14%</a:t>
            </a:r>
            <a:endParaRPr lang="ko-KR" sz="950"/>
          </a:p>
        </p:txBody>
      </p:sp>
      <p:sp>
        <p:nvSpPr>
          <p:cNvPr id="36" name="Ratio 2"/>
          <p:cNvSpPr txBox="1"/>
          <p:nvPr/>
        </p:nvSpPr>
        <p:spPr>
          <a:xfrm>
            <a:off x="10680192" y="4638203"/>
            <a:ext cx="932688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0.3%</a:t>
            </a:r>
            <a:endParaRPr lang="ko-KR" sz="1200"/>
          </a:p>
        </p:txBody>
      </p:sp>
      <p:sp>
        <p:nvSpPr>
          <p:cNvPr id="37" name="Tgt note"/>
          <p:cNvSpPr txBox="1"/>
          <p:nvPr/>
        </p:nvSpPr>
        <p:spPr>
          <a:xfrm>
            <a:off x="502920" y="5446166"/>
            <a:ext cx="11183112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글로벌: MarketsandMarkets (2025) · 폼 비중은 Grand View Research (2025) · 국내 ①은 최종 구입가, ②③은 의료기관 급여 청구액 기준 · 미국 첨단 · 습윤 세부 수치는 출처마다 정의가 달라 미기재</a:t>
            </a:r>
            <a:endParaRPr lang="ko-KR" sz="900"/>
          </a:p>
        </p:txBody>
      </p:sp>
      <p:sp>
        <p:nvSpPr>
          <p:cNvPr id="38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9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0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영역(폼 외 습윤 드레싱) = 글로벌 약 6.8조원 · 국내 약 221억원 → 국내는 작은 틈새, 해외 진출(510(k))을 함께 가야 하는 이유</a:t>
            </a:r>
            <a:endParaRPr lang="ko-KR" sz="1250"/>
          </a:p>
        </p:txBody>
      </p:sp>
      <p:sp>
        <p:nvSpPr>
          <p:cNvPr id="41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MarketsandMarkets Wound Dressings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MarketsandMarkets US Wound Dressings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Grand View Research Advanced Wound Dressing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KIND 티앤엘 2025 공시</a:t>
            </a:r>
            <a:endParaRPr lang="ko-KR" sz="7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경쟁제품 — 형태·소재별 정리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바르는 겔 직접 경쟁은 2개 · 이번 조사에서 국내 케라틴 창상피복재는 확인되지 않음 · 화상 세포치료제는 의약품 경로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18</a:t>
            </a:r>
            <a:endParaRPr lang="ko-KR" sz="800"/>
          </a:p>
        </p:txBody>
      </p:sp>
      <p:graphicFrame>
        <p:nvGraphicFramePr>
          <p:cNvPr id="8" name="Competitor table"/>
          <p:cNvGraphicFramePr>
            <a:graphicFrameLocks noGrp="1"/>
          </p:cNvGraphicFramePr>
          <p:nvPr/>
        </p:nvGraphicFramePr>
        <p:xfrm>
          <a:off x="502920" y="1664208"/>
          <a:ext cx="11183112" cy="4357848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606040"/>
                <a:gridCol w="2331720"/>
                <a:gridCol w="1691640"/>
                <a:gridCol w="1261872"/>
              </a:tblGrid>
              <a:tr h="2922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36960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JUVENCOLL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창상관리용 겔 (상세 성분 미공개)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관리 · 삼출물 흡수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써지큐어 Surgicure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티앤알바이오팹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국소 하이드로겔 · 돼지 유래 ECM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상처 보호 · 흉터 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2등급 (보도 기준)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메디폼® H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제네웰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패치형 하이드로겔 10×10cm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가벼운 상처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2등급 · 제인 08-306호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생체소재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CUREWEL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매트릭스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· 창상 관리 · 보습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HYPLAST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원메디슨 (국내 유통)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아텔로콜라겐 + 히알루론산나트륨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· 2도 화상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제조국 · 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폼 · 하이드로콜로이드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테라솝 알지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흡수성 폼 드레싱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1~2도 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제허 18-447호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이지덤 · 이지덤 폼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대웅제약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하이드로콜로이드 /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찰과상 · 화상 · 욕창 습윤관리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메디솝 AG+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제허 21-428호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메디폼 실버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한국먼디파마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실버설파디아진 함유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상처 (2023 출시)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세포치료제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의약품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칼로덤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테고사이언스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동종 각질세포 시트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2도 화상 · 당뇨발 (심부 2도 급여)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의약품 (2005 허가)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케라힐-알로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바이오솔루션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동종 각질세포 하이드로겔 · 시린지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심부 2도 화상 재상피화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첨단바이오의약품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Dmed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티앤알바이오팹 써지큐어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제네웰 메디폼 H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원메디슨 HYPLAST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원바이오젠 테라솝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대웅 이지덤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원바이오젠 메디솝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먼디파마 메디폼 실버 플러스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9"/>
              </a:rPr>
              <a:t>테고사이언스 칼로덤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0"/>
              </a:rPr>
              <a:t>바이오솔루션 케라힐-알로</a:t>
            </a:r>
            <a:endParaRPr lang="ko-KR" sz="75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해외 경쟁제품 — 형태·소재별 정리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케라틴 원료는 해외에서 이미 허가·시판 중 → 차별점은 ‘케라틴+알지네이트+HA 바르는 겔’과 화상 임상 근거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19</a:t>
            </a:r>
            <a:endParaRPr lang="ko-KR" sz="800"/>
          </a:p>
        </p:txBody>
      </p:sp>
      <p:graphicFrame>
        <p:nvGraphicFramePr>
          <p:cNvPr id="8" name="Competitor table"/>
          <p:cNvGraphicFramePr>
            <a:graphicFrameLocks noGrp="1"/>
          </p:cNvGraphicFramePr>
          <p:nvPr/>
        </p:nvGraphicFramePr>
        <p:xfrm>
          <a:off x="502920" y="1664208"/>
          <a:ext cx="11183112" cy="4091391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514600"/>
                <a:gridCol w="2148840"/>
                <a:gridCol w="1965960"/>
                <a:gridCol w="1261872"/>
              </a:tblGrid>
              <a:tr h="2922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 대비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IntraSite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Smith+Nephew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무정형 하이드로겔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괴사조직 제거 · 화상 · 저삼출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케라틴 없음 · 같은 사용 상황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Purilon®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Coloplast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CMC + 칼슘 알지네이트 겔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건조 · 괴사 상처 · 1~2도 화상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— 조성 가장 유사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Nu-Gel™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투명 하이드로겔 + 알지네이트나트륨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수분 공급 · 자가용해 보조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선례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케라틴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KeraStat® Gel · Cream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KeraNetics · FDA K162759 / K192386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5% 사람 모발 케라틴 겔 · 크림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부분층 화상 · 피부 손상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다음 장에서 별도 비교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핵심 벤치마크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ProgenaMatrix®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ProgenaCare · FDA K182010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사람 모발 케라틴 매트릭스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 · 1~2도 화상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 · 시트형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동일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Biowound Solutions · 선행 K080949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유래 케라틴 드레싱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케라틴 · 시트형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유사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피복막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Fibracol™ Plus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90% + 칼슘 알지네이트 10%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흡수 · 겔 형성 · 습윤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단백질+알지네이트 조합 선례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Hyalomatrix®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Anika · FDA K073251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히알루론산 에스터 + 실리콘 막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2도 화상 · 부분·전층 창상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HA 소재 · 시트형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Suprathel®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PolyMedics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합성 생분해 막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부분층 화상 · 피부 공여부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적응증 · 막 형태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2922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Suprasorb® A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Lohmann &amp; Rauscher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칼슘 알지네이트 섬유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진물 많은 상처 · 겔 형성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진물 많을 때만 겹침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Mepilex® Ag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Mölnlycke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 실리콘 폼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감염 위험 · 진물 중~많음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항균이 필요할 때 사용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AQUACEL® Ag+ Extra™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ConvaTec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하이드로파이버 + 은 + EDTA/BEC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진물 많음 · 세균막 관리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항균이 필요할 때 사용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Acticoat™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Smith+Nephew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나노결정 은 시트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감염(위험) 부분·전층 화상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항균이 필요할 때 사용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IntraSite (NHS)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Coloplast Purilon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Solventum Nu-Gel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FDA K182010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GUDID Keramatrix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Solventum Fibracol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Hyalomatrix K073251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Suprathel 화상 연구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9"/>
              </a:rPr>
              <a:t>L&amp;R Suprasorb A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0"/>
              </a:rPr>
              <a:t>Mölnlycke Mepilex Ag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1"/>
              </a:rPr>
              <a:t>ConvaTec AQUACEL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2"/>
              </a:rPr>
              <a:t>S+N Acticoat</a:t>
            </a:r>
            <a:endParaRPr lang="ko-KR" sz="75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벤치마킹 제품 — KeraStat® (KeraNetics)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사람 모발 케라틴 원료 · FDA 510(k) 허가 선례 · KheAl이 넘어야 할 직접 비교 기준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</a:t>
            </a:r>
            <a:endParaRPr lang="ko-KR" sz="800"/>
          </a:p>
        </p:txBody>
      </p:sp>
      <p:sp>
        <p:nvSpPr>
          <p:cNvPr id="8" name="Left card"/>
          <p:cNvSpPr/>
          <p:nvPr/>
        </p:nvSpPr>
        <p:spPr>
          <a:xfrm>
            <a:off x="502920" y="1664208"/>
            <a:ext cx="2514600" cy="4142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Maker"/>
          <p:cNvSpPr txBox="1"/>
          <p:nvPr/>
        </p:nvSpPr>
        <p:spPr>
          <a:xfrm>
            <a:off x="502920" y="1767352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KeraNetics (미국)</a:t>
            </a:r>
            <a:endParaRPr lang="ko-KR" sz="950"/>
          </a:p>
        </p:txBody>
      </p:sp>
      <p:pic>
        <p:nvPicPr>
          <p:cNvPr id="10" name="KeraStat Gel" descr="KeraStat Ge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718859" y="2050999"/>
            <a:ext cx="2082722" cy="773582"/>
          </a:xfrm>
          <a:prstGeom prst="rect">
            <a:avLst/>
          </a:prstGeom>
        </p:spPr>
      </p:pic>
      <p:sp>
        <p:nvSpPr>
          <p:cNvPr id="11" name="Gel label"/>
          <p:cNvSpPr txBox="1"/>
          <p:nvPr/>
        </p:nvSpPr>
        <p:spPr>
          <a:xfrm>
            <a:off x="502920" y="2850368"/>
            <a:ext cx="2514600" cy="2062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KeraStat® Gel</a:t>
            </a:r>
            <a:endParaRPr lang="ko-KR" sz="1050"/>
          </a:p>
        </p:txBody>
      </p:sp>
      <p:pic>
        <p:nvPicPr>
          <p:cNvPr id="12" name="KeraStat Cream" descr="KeraStat Cream 제품 사진"/>
          <p:cNvPicPr>
            <a:picLocks noChangeAspect="1"/>
          </p:cNvPicPr>
          <p:nvPr/>
        </p:nvPicPr>
        <p:blipFill>
          <a:blip r:embed="rI2"/>
          <a:stretch>
            <a:fillRect/>
          </a:stretch>
        </p:blipFill>
        <p:spPr>
          <a:xfrm>
            <a:off x="765683" y="3108228"/>
            <a:ext cx="1989073" cy="687629"/>
          </a:xfrm>
          <a:prstGeom prst="rect">
            <a:avLst/>
          </a:prstGeom>
        </p:spPr>
      </p:pic>
      <p:sp>
        <p:nvSpPr>
          <p:cNvPr id="13" name="Cream label"/>
          <p:cNvSpPr txBox="1"/>
          <p:nvPr/>
        </p:nvSpPr>
        <p:spPr>
          <a:xfrm>
            <a:off x="502920" y="3813048"/>
            <a:ext cx="2514600" cy="2062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KeraStat® Cream</a:t>
            </a:r>
            <a:endParaRPr lang="ko-KR" sz="1050"/>
          </a:p>
        </p:txBody>
      </p:sp>
      <p:sp>
        <p:nvSpPr>
          <p:cNvPr id="14" name="Fact 0 label"/>
          <p:cNvSpPr txBox="1"/>
          <p:nvPr/>
        </p:nvSpPr>
        <p:spPr>
          <a:xfrm>
            <a:off x="640080" y="4156862"/>
            <a:ext cx="749808" cy="429768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FDA 510(k)</a:t>
            </a:r>
            <a:endParaRPr lang="ko-KR" sz="850"/>
          </a:p>
        </p:txBody>
      </p:sp>
      <p:sp>
        <p:nvSpPr>
          <p:cNvPr id="15" name="Fact 0"/>
          <p:cNvSpPr txBox="1"/>
          <p:nvPr/>
        </p:nvSpPr>
        <p:spPr>
          <a:xfrm>
            <a:off x="1444752" y="4156862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Gel K162759 · Cream K192386</a:t>
            </a:r>
            <a:endParaRPr lang="ko-KR" sz="850"/>
          </a:p>
        </p:txBody>
      </p:sp>
      <p:sp>
        <p:nvSpPr>
          <p:cNvPr id="16" name="Fact 1 label"/>
          <p:cNvSpPr txBox="1"/>
          <p:nvPr/>
        </p:nvSpPr>
        <p:spPr>
          <a:xfrm>
            <a:off x="640080" y="4672584"/>
            <a:ext cx="749808" cy="429768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제품코드</a:t>
            </a:r>
            <a:endParaRPr lang="ko-KR" sz="850"/>
          </a:p>
        </p:txBody>
      </p:sp>
      <p:sp>
        <p:nvSpPr>
          <p:cNvPr id="17" name="Fact 1"/>
          <p:cNvSpPr txBox="1"/>
          <p:nvPr/>
        </p:nvSpPr>
        <p:spPr>
          <a:xfrm>
            <a:off x="1444752" y="4672584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KGN (Gel)</a:t>
            </a:r>
            <a:endParaRPr lang="ko-KR" sz="850"/>
          </a:p>
        </p:txBody>
      </p:sp>
      <p:sp>
        <p:nvSpPr>
          <p:cNvPr id="18" name="Fact 2 label"/>
          <p:cNvSpPr txBox="1"/>
          <p:nvPr/>
        </p:nvSpPr>
        <p:spPr>
          <a:xfrm>
            <a:off x="640080" y="5188306"/>
            <a:ext cx="749808" cy="429768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특허 계보</a:t>
            </a:r>
            <a:endParaRPr lang="ko-KR" sz="850"/>
          </a:p>
        </p:txBody>
      </p:sp>
      <p:sp>
        <p:nvSpPr>
          <p:cNvPr id="19" name="Fact 2"/>
          <p:cNvSpPr txBox="1"/>
          <p:nvPr/>
        </p:nvSpPr>
        <p:spPr>
          <a:xfrm>
            <a:off x="1444752" y="5188306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WO1999026595A1 · US6270793B1 · US7732574</a:t>
            </a:r>
            <a:endParaRPr lang="ko-KR" sz="850"/>
          </a:p>
        </p:txBody>
      </p:sp>
      <p:graphicFrame>
        <p:nvGraphicFramePr>
          <p:cNvPr id="20" name="KeraStat comparison"/>
          <p:cNvGraphicFramePr>
            <a:graphicFrameLocks noGrp="1"/>
          </p:cNvGraphicFramePr>
          <p:nvPr/>
        </p:nvGraphicFramePr>
        <p:xfrm>
          <a:off x="3200400" y="1664208"/>
          <a:ext cx="5394960" cy="4091391"/>
        </p:xfrm>
        <a:graphic>
          <a:graphicData uri="http://schemas.openxmlformats.org/drawingml/2006/table">
            <a:tbl>
              <a:tblPr firstRow="1"/>
              <a:tblGrid>
                <a:gridCol w="868680"/>
                <a:gridCol w="1508760"/>
                <a:gridCol w="1417320"/>
                <a:gridCol w="1600200"/>
              </a:tblGrid>
              <a:tr h="3610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항목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 Gel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 Cream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성분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5% 사람 모발 케라틴 하이드로겔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5% 케라틴 크림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케라틴 + 알지네이트 + 히알루론산 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포장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 mL 튜브 · 멸균 · 1회용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비멸균 · 다회 사용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1.5 / 3 mL 시린지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510(k) · 처방용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510(k)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MFDS 4등급 목표 · 임상 필요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적응증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1~2도 화상 · 찰과상 · 수술창 (3도 제외)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피부 손상 관리 · 방사선피부염 연구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3도 제외 화상 · 보호 · 습윤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임상 근거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시험 30명 계획 → 14명 등록 후 종료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유방 방사선피부염 30.8% vs 54.5% (24명, p=0.408)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성인 2도 화상 60명 · 2기관 비교임상 계획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인정 작용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보호 · 흡수 · 습윤환경 (약효 인정 아님)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같은 기준 + 사용편의 · 케라틴 기여 추가 입증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유통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Combat Medical (화상)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ASPN Pharmacies (처방 · 배송)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연구자 → 병원 → 유통사 순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21" name="Right card"/>
          <p:cNvSpPr/>
          <p:nvPr/>
        </p:nvSpPr>
        <p:spPr>
          <a:xfrm>
            <a:off x="8796528" y="1664208"/>
            <a:ext cx="2889504" cy="4142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Price title"/>
          <p:cNvSpPr txBox="1"/>
          <p:nvPr/>
        </p:nvSpPr>
        <p:spPr>
          <a:xfrm>
            <a:off x="8933688" y="1767352"/>
            <a:ext cx="2615184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미국 가격 벤치마크 (USD/개)</a:t>
            </a:r>
            <a:endParaRPr lang="ko-KR" sz="1050"/>
          </a:p>
        </p:txBody>
      </p:sp>
      <p:pic>
        <p:nvPicPr>
          <p:cNvPr id="23" name="Price chart" descr="KeraStat 5 mL과 KheAl 목표가 비교 막대그래프"/>
          <p:cNvPicPr>
            <a:picLocks noChangeAspect="1"/>
          </p:cNvPicPr>
          <p:nvPr/>
        </p:nvPicPr>
        <p:blipFill>
          <a:blip r:embed="rI4"/>
          <a:stretch>
            <a:fillRect/>
          </a:stretch>
        </p:blipFill>
        <p:spPr>
          <a:xfrm>
            <a:off x="8887968" y="2105745"/>
            <a:ext cx="2706624" cy="1188407"/>
          </a:xfrm>
          <a:prstGeom prst="rect">
            <a:avLst/>
          </a:prstGeom>
        </p:spPr>
      </p:pic>
      <p:sp>
        <p:nvSpPr>
          <p:cNvPr id="24" name="Price notes"/>
          <p:cNvSpPr txBox="1"/>
          <p:nvPr/>
        </p:nvSpPr>
        <p:spPr>
          <a:xfrm>
            <a:off x="8961120" y="3383280"/>
            <a:ext cx="2560320" cy="1504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KeraStat 5 mL</a:t>
            </a: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  공급자·공공계약 $73–97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/>
            </a: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약국 공개가 $31–82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$73 기준 mL당 $14.60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KheAl 목표가</a:t>
            </a: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  3 mL $45–55 · 1.5 mL $24–30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mL당 환산  3 mL $15–18 · 1.5 mL $16–20</a:t>
            </a:r>
            <a:endParaRPr lang="ko-KR" sz="900"/>
          </a:p>
        </p:txBody>
      </p:sp>
      <p:sp>
        <p:nvSpPr>
          <p:cNvPr id="25" name="Price caveat"/>
          <p:cNvSpPr txBox="1"/>
          <p:nvPr/>
        </p:nvSpPr>
        <p:spPr>
          <a:xfrm>
            <a:off x="8933688" y="4887468"/>
            <a:ext cx="2615184" cy="773582"/>
          </a:xfrm>
          <a:prstGeom prst="rect">
            <a:avLst/>
          </a:prstGeom>
          <a:solidFill>
            <a:srgbClr val="FBE6EB"/>
          </a:solidFill>
          <a:ln>
            <a:noFill/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C00A3E"/>
                </a:solidFill>
                <a:latin typeface="210 옴니고딕 040"/>
                <a:ea typeface="210 옴니고딕 040"/>
                <a:cs typeface="210 옴니고딕 040"/>
              </a:rPr>
              <a:t>KheAl 목표가는 원가·보험·유통마진 확정 전 사업계획값. 공개 조달가는 병원 실구매가와 다를 수 있음</a:t>
            </a:r>
            <a:endParaRPr lang="ko-KR" sz="850"/>
          </a:p>
        </p:txBody>
      </p:sp>
      <p:sp>
        <p:nvSpPr>
          <p:cNvPr id="26" name="Lessons label"/>
          <p:cNvSpPr txBox="1"/>
          <p:nvPr/>
        </p:nvSpPr>
        <p:spPr>
          <a:xfrm>
            <a:off x="502920" y="5893125"/>
            <a:ext cx="10972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배울 점</a:t>
            </a:r>
            <a:endParaRPr lang="ko-KR" sz="1050"/>
          </a:p>
        </p:txBody>
      </p:sp>
      <p:sp>
        <p:nvSpPr>
          <p:cNvPr id="27" name="Lesson 0"/>
          <p:cNvSpPr txBox="1"/>
          <p:nvPr/>
        </p:nvSpPr>
        <p:spPr>
          <a:xfrm>
            <a:off x="1508760" y="5893125"/>
            <a:ext cx="3346704" cy="378196"/>
          </a:xfrm>
          <a:prstGeom prst="rect">
            <a:avLst/>
          </a:prstGeom>
          <a:solidFill>
            <a:srgbClr val="E6E9F5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허가  </a:t>
            </a: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약효가 아닌 ‘보호·습윤’ 기능으로 510(k) 진입</a:t>
            </a:r>
            <a:endParaRPr lang="ko-KR" sz="950"/>
          </a:p>
        </p:txBody>
      </p:sp>
      <p:sp>
        <p:nvSpPr>
          <p:cNvPr id="28" name="Lesson 1"/>
          <p:cNvSpPr txBox="1"/>
          <p:nvPr/>
        </p:nvSpPr>
        <p:spPr>
          <a:xfrm>
            <a:off x="4901184" y="5893125"/>
            <a:ext cx="3346704" cy="378196"/>
          </a:xfrm>
          <a:prstGeom prst="rect">
            <a:avLst/>
          </a:prstGeom>
          <a:solidFill>
            <a:srgbClr val="E6E9F5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  </a:t>
            </a: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화상 시험 모집 실패 → 사전 모집 조사 필수</a:t>
            </a:r>
            <a:endParaRPr lang="ko-KR" sz="950"/>
          </a:p>
        </p:txBody>
      </p:sp>
      <p:sp>
        <p:nvSpPr>
          <p:cNvPr id="29" name="Lesson 2"/>
          <p:cNvSpPr txBox="1"/>
          <p:nvPr/>
        </p:nvSpPr>
        <p:spPr>
          <a:xfrm>
            <a:off x="8293608" y="5893125"/>
            <a:ext cx="3346704" cy="378196"/>
          </a:xfrm>
          <a:prstGeom prst="rect">
            <a:avLst/>
          </a:prstGeom>
          <a:solidFill>
            <a:srgbClr val="E6E9F5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차별화  </a:t>
            </a: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복합 성분 + 소용량 시린지 → 굴곡 부위 편의</a:t>
            </a:r>
            <a:endParaRPr lang="ko-KR" sz="950"/>
          </a:p>
        </p:txBody>
      </p:sp>
      <p:sp>
        <p:nvSpPr>
          <p:cNvPr id="3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FDA K192386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Breast RD Pilot (SAGE)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KeraNetics ASPN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Google Patents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EasyRx 가격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First Industrial Supplies 가격</a:t>
            </a:r>
            <a:endParaRPr lang="ko-KR" sz="75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KheAl의 자리 — 진물 적음~중간 · 굴곡 부위에 바르는 겔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모든 드레싱을 대체하지 않음: 항균·고삼출은 기존 제품, KheAl은 그 사이 빈칸을 겨냥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21</a:t>
            </a:r>
            <a:endParaRPr lang="ko-KR" sz="800"/>
          </a:p>
        </p:txBody>
      </p:sp>
      <p:sp>
        <p:nvSpPr>
          <p:cNvPr id="8" name="Axis"/>
          <p:cNvSpPr/>
          <p:nvPr/>
        </p:nvSpPr>
        <p:spPr>
          <a:xfrm>
            <a:off x="685800" y="1853306"/>
            <a:ext cx="10835640" cy="51572"/>
          </a:xfrm>
          <a:prstGeom prst="rect">
            <a:avLst/>
          </a:prstGeom>
          <a:solidFill>
            <a:srgbClr val="6B6E7A"/>
          </a:solidFill>
          <a:ln>
            <a:noFill/>
          </a:ln>
        </p:spPr>
      </p:sp>
      <p:sp>
        <p:nvSpPr>
          <p:cNvPr id="9" name="Axis head"/>
          <p:cNvSpPr/>
          <p:nvPr/>
        </p:nvSpPr>
        <p:spPr>
          <a:xfrm>
            <a:off x="11430000" y="1750162"/>
            <a:ext cx="228600" cy="257861"/>
          </a:xfrm>
          <a:prstGeom prst="triangle">
            <a:avLst/>
          </a:prstGeom>
          <a:solidFill>
            <a:srgbClr val="6B6E7A"/>
          </a:solidFill>
          <a:ln>
            <a:noFill/>
          </a:ln>
        </p:spPr>
      </p:sp>
      <p:sp>
        <p:nvSpPr>
          <p:cNvPr id="10" name="Axis L"/>
          <p:cNvSpPr txBox="1"/>
          <p:nvPr/>
        </p:nvSpPr>
        <p:spPr>
          <a:xfrm>
            <a:off x="685800" y="1595445"/>
            <a:ext cx="274320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건조</a:t>
            </a:r>
            <a:endParaRPr lang="ko-KR" sz="1050"/>
          </a:p>
        </p:txBody>
      </p:sp>
      <p:sp>
        <p:nvSpPr>
          <p:cNvPr id="11" name="Axis M"/>
          <p:cNvSpPr txBox="1"/>
          <p:nvPr/>
        </p:nvSpPr>
        <p:spPr>
          <a:xfrm>
            <a:off x="4480560" y="1595445"/>
            <a:ext cx="320040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진물 많음</a:t>
            </a:r>
            <a:endParaRPr lang="ko-KR" sz="1050"/>
          </a:p>
        </p:txBody>
      </p:sp>
      <p:sp>
        <p:nvSpPr>
          <p:cNvPr id="12" name="Axis R"/>
          <p:cNvSpPr txBox="1"/>
          <p:nvPr/>
        </p:nvSpPr>
        <p:spPr>
          <a:xfrm>
            <a:off x="8503920" y="1595445"/>
            <a:ext cx="28346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ko-KR" sz="10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감염 · 감염 위험</a:t>
            </a:r>
            <a:endParaRPr lang="ko-KR" sz="1050"/>
          </a:p>
        </p:txBody>
      </p:sp>
      <p:sp>
        <p:nvSpPr>
          <p:cNvPr id="13" name="Zone 0"/>
          <p:cNvSpPr/>
          <p:nvPr/>
        </p:nvSpPr>
        <p:spPr>
          <a:xfrm>
            <a:off x="502920" y="2179930"/>
            <a:ext cx="2679192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Z t 0"/>
          <p:cNvSpPr txBox="1"/>
          <p:nvPr/>
        </p:nvSpPr>
        <p:spPr>
          <a:xfrm>
            <a:off x="640080" y="2369028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수분 공급 · 보호</a:t>
            </a:r>
            <a:endParaRPr lang="ko-KR" sz="1400"/>
          </a:p>
        </p:txBody>
      </p:sp>
      <p:sp>
        <p:nvSpPr>
          <p:cNvPr id="15" name="Z s 0"/>
          <p:cNvSpPr txBox="1"/>
          <p:nvPr/>
        </p:nvSpPr>
        <p:spPr>
          <a:xfrm>
            <a:off x="640080" y="269565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건조 ~ 진물 적음</a:t>
            </a:r>
            <a:endParaRPr lang="ko-KR" sz="1050"/>
          </a:p>
        </p:txBody>
      </p:sp>
      <p:sp>
        <p:nvSpPr>
          <p:cNvPr id="16" name="Z p 0"/>
          <p:cNvSpPr txBox="1"/>
          <p:nvPr/>
        </p:nvSpPr>
        <p:spPr>
          <a:xfrm>
            <a:off x="640080" y="308244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Gel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Nu-Gel · 메디폼 H</a:t>
            </a:r>
            <a:endParaRPr lang="ko-KR" sz="1100"/>
          </a:p>
        </p:txBody>
      </p:sp>
      <p:sp>
        <p:nvSpPr>
          <p:cNvPr id="17" name="Z tag 0"/>
          <p:cNvSpPr txBox="1"/>
          <p:nvPr/>
        </p:nvSpPr>
        <p:spPr>
          <a:xfrm>
            <a:off x="91440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인접 · 비교</a:t>
            </a:r>
            <a:endParaRPr lang="ko-KR" sz="1100"/>
          </a:p>
        </p:txBody>
      </p:sp>
      <p:sp>
        <p:nvSpPr>
          <p:cNvPr id="18" name="Zone 1"/>
          <p:cNvSpPr/>
          <p:nvPr/>
        </p:nvSpPr>
        <p:spPr>
          <a:xfrm>
            <a:off x="3337560" y="2050999"/>
            <a:ext cx="2679192" cy="2707538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19" name="Star"/>
          <p:cNvSpPr txBox="1"/>
          <p:nvPr/>
        </p:nvSpPr>
        <p:spPr>
          <a:xfrm>
            <a:off x="4174236" y="1913473"/>
            <a:ext cx="100584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★ KheAl</a:t>
            </a:r>
            <a:endParaRPr lang="ko-KR" sz="1000"/>
          </a:p>
        </p:txBody>
      </p:sp>
      <p:sp>
        <p:nvSpPr>
          <p:cNvPr id="20" name="Z t 1"/>
          <p:cNvSpPr txBox="1"/>
          <p:nvPr/>
        </p:nvSpPr>
        <p:spPr>
          <a:xfrm>
            <a:off x="3474720" y="2240097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수분 균형 · 바르기</a:t>
            </a:r>
            <a:endParaRPr lang="ko-KR" sz="1400"/>
          </a:p>
        </p:txBody>
      </p:sp>
      <p:sp>
        <p:nvSpPr>
          <p:cNvPr id="21" name="Z s 1"/>
          <p:cNvSpPr txBox="1"/>
          <p:nvPr/>
        </p:nvSpPr>
        <p:spPr>
          <a:xfrm>
            <a:off x="3474720" y="256672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진물 적음~중간 · 굴곡 부위</a:t>
            </a:r>
            <a:endParaRPr lang="ko-KR" sz="1050"/>
          </a:p>
        </p:txBody>
      </p:sp>
      <p:sp>
        <p:nvSpPr>
          <p:cNvPr id="22" name="Z p 1"/>
          <p:cNvSpPr txBox="1"/>
          <p:nvPr/>
        </p:nvSpPr>
        <p:spPr>
          <a:xfrm>
            <a:off x="3474720" y="295351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JUVENCOLL</a:t>
            </a:r>
            <a:endParaRPr lang="ko-KR" sz="1100"/>
          </a:p>
        </p:txBody>
      </p:sp>
      <p:sp>
        <p:nvSpPr>
          <p:cNvPr id="23" name="Z tag 1"/>
          <p:cNvSpPr txBox="1"/>
          <p:nvPr/>
        </p:nvSpPr>
        <p:spPr>
          <a:xfrm>
            <a:off x="374904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직접 목표</a:t>
            </a:r>
            <a:endParaRPr lang="ko-KR" sz="1100"/>
          </a:p>
        </p:txBody>
      </p:sp>
      <p:sp>
        <p:nvSpPr>
          <p:cNvPr id="24" name="Zone 2"/>
          <p:cNvSpPr/>
          <p:nvPr/>
        </p:nvSpPr>
        <p:spPr>
          <a:xfrm>
            <a:off x="6172200" y="2179930"/>
            <a:ext cx="2679192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5" name="Z t 2"/>
          <p:cNvSpPr txBox="1"/>
          <p:nvPr/>
        </p:nvSpPr>
        <p:spPr>
          <a:xfrm>
            <a:off x="6309360" y="2369028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흡수 · 겔 형성</a:t>
            </a:r>
            <a:endParaRPr lang="ko-KR" sz="1400"/>
          </a:p>
        </p:txBody>
      </p:sp>
      <p:sp>
        <p:nvSpPr>
          <p:cNvPr id="26" name="Z s 2"/>
          <p:cNvSpPr txBox="1"/>
          <p:nvPr/>
        </p:nvSpPr>
        <p:spPr>
          <a:xfrm>
            <a:off x="6309360" y="269565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진물 중간 ~ 많음</a:t>
            </a:r>
            <a:endParaRPr lang="ko-KR" sz="1050"/>
          </a:p>
        </p:txBody>
      </p:sp>
      <p:sp>
        <p:nvSpPr>
          <p:cNvPr id="27" name="Z p 2"/>
          <p:cNvSpPr txBox="1"/>
          <p:nvPr/>
        </p:nvSpPr>
        <p:spPr>
          <a:xfrm>
            <a:off x="6309360" y="308244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폼 · Suprasorb A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Fibracol</a:t>
            </a:r>
            <a:endParaRPr lang="ko-KR" sz="1100"/>
          </a:p>
        </p:txBody>
      </p:sp>
      <p:sp>
        <p:nvSpPr>
          <p:cNvPr id="28" name="Z tag 2"/>
          <p:cNvSpPr txBox="1"/>
          <p:nvPr/>
        </p:nvSpPr>
        <p:spPr>
          <a:xfrm>
            <a:off x="658368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일부 겹침</a:t>
            </a:r>
            <a:endParaRPr lang="ko-KR" sz="1100"/>
          </a:p>
        </p:txBody>
      </p:sp>
      <p:sp>
        <p:nvSpPr>
          <p:cNvPr id="29" name="Zone 3"/>
          <p:cNvSpPr/>
          <p:nvPr/>
        </p:nvSpPr>
        <p:spPr>
          <a:xfrm>
            <a:off x="9006840" y="2179930"/>
            <a:ext cx="2679192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0" name="Z t 3"/>
          <p:cNvSpPr txBox="1"/>
          <p:nvPr/>
        </p:nvSpPr>
        <p:spPr>
          <a:xfrm>
            <a:off x="9144000" y="2369028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항균 · 세균막 관리</a:t>
            </a:r>
            <a:endParaRPr lang="ko-KR" sz="1400"/>
          </a:p>
        </p:txBody>
      </p:sp>
      <p:sp>
        <p:nvSpPr>
          <p:cNvPr id="31" name="Z s 3"/>
          <p:cNvSpPr txBox="1"/>
          <p:nvPr/>
        </p:nvSpPr>
        <p:spPr>
          <a:xfrm>
            <a:off x="9144000" y="269565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감염 또는 감염 위험</a:t>
            </a:r>
            <a:endParaRPr lang="ko-KR" sz="1050"/>
          </a:p>
        </p:txBody>
      </p:sp>
      <p:sp>
        <p:nvSpPr>
          <p:cNvPr id="32" name="Z p 3"/>
          <p:cNvSpPr txBox="1"/>
          <p:nvPr/>
        </p:nvSpPr>
        <p:spPr>
          <a:xfrm>
            <a:off x="9144000" y="308244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Mepilex Ag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AQUACEL Ag+</a:t>
            </a:r>
            <a:endParaRPr lang="ko-KR" sz="1100"/>
          </a:p>
        </p:txBody>
      </p:sp>
      <p:sp>
        <p:nvSpPr>
          <p:cNvPr id="33" name="Z tag 3"/>
          <p:cNvSpPr txBox="1"/>
          <p:nvPr/>
        </p:nvSpPr>
        <p:spPr>
          <a:xfrm>
            <a:off x="941832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C00A3E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경쟁 아님</a:t>
            </a:r>
            <a:endParaRPr lang="ko-KR" sz="1100"/>
          </a:p>
        </p:txBody>
      </p:sp>
      <p:sp>
        <p:nvSpPr>
          <p:cNvPr id="34" name="Indication"/>
          <p:cNvSpPr/>
          <p:nvPr/>
        </p:nvSpPr>
        <p:spPr>
          <a:xfrm>
            <a:off x="502920" y="4930445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Ind label"/>
          <p:cNvSpPr txBox="1"/>
          <p:nvPr/>
        </p:nvSpPr>
        <p:spPr>
          <a:xfrm>
            <a:off x="685800" y="4982017"/>
            <a:ext cx="5120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권장 초기 적응증</a:t>
            </a:r>
            <a:endParaRPr lang="ko-KR" sz="1050"/>
          </a:p>
        </p:txBody>
      </p:sp>
      <p:sp>
        <p:nvSpPr>
          <p:cNvPr id="36" name="Ind text"/>
          <p:cNvSpPr txBox="1"/>
          <p:nvPr/>
        </p:nvSpPr>
        <p:spPr>
          <a:xfrm>
            <a:off x="685800" y="5239878"/>
            <a:ext cx="5212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감염이 조절된 성인 2도 화상 · 진물 적음~중간 · 굴곡 부위</a:t>
            </a:r>
            <a:endParaRPr lang="ko-KR" sz="1250"/>
          </a:p>
        </p:txBody>
      </p:sp>
      <p:sp>
        <p:nvSpPr>
          <p:cNvPr id="37" name="Value"/>
          <p:cNvSpPr/>
          <p:nvPr/>
        </p:nvSpPr>
        <p:spPr>
          <a:xfrm>
            <a:off x="6172200" y="4930445"/>
            <a:ext cx="5513832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8" name="Val label"/>
          <p:cNvSpPr txBox="1"/>
          <p:nvPr/>
        </p:nvSpPr>
        <p:spPr>
          <a:xfrm>
            <a:off x="6355080" y="4982017"/>
            <a:ext cx="5120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임상에서 보여줄 가치</a:t>
            </a:r>
            <a:endParaRPr lang="ko-KR" sz="1050"/>
          </a:p>
        </p:txBody>
      </p:sp>
      <p:sp>
        <p:nvSpPr>
          <p:cNvPr id="39" name="Val 0"/>
          <p:cNvSpPr txBox="1"/>
          <p:nvPr/>
        </p:nvSpPr>
        <p:spPr>
          <a:xfrm>
            <a:off x="635508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피부 재생</a:t>
            </a:r>
            <a:endParaRPr lang="ko-KR" sz="1000"/>
          </a:p>
        </p:txBody>
      </p:sp>
      <p:sp>
        <p:nvSpPr>
          <p:cNvPr id="40" name="Val 1"/>
          <p:cNvSpPr txBox="1"/>
          <p:nvPr/>
        </p:nvSpPr>
        <p:spPr>
          <a:xfrm>
            <a:off x="740664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통증</a:t>
            </a:r>
            <a:endParaRPr lang="ko-KR" sz="1000"/>
          </a:p>
        </p:txBody>
      </p:sp>
      <p:sp>
        <p:nvSpPr>
          <p:cNvPr id="41" name="Val 2"/>
          <p:cNvSpPr txBox="1"/>
          <p:nvPr/>
        </p:nvSpPr>
        <p:spPr>
          <a:xfrm>
            <a:off x="845820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교체 횟수</a:t>
            </a:r>
            <a:endParaRPr lang="ko-KR" sz="1000"/>
          </a:p>
        </p:txBody>
      </p:sp>
      <p:sp>
        <p:nvSpPr>
          <p:cNvPr id="42" name="Val 3"/>
          <p:cNvSpPr txBox="1"/>
          <p:nvPr/>
        </p:nvSpPr>
        <p:spPr>
          <a:xfrm>
            <a:off x="950976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처치 시간</a:t>
            </a:r>
            <a:endParaRPr lang="ko-KR" sz="1000"/>
          </a:p>
        </p:txBody>
      </p:sp>
      <p:sp>
        <p:nvSpPr>
          <p:cNvPr id="43" name="Val 4"/>
          <p:cNvSpPr txBox="1"/>
          <p:nvPr/>
        </p:nvSpPr>
        <p:spPr>
          <a:xfrm>
            <a:off x="1056132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덧대는 드레싱</a:t>
            </a:r>
            <a:endParaRPr lang="ko-KR" sz="1000"/>
          </a:p>
        </p:txBody>
      </p:sp>
      <p:sp>
        <p:nvSpPr>
          <p:cNvPr id="44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5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6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첫 시장 = 감염 없는 성인 2도 화상. 항균이 필요한 상처는 KheAl이 대체하지 않는다</a:t>
            </a:r>
            <a:endParaRPr lang="ko-KR" sz="1250"/>
          </a:p>
        </p:txBody>
      </p:sp>
      <p:sp>
        <p:nvSpPr>
          <p:cNvPr id="47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WoundSource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제조사 제품자료</a:t>
            </a:r>
            <a:endParaRPr lang="ko-KR" sz="75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케라틴 효과 — 실험에선 신호, 사람에선 아직 미확증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KeraStat도 사람 대상 우월성은 입증하지 못함 → 제대로 설계된 비교임상이 KheAl의 차별점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22</a:t>
            </a:r>
            <a:endParaRPr lang="ko-KR" sz="800"/>
          </a:p>
        </p:txBody>
      </p:sp>
      <p:sp>
        <p:nvSpPr>
          <p:cNvPr id="8" name="A"/>
          <p:cNvSpPr/>
          <p:nvPr/>
        </p:nvSpPr>
        <p:spPr>
          <a:xfrm>
            <a:off x="502920" y="1664208"/>
            <a:ext cx="3639312" cy="2191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A t"/>
          <p:cNvSpPr txBox="1"/>
          <p:nvPr/>
        </p:nvSpPr>
        <p:spPr>
          <a:xfrm>
            <a:off x="640080" y="1732971"/>
            <a:ext cx="222199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동물 · 돼지 심부 2도 화상</a:t>
            </a:r>
            <a:endParaRPr lang="ko-KR" sz="1150"/>
          </a:p>
        </p:txBody>
      </p:sp>
      <p:sp>
        <p:nvSpPr>
          <p:cNvPr id="10" name="A st"/>
          <p:cNvSpPr txBox="1"/>
          <p:nvPr/>
        </p:nvSpPr>
        <p:spPr>
          <a:xfrm>
            <a:off x="2862072" y="1758757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신호 · 한계</a:t>
            </a:r>
            <a:endParaRPr lang="ko-KR" sz="950"/>
          </a:p>
        </p:txBody>
      </p:sp>
      <p:sp>
        <p:nvSpPr>
          <p:cNvPr id="11" name="A cap"/>
          <p:cNvSpPr txBox="1"/>
          <p:nvPr/>
        </p:nvSpPr>
        <p:spPr>
          <a:xfrm>
            <a:off x="640080" y="2008022"/>
            <a:ext cx="3364992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상처가 닫히기까지 걸린 일수 (짧을수록 좋음)</a:t>
            </a:r>
            <a:endParaRPr lang="ko-KR" sz="950"/>
          </a:p>
        </p:txBody>
      </p:sp>
      <p:sp>
        <p:nvSpPr>
          <p:cNvPr id="12" name="A l0"/>
          <p:cNvSpPr txBox="1"/>
          <p:nvPr/>
        </p:nvSpPr>
        <p:spPr>
          <a:xfrm>
            <a:off x="640080" y="2283074"/>
            <a:ext cx="109728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콜라겐 겔</a:t>
            </a:r>
            <a:endParaRPr lang="ko-KR" sz="1050"/>
          </a:p>
        </p:txBody>
      </p:sp>
      <p:sp>
        <p:nvSpPr>
          <p:cNvPr id="13" name="A b0"/>
          <p:cNvSpPr/>
          <p:nvPr/>
        </p:nvSpPr>
        <p:spPr>
          <a:xfrm>
            <a:off x="1737360" y="2308860"/>
            <a:ext cx="1106424" cy="257861"/>
          </a:xfrm>
          <a:prstGeom prst="rect">
            <a:avLst/>
          </a:prstGeom>
          <a:solidFill>
            <a:srgbClr val="6F8BD8"/>
          </a:solidFill>
          <a:ln>
            <a:noFill/>
          </a:ln>
        </p:spPr>
      </p:sp>
      <p:sp>
        <p:nvSpPr>
          <p:cNvPr id="14" name="A v0"/>
          <p:cNvSpPr txBox="1"/>
          <p:nvPr/>
        </p:nvSpPr>
        <p:spPr>
          <a:xfrm>
            <a:off x="2898648" y="2283074"/>
            <a:ext cx="68580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24.2일</a:t>
            </a:r>
            <a:endParaRPr lang="ko-KR" sz="1200"/>
          </a:p>
        </p:txBody>
      </p:sp>
      <p:sp>
        <p:nvSpPr>
          <p:cNvPr id="15" name="A l1"/>
          <p:cNvSpPr txBox="1"/>
          <p:nvPr/>
        </p:nvSpPr>
        <p:spPr>
          <a:xfrm>
            <a:off x="640080" y="2678460"/>
            <a:ext cx="109728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케라틴 겔</a:t>
            </a:r>
            <a:endParaRPr lang="ko-KR" sz="1050"/>
          </a:p>
        </p:txBody>
      </p:sp>
      <p:sp>
        <p:nvSpPr>
          <p:cNvPr id="16" name="A b1"/>
          <p:cNvSpPr/>
          <p:nvPr/>
        </p:nvSpPr>
        <p:spPr>
          <a:xfrm>
            <a:off x="1737360" y="2704247"/>
            <a:ext cx="1143000" cy="257861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7" name="A v1"/>
          <p:cNvSpPr txBox="1"/>
          <p:nvPr/>
        </p:nvSpPr>
        <p:spPr>
          <a:xfrm>
            <a:off x="2935224" y="2678460"/>
            <a:ext cx="68580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25.0일</a:t>
            </a:r>
            <a:endParaRPr lang="ko-KR" sz="1200"/>
          </a:p>
        </p:txBody>
      </p:sp>
      <p:sp>
        <p:nvSpPr>
          <p:cNvPr id="18" name="A l2"/>
          <p:cNvSpPr txBox="1"/>
          <p:nvPr/>
        </p:nvSpPr>
        <p:spPr>
          <a:xfrm>
            <a:off x="640080" y="3073847"/>
            <a:ext cx="109728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은연고 (SSD)</a:t>
            </a:r>
            <a:endParaRPr lang="ko-KR" sz="1050"/>
          </a:p>
        </p:txBody>
      </p:sp>
      <p:sp>
        <p:nvSpPr>
          <p:cNvPr id="19" name="A b2"/>
          <p:cNvSpPr/>
          <p:nvPr/>
        </p:nvSpPr>
        <p:spPr>
          <a:xfrm>
            <a:off x="1737360" y="3099633"/>
            <a:ext cx="1581912" cy="257861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20" name="A v2"/>
          <p:cNvSpPr txBox="1"/>
          <p:nvPr/>
        </p:nvSpPr>
        <p:spPr>
          <a:xfrm>
            <a:off x="3374136" y="3073847"/>
            <a:ext cx="68580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C9CCD6"/>
                </a:solidFill>
                <a:latin typeface="210 옴니고딕 050"/>
                <a:ea typeface="210 옴니고딕 050"/>
                <a:cs typeface="210 옴니고딕 050"/>
              </a:rPr>
              <a:t>34.6일</a:t>
            </a:r>
            <a:endParaRPr lang="ko-KR" sz="1200"/>
          </a:p>
        </p:txBody>
      </p:sp>
      <p:sp>
        <p:nvSpPr>
          <p:cNvPr id="21" name="A note"/>
          <p:cNvSpPr txBox="1"/>
          <p:nvPr/>
        </p:nvSpPr>
        <p:spPr>
          <a:xfrm>
            <a:off x="640080" y="3512210"/>
            <a:ext cx="3364992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케라틴 ≈ 콜라겐 → 케라틴만의 우위는 아님</a:t>
            </a:r>
            <a:endParaRPr lang="ko-KR" sz="1000"/>
          </a:p>
        </p:txBody>
      </p:sp>
      <p:sp>
        <p:nvSpPr>
          <p:cNvPr id="22" name="B"/>
          <p:cNvSpPr/>
          <p:nvPr/>
        </p:nvSpPr>
        <p:spPr>
          <a:xfrm>
            <a:off x="4274820" y="1664208"/>
            <a:ext cx="3639312" cy="2191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3" name="B t"/>
          <p:cNvSpPr txBox="1"/>
          <p:nvPr/>
        </p:nvSpPr>
        <p:spPr>
          <a:xfrm>
            <a:off x="4411980" y="1732971"/>
            <a:ext cx="222199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· 유방 방사선피부염</a:t>
            </a:r>
            <a:endParaRPr lang="ko-KR" sz="1150"/>
          </a:p>
        </p:txBody>
      </p:sp>
      <p:sp>
        <p:nvSpPr>
          <p:cNvPr id="24" name="B st"/>
          <p:cNvSpPr txBox="1"/>
          <p:nvPr/>
        </p:nvSpPr>
        <p:spPr>
          <a:xfrm>
            <a:off x="6633972" y="1758757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유의차 없음</a:t>
            </a:r>
            <a:endParaRPr lang="ko-KR" sz="950"/>
          </a:p>
        </p:txBody>
      </p:sp>
      <p:sp>
        <p:nvSpPr>
          <p:cNvPr id="25" name="B cap"/>
          <p:cNvSpPr txBox="1"/>
          <p:nvPr/>
        </p:nvSpPr>
        <p:spPr>
          <a:xfrm>
            <a:off x="4411980" y="2008022"/>
            <a:ext cx="3364992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2도 피부염 발생률 (낮을수록 좋음)</a:t>
            </a:r>
            <a:endParaRPr lang="ko-KR" sz="950"/>
          </a:p>
        </p:txBody>
      </p:sp>
      <p:sp>
        <p:nvSpPr>
          <p:cNvPr id="26" name="B b0"/>
          <p:cNvSpPr/>
          <p:nvPr/>
        </p:nvSpPr>
        <p:spPr>
          <a:xfrm>
            <a:off x="5033132" y="2884434"/>
            <a:ext cx="668792" cy="412893"/>
          </a:xfrm>
          <a:prstGeom prst="rect">
            <a:avLst/>
          </a:prstGeom>
          <a:solidFill>
            <a:srgbClr val="C00A3E"/>
          </a:solidFill>
          <a:ln>
            <a:noFill/>
          </a:ln>
        </p:spPr>
      </p:sp>
      <p:sp>
        <p:nvSpPr>
          <p:cNvPr id="27" name="B v0"/>
          <p:cNvSpPr txBox="1"/>
          <p:nvPr/>
        </p:nvSpPr>
        <p:spPr>
          <a:xfrm>
            <a:off x="4640580" y="2575001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30.8%</a:t>
            </a:r>
            <a:endParaRPr lang="ko-KR" sz="1600"/>
          </a:p>
        </p:txBody>
      </p:sp>
      <p:sp>
        <p:nvSpPr>
          <p:cNvPr id="28" name="B l0"/>
          <p:cNvSpPr txBox="1"/>
          <p:nvPr/>
        </p:nvSpPr>
        <p:spPr>
          <a:xfrm>
            <a:off x="4640580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</a:t>
            </a:r>
            <a:endParaRPr lang="ko-KR" sz="1000"/>
          </a:p>
        </p:txBody>
      </p:sp>
      <p:sp>
        <p:nvSpPr>
          <p:cNvPr id="29" name="B b1"/>
          <p:cNvSpPr/>
          <p:nvPr/>
        </p:nvSpPr>
        <p:spPr>
          <a:xfrm>
            <a:off x="6487028" y="2566721"/>
            <a:ext cx="668792" cy="730606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30" name="B v1"/>
          <p:cNvSpPr txBox="1"/>
          <p:nvPr/>
        </p:nvSpPr>
        <p:spPr>
          <a:xfrm>
            <a:off x="6094476" y="2257288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C9CCD6"/>
                </a:solidFill>
                <a:latin typeface="210 옴니고딕 050"/>
                <a:ea typeface="210 옴니고딕 050"/>
                <a:cs typeface="210 옴니고딕 050"/>
              </a:rPr>
              <a:t>54.5%</a:t>
            </a:r>
            <a:endParaRPr lang="ko-KR" sz="1600"/>
          </a:p>
        </p:txBody>
      </p:sp>
      <p:sp>
        <p:nvSpPr>
          <p:cNvPr id="31" name="B l1"/>
          <p:cNvSpPr txBox="1"/>
          <p:nvPr/>
        </p:nvSpPr>
        <p:spPr>
          <a:xfrm>
            <a:off x="6094476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표준관리</a:t>
            </a:r>
            <a:endParaRPr lang="ko-KR" sz="1000"/>
          </a:p>
        </p:txBody>
      </p:sp>
      <p:sp>
        <p:nvSpPr>
          <p:cNvPr id="32" name="B base"/>
          <p:cNvSpPr/>
          <p:nvPr/>
        </p:nvSpPr>
        <p:spPr>
          <a:xfrm>
            <a:off x="4640580" y="3297326"/>
            <a:ext cx="2907792" cy="17191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33" name="B note"/>
          <p:cNvSpPr txBox="1"/>
          <p:nvPr/>
        </p:nvSpPr>
        <p:spPr>
          <a:xfrm>
            <a:off x="4411980" y="3572378"/>
            <a:ext cx="3364992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KeraStat Cream · 24명 · p = 0.408 → 차이 없음</a:t>
            </a:r>
            <a:endParaRPr lang="ko-KR" sz="1000"/>
          </a:p>
        </p:txBody>
      </p:sp>
      <p:sp>
        <p:nvSpPr>
          <p:cNvPr id="34" name="C"/>
          <p:cNvSpPr/>
          <p:nvPr/>
        </p:nvSpPr>
        <p:spPr>
          <a:xfrm>
            <a:off x="8046720" y="1664208"/>
            <a:ext cx="3639312" cy="2191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C t"/>
          <p:cNvSpPr txBox="1"/>
          <p:nvPr/>
        </p:nvSpPr>
        <p:spPr>
          <a:xfrm>
            <a:off x="8183880" y="1732971"/>
            <a:ext cx="222199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· 당뇨발 (ProgenaMatrix)</a:t>
            </a:r>
            <a:endParaRPr lang="ko-KR" sz="1150"/>
          </a:p>
        </p:txBody>
      </p:sp>
      <p:sp>
        <p:nvSpPr>
          <p:cNvPr id="36" name="C st"/>
          <p:cNvSpPr txBox="1"/>
          <p:nvPr/>
        </p:nvSpPr>
        <p:spPr>
          <a:xfrm>
            <a:off x="10405872" y="1758757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비교군 없음</a:t>
            </a:r>
            <a:endParaRPr lang="ko-KR" sz="950"/>
          </a:p>
        </p:txBody>
      </p:sp>
      <p:sp>
        <p:nvSpPr>
          <p:cNvPr id="37" name="C cap"/>
          <p:cNvSpPr txBox="1"/>
          <p:nvPr/>
        </p:nvSpPr>
        <p:spPr>
          <a:xfrm>
            <a:off x="8183880" y="2008022"/>
            <a:ext cx="3364992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12주 내 치유율</a:t>
            </a:r>
            <a:endParaRPr lang="ko-KR" sz="950"/>
          </a:p>
        </p:txBody>
      </p:sp>
      <p:sp>
        <p:nvSpPr>
          <p:cNvPr id="38" name="C b0"/>
          <p:cNvSpPr/>
          <p:nvPr/>
        </p:nvSpPr>
        <p:spPr>
          <a:xfrm>
            <a:off x="8805032" y="2566721"/>
            <a:ext cx="668792" cy="730606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9" name="C v0"/>
          <p:cNvSpPr txBox="1"/>
          <p:nvPr/>
        </p:nvSpPr>
        <p:spPr>
          <a:xfrm>
            <a:off x="8412480" y="2257288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77%</a:t>
            </a:r>
            <a:endParaRPr lang="ko-KR" sz="1600"/>
          </a:p>
        </p:txBody>
      </p:sp>
      <p:sp>
        <p:nvSpPr>
          <p:cNvPr id="40" name="C l0"/>
          <p:cNvSpPr txBox="1"/>
          <p:nvPr/>
        </p:nvSpPr>
        <p:spPr>
          <a:xfrm>
            <a:off x="8412480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주 1회</a:t>
            </a:r>
            <a:endParaRPr lang="ko-KR" sz="1000"/>
          </a:p>
        </p:txBody>
      </p:sp>
      <p:sp>
        <p:nvSpPr>
          <p:cNvPr id="41" name="C b1"/>
          <p:cNvSpPr/>
          <p:nvPr/>
        </p:nvSpPr>
        <p:spPr>
          <a:xfrm>
            <a:off x="10258928" y="2642628"/>
            <a:ext cx="668792" cy="654699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42" name="C v1"/>
          <p:cNvSpPr txBox="1"/>
          <p:nvPr/>
        </p:nvSpPr>
        <p:spPr>
          <a:xfrm>
            <a:off x="9866376" y="2333195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9BAAE0"/>
                </a:solidFill>
                <a:latin typeface="210 옴니고딕 050"/>
                <a:ea typeface="210 옴니고딕 050"/>
                <a:cs typeface="210 옴니고딕 050"/>
              </a:rPr>
              <a:t>69%</a:t>
            </a:r>
            <a:endParaRPr lang="ko-KR" sz="1600"/>
          </a:p>
        </p:txBody>
      </p:sp>
      <p:sp>
        <p:nvSpPr>
          <p:cNvPr id="43" name="C l1"/>
          <p:cNvSpPr txBox="1"/>
          <p:nvPr/>
        </p:nvSpPr>
        <p:spPr>
          <a:xfrm>
            <a:off x="9866376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격주</a:t>
            </a:r>
            <a:endParaRPr lang="ko-KR" sz="1000"/>
          </a:p>
        </p:txBody>
      </p:sp>
      <p:sp>
        <p:nvSpPr>
          <p:cNvPr id="44" name="C base"/>
          <p:cNvSpPr/>
          <p:nvPr/>
        </p:nvSpPr>
        <p:spPr>
          <a:xfrm>
            <a:off x="8412480" y="3297326"/>
            <a:ext cx="2907792" cy="17191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45" name="C note"/>
          <p:cNvSpPr txBox="1"/>
          <p:nvPr/>
        </p:nvSpPr>
        <p:spPr>
          <a:xfrm>
            <a:off x="8183880" y="3572378"/>
            <a:ext cx="3364992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26명 · 표준치료 단독 대조군 없음</a:t>
            </a:r>
            <a:endParaRPr lang="ko-KR" sz="1000"/>
          </a:p>
        </p:txBody>
      </p:sp>
      <p:sp>
        <p:nvSpPr>
          <p:cNvPr id="46" name="D"/>
          <p:cNvSpPr/>
          <p:nvPr/>
        </p:nvSpPr>
        <p:spPr>
          <a:xfrm>
            <a:off x="502920" y="3984955"/>
            <a:ext cx="5486400" cy="17018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7" name="D t"/>
          <p:cNvSpPr txBox="1"/>
          <p:nvPr/>
        </p:nvSpPr>
        <p:spPr>
          <a:xfrm>
            <a:off x="640080" y="4053718"/>
            <a:ext cx="4069080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· 부분층 화상 (KeraStat Gel)</a:t>
            </a:r>
            <a:endParaRPr lang="ko-KR" sz="1150"/>
          </a:p>
        </p:txBody>
      </p:sp>
      <p:sp>
        <p:nvSpPr>
          <p:cNvPr id="48" name="D st"/>
          <p:cNvSpPr txBox="1"/>
          <p:nvPr/>
        </p:nvSpPr>
        <p:spPr>
          <a:xfrm>
            <a:off x="4709160" y="4079504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조기 종료</a:t>
            </a:r>
            <a:endParaRPr lang="ko-KR" sz="950"/>
          </a:p>
        </p:txBody>
      </p:sp>
      <p:sp>
        <p:nvSpPr>
          <p:cNvPr id="49" name="D cap"/>
          <p:cNvSpPr txBox="1"/>
          <p:nvPr/>
        </p:nvSpPr>
        <p:spPr>
          <a:xfrm>
            <a:off x="640080" y="4328770"/>
            <a:ext cx="521208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모집 인원 (계획 대비 실제)</a:t>
            </a:r>
            <a:endParaRPr lang="ko-KR" sz="950"/>
          </a:p>
        </p:txBody>
      </p:sp>
      <p:sp>
        <p:nvSpPr>
          <p:cNvPr id="50" name="D track"/>
          <p:cNvSpPr/>
          <p:nvPr/>
        </p:nvSpPr>
        <p:spPr>
          <a:xfrm>
            <a:off x="640080" y="4629607"/>
            <a:ext cx="5212080" cy="361005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51" name="D bar"/>
          <p:cNvSpPr/>
          <p:nvPr/>
        </p:nvSpPr>
        <p:spPr>
          <a:xfrm>
            <a:off x="640080" y="4629607"/>
            <a:ext cx="2432304" cy="361005"/>
          </a:xfrm>
          <a:prstGeom prst="roundRect">
            <a:avLst>
              <a:gd name="adj" fmla="val 50000"/>
            </a:avLst>
          </a:prstGeom>
          <a:solidFill>
            <a:srgbClr val="C00A3E"/>
          </a:solidFill>
          <a:ln>
            <a:noFill/>
          </a:ln>
        </p:spPr>
      </p:sp>
      <p:sp>
        <p:nvSpPr>
          <p:cNvPr id="52" name="D v"/>
          <p:cNvSpPr txBox="1"/>
          <p:nvPr/>
        </p:nvSpPr>
        <p:spPr>
          <a:xfrm>
            <a:off x="731520" y="4629607"/>
            <a:ext cx="22860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14명 등록 (47%)</a:t>
            </a:r>
            <a:endParaRPr lang="ko-KR" sz="1200"/>
          </a:p>
        </p:txBody>
      </p:sp>
      <p:sp>
        <p:nvSpPr>
          <p:cNvPr id="53" name="D plan"/>
          <p:cNvSpPr txBox="1"/>
          <p:nvPr/>
        </p:nvSpPr>
        <p:spPr>
          <a:xfrm>
            <a:off x="4389120" y="4629607"/>
            <a:ext cx="13716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계획 30명</a:t>
            </a:r>
            <a:endParaRPr lang="ko-KR" sz="1100"/>
          </a:p>
        </p:txBody>
      </p:sp>
      <p:sp>
        <p:nvSpPr>
          <p:cNvPr id="54" name="D note"/>
          <p:cNvSpPr txBox="1"/>
          <p:nvPr/>
        </p:nvSpPr>
        <p:spPr>
          <a:xfrm>
            <a:off x="640080" y="5102352"/>
            <a:ext cx="521208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모집 부진으로 종료 → 유효성 판단에 필요한 표본 부족</a:t>
            </a:r>
            <a:endParaRPr lang="ko-KR" sz="1050"/>
          </a:p>
        </p:txBody>
      </p:sp>
      <p:sp>
        <p:nvSpPr>
          <p:cNvPr id="55" name="E"/>
          <p:cNvSpPr/>
          <p:nvPr/>
        </p:nvSpPr>
        <p:spPr>
          <a:xfrm>
            <a:off x="6126480" y="3984955"/>
            <a:ext cx="5559552" cy="17018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56" name="E t"/>
          <p:cNvSpPr txBox="1"/>
          <p:nvPr/>
        </p:nvSpPr>
        <p:spPr>
          <a:xfrm>
            <a:off x="6263640" y="4053718"/>
            <a:ext cx="528523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그 외 근거</a:t>
            </a:r>
            <a:endParaRPr lang="ko-KR" sz="1150"/>
          </a:p>
        </p:txBody>
      </p:sp>
      <p:sp>
        <p:nvSpPr>
          <p:cNvPr id="57" name="E st 0"/>
          <p:cNvSpPr txBox="1"/>
          <p:nvPr/>
        </p:nvSpPr>
        <p:spPr>
          <a:xfrm>
            <a:off x="6263640" y="4449105"/>
            <a:ext cx="960120" cy="257861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신호 있음</a:t>
            </a:r>
            <a:endParaRPr lang="ko-KR" sz="900"/>
          </a:p>
        </p:txBody>
      </p:sp>
      <p:sp>
        <p:nvSpPr>
          <p:cNvPr id="58" name="E h 0"/>
          <p:cNvSpPr txBox="1"/>
          <p:nvPr/>
        </p:nvSpPr>
        <p:spPr>
          <a:xfrm>
            <a:off x="7315200" y="4397532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세포 실험</a:t>
            </a:r>
            <a:endParaRPr lang="ko-KR" sz="1050"/>
          </a:p>
        </p:txBody>
      </p:sp>
      <p:sp>
        <p:nvSpPr>
          <p:cNvPr id="59" name="E b 0"/>
          <p:cNvSpPr txBox="1"/>
          <p:nvPr/>
        </p:nvSpPr>
        <p:spPr>
          <a:xfrm>
            <a:off x="8915400" y="4397532"/>
            <a:ext cx="2679192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열 손상 세포 생존 개선 · 염증 줄이는 면역세포(M2) 반응</a:t>
            </a:r>
            <a:endParaRPr lang="ko-KR" sz="950"/>
          </a:p>
        </p:txBody>
      </p:sp>
      <p:sp>
        <p:nvSpPr>
          <p:cNvPr id="60" name="E st 1"/>
          <p:cNvSpPr txBox="1"/>
          <p:nvPr/>
        </p:nvSpPr>
        <p:spPr>
          <a:xfrm>
            <a:off x="6263640" y="4861682"/>
            <a:ext cx="960120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차이 없음</a:t>
            </a:r>
            <a:endParaRPr lang="ko-KR" sz="900"/>
          </a:p>
        </p:txBody>
      </p:sp>
      <p:sp>
        <p:nvSpPr>
          <p:cNvPr id="61" name="E h 1"/>
          <p:cNvSpPr txBox="1"/>
          <p:nvPr/>
        </p:nvSpPr>
        <p:spPr>
          <a:xfrm>
            <a:off x="7315200" y="4810110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두경부 방사선피부염</a:t>
            </a:r>
            <a:endParaRPr lang="ko-KR" sz="1050"/>
          </a:p>
        </p:txBody>
      </p:sp>
      <p:sp>
        <p:nvSpPr>
          <p:cNvPr id="62" name="E b 1"/>
          <p:cNvSpPr txBox="1"/>
          <p:nvPr/>
        </p:nvSpPr>
        <p:spPr>
          <a:xfrm>
            <a:off x="8915400" y="4810110"/>
            <a:ext cx="2679192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KeraStat Cream vs 표준관리 · 24명</a:t>
            </a:r>
            <a:endParaRPr lang="ko-KR" sz="950"/>
          </a:p>
        </p:txBody>
      </p:sp>
      <p:sp>
        <p:nvSpPr>
          <p:cNvPr id="63" name="E st 2"/>
          <p:cNvSpPr txBox="1"/>
          <p:nvPr/>
        </p:nvSpPr>
        <p:spPr>
          <a:xfrm>
            <a:off x="6263640" y="5274259"/>
            <a:ext cx="960120" cy="257861"/>
          </a:xfrm>
          <a:prstGeom prst="roundRect">
            <a:avLst>
              <a:gd name="adj" fmla="val 16000"/>
            </a:avLst>
          </a:prstGeom>
          <a:solidFill>
            <a:srgbClr val="ECEDF1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기능만</a:t>
            </a:r>
            <a:endParaRPr lang="ko-KR" sz="900"/>
          </a:p>
        </p:txBody>
      </p:sp>
      <p:sp>
        <p:nvSpPr>
          <p:cNvPr id="64" name="E h 2"/>
          <p:cNvSpPr txBox="1"/>
          <p:nvPr/>
        </p:nvSpPr>
        <p:spPr>
          <a:xfrm>
            <a:off x="7315200" y="5222687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FDA 인정 작용</a:t>
            </a:r>
            <a:endParaRPr lang="ko-KR" sz="1050"/>
          </a:p>
        </p:txBody>
      </p:sp>
      <p:sp>
        <p:nvSpPr>
          <p:cNvPr id="65" name="E b 2"/>
          <p:cNvSpPr txBox="1"/>
          <p:nvPr/>
        </p:nvSpPr>
        <p:spPr>
          <a:xfrm>
            <a:off x="8915400" y="5222687"/>
            <a:ext cx="2679192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보호 · 흡수 · 습윤환경 — 약효(재생 촉진) 인정 아님</a:t>
            </a:r>
            <a:endParaRPr lang="ko-KR" sz="950"/>
          </a:p>
        </p:txBody>
      </p:sp>
      <p:sp>
        <p:nvSpPr>
          <p:cNvPr id="66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67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68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기회: 같은 적응증 · 충분한 환자 수 · 명확한 비교군 · 사전 정의한 재상피화 평가로 ‘확증 근거’를 만든다</a:t>
            </a:r>
            <a:endParaRPr lang="ko-KR" sz="1250"/>
          </a:p>
        </p:txBody>
      </p:sp>
      <p:sp>
        <p:nvSpPr>
          <p:cNvPr id="6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Poranki 2014 (세포)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Waters 2018 (대식세포)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Poranki 2016 (돼지 화상)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Breast RD Pilot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Head &amp; Neck RD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ProgenaMatrix DFU</a:t>
            </a:r>
            <a:endParaRPr lang="ko-KR" sz="75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검증 4단계 — 케라틴의 기여는 따로 증명한다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임상시험은 완제품 성능만 보여줌 → 케라틴의 몫은 ‘케라틴을 뺀 조성’과 비교해야 분리됨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23</a:t>
            </a:r>
            <a:endParaRPr lang="ko-KR" sz="800"/>
          </a:p>
        </p:txBody>
      </p:sp>
      <p:sp>
        <p:nvSpPr>
          <p:cNvPr id="8" name="Product card"/>
          <p:cNvSpPr/>
          <p:nvPr/>
        </p:nvSpPr>
        <p:spPr>
          <a:xfrm>
            <a:off x="502920" y="1664208"/>
            <a:ext cx="283464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9" name="KheAl product" descr="KheA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716890" y="1879092"/>
            <a:ext cx="2406701" cy="1805026"/>
          </a:xfrm>
          <a:prstGeom prst="rect">
            <a:avLst/>
          </a:prstGeom>
        </p:spPr>
      </p:pic>
      <p:sp>
        <p:nvSpPr>
          <p:cNvPr id="10" name="Prod name"/>
          <p:cNvSpPr txBox="1"/>
          <p:nvPr/>
        </p:nvSpPr>
        <p:spPr>
          <a:xfrm>
            <a:off x="502920" y="3813048"/>
            <a:ext cx="28346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완제품</a:t>
            </a:r>
            <a:endParaRPr lang="ko-KR" sz="1400"/>
          </a:p>
        </p:txBody>
      </p:sp>
      <p:sp>
        <p:nvSpPr>
          <p:cNvPr id="11" name="Prod comp"/>
          <p:cNvSpPr txBox="1"/>
          <p:nvPr/>
        </p:nvSpPr>
        <p:spPr>
          <a:xfrm>
            <a:off x="502920" y="4156862"/>
            <a:ext cx="2834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Keratin + Alginate + HA</a:t>
            </a:r>
            <a:endParaRPr lang="ko-KR" sz="1100"/>
          </a:p>
        </p:txBody>
      </p:sp>
      <p:sp>
        <p:nvSpPr>
          <p:cNvPr id="12" name="Prod note"/>
          <p:cNvSpPr txBox="1"/>
          <p:nvPr/>
        </p:nvSpPr>
        <p:spPr>
          <a:xfrm>
            <a:off x="685800" y="4629607"/>
            <a:ext cx="2468880" cy="816559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보호·습윤은 알지네이트·HA만으로도 가능 → 케라틴의 추가 효과를 보여줘야 차별화</a:t>
            </a:r>
            <a:endParaRPr lang="ko-KR" sz="1050"/>
          </a:p>
        </p:txBody>
      </p:sp>
      <p:sp>
        <p:nvSpPr>
          <p:cNvPr id="13" name="Row 0"/>
          <p:cNvSpPr/>
          <p:nvPr/>
        </p:nvSpPr>
        <p:spPr>
          <a:xfrm>
            <a:off x="3520440" y="1664208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Row num 0"/>
          <p:cNvSpPr txBox="1"/>
          <p:nvPr/>
        </p:nvSpPr>
        <p:spPr>
          <a:xfrm>
            <a:off x="3703320" y="1904878"/>
            <a:ext cx="457200" cy="429768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300"/>
          </a:p>
        </p:txBody>
      </p:sp>
      <p:sp>
        <p:nvSpPr>
          <p:cNvPr id="15" name="Row t 0"/>
          <p:cNvSpPr txBox="1"/>
          <p:nvPr/>
        </p:nvSpPr>
        <p:spPr>
          <a:xfrm>
            <a:off x="4343400" y="1750162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품질</a:t>
            </a:r>
            <a:endParaRPr lang="ko-KR" sz="1400"/>
          </a:p>
        </p:txBody>
      </p:sp>
      <p:sp>
        <p:nvSpPr>
          <p:cNvPr id="16" name="Row q 0"/>
          <p:cNvSpPr txBox="1"/>
          <p:nvPr/>
        </p:nvSpPr>
        <p:spPr>
          <a:xfrm>
            <a:off x="6126480" y="1750162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멸균·보관 후에도 케라틴 특성이 유지되나?</a:t>
            </a:r>
            <a:endParaRPr lang="ko-KR" sz="1200"/>
          </a:p>
        </p:txBody>
      </p:sp>
      <p:sp>
        <p:nvSpPr>
          <p:cNvPr id="17" name="Row m 0"/>
          <p:cNvSpPr txBox="1"/>
          <p:nvPr/>
        </p:nvSpPr>
        <p:spPr>
          <a:xfrm>
            <a:off x="9326880" y="1887687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분석 · 완제품 비교</a:t>
            </a:r>
            <a:endParaRPr lang="ko-KR" sz="1000"/>
          </a:p>
        </p:txBody>
      </p:sp>
      <p:sp>
        <p:nvSpPr>
          <p:cNvPr id="18" name="Row 1"/>
          <p:cNvSpPr/>
          <p:nvPr/>
        </p:nvSpPr>
        <p:spPr>
          <a:xfrm>
            <a:off x="3520440" y="2678460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Row num 1"/>
          <p:cNvSpPr txBox="1"/>
          <p:nvPr/>
        </p:nvSpPr>
        <p:spPr>
          <a:xfrm>
            <a:off x="3703320" y="2919131"/>
            <a:ext cx="457200" cy="4297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300"/>
          </a:p>
        </p:txBody>
      </p:sp>
      <p:sp>
        <p:nvSpPr>
          <p:cNvPr id="20" name="Row t 1"/>
          <p:cNvSpPr txBox="1"/>
          <p:nvPr/>
        </p:nvSpPr>
        <p:spPr>
          <a:xfrm>
            <a:off x="4343400" y="2764414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400"/>
          </a:p>
        </p:txBody>
      </p:sp>
      <p:sp>
        <p:nvSpPr>
          <p:cNvPr id="21" name="Row q 1"/>
          <p:cNvSpPr txBox="1"/>
          <p:nvPr/>
        </p:nvSpPr>
        <p:spPr>
          <a:xfrm>
            <a:off x="6126480" y="2764414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케라틴을 뺀 조성보다 세포·면역 반응이 더 좋은가?</a:t>
            </a:r>
            <a:endParaRPr lang="ko-KR" sz="1200"/>
          </a:p>
        </p:txBody>
      </p:sp>
      <p:sp>
        <p:nvSpPr>
          <p:cNvPr id="22" name="Row m 1"/>
          <p:cNvSpPr txBox="1"/>
          <p:nvPr/>
        </p:nvSpPr>
        <p:spPr>
          <a:xfrm>
            <a:off x="9326880" y="2901940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F1E8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KheAl vs 알지네이트+HA vs 케라틴 단독</a:t>
            </a:r>
            <a:endParaRPr lang="ko-KR" sz="1000"/>
          </a:p>
        </p:txBody>
      </p:sp>
      <p:sp>
        <p:nvSpPr>
          <p:cNvPr id="23" name="Row 2"/>
          <p:cNvSpPr/>
          <p:nvPr/>
        </p:nvSpPr>
        <p:spPr>
          <a:xfrm>
            <a:off x="3520440" y="3692713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4" name="Row num 2"/>
          <p:cNvSpPr txBox="1"/>
          <p:nvPr/>
        </p:nvSpPr>
        <p:spPr>
          <a:xfrm>
            <a:off x="3703320" y="3933383"/>
            <a:ext cx="457200" cy="429768"/>
          </a:xfrm>
          <a:prstGeom prst="ellipse">
            <a:avLst/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300"/>
          </a:p>
        </p:txBody>
      </p:sp>
      <p:sp>
        <p:nvSpPr>
          <p:cNvPr id="25" name="Row t 2"/>
          <p:cNvSpPr txBox="1"/>
          <p:nvPr/>
        </p:nvSpPr>
        <p:spPr>
          <a:xfrm>
            <a:off x="4343400" y="3778667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400"/>
          </a:p>
        </p:txBody>
      </p:sp>
      <p:sp>
        <p:nvSpPr>
          <p:cNvPr id="26" name="Row q 2"/>
          <p:cNvSpPr txBox="1"/>
          <p:nvPr/>
        </p:nvSpPr>
        <p:spPr>
          <a:xfrm>
            <a:off x="6126480" y="3778667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흡수·보습·바르기·잔류·제거가 더 나은가?</a:t>
            </a:r>
            <a:endParaRPr lang="ko-KR" sz="1200"/>
          </a:p>
        </p:txBody>
      </p:sp>
      <p:sp>
        <p:nvSpPr>
          <p:cNvPr id="27" name="Row m 2"/>
          <p:cNvSpPr txBox="1"/>
          <p:nvPr/>
        </p:nvSpPr>
        <p:spPr>
          <a:xfrm>
            <a:off x="9326880" y="3916192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실험실 · 사용성 비교</a:t>
            </a:r>
            <a:endParaRPr lang="ko-KR" sz="1000"/>
          </a:p>
        </p:txBody>
      </p:sp>
      <p:sp>
        <p:nvSpPr>
          <p:cNvPr id="28" name="Row 3"/>
          <p:cNvSpPr/>
          <p:nvPr/>
        </p:nvSpPr>
        <p:spPr>
          <a:xfrm>
            <a:off x="3520440" y="4706965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Row num 3"/>
          <p:cNvSpPr txBox="1"/>
          <p:nvPr/>
        </p:nvSpPr>
        <p:spPr>
          <a:xfrm>
            <a:off x="3703320" y="4947636"/>
            <a:ext cx="457200" cy="429768"/>
          </a:xfrm>
          <a:prstGeom prst="ellipse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</a:t>
            </a:r>
            <a:endParaRPr lang="ko-KR" sz="1300"/>
          </a:p>
        </p:txBody>
      </p:sp>
      <p:sp>
        <p:nvSpPr>
          <p:cNvPr id="30" name="Row t 3"/>
          <p:cNvSpPr txBox="1"/>
          <p:nvPr/>
        </p:nvSpPr>
        <p:spPr>
          <a:xfrm>
            <a:off x="4343400" y="4792919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임상 효과</a:t>
            </a:r>
            <a:endParaRPr lang="ko-KR" sz="1400"/>
          </a:p>
        </p:txBody>
      </p:sp>
      <p:sp>
        <p:nvSpPr>
          <p:cNvPr id="31" name="Row q 3"/>
          <p:cNvSpPr txBox="1"/>
          <p:nvPr/>
        </p:nvSpPr>
        <p:spPr>
          <a:xfrm>
            <a:off x="6126480" y="4792919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피부 재생·통증·교체 횟수·처치 시간이 나아지나?</a:t>
            </a:r>
            <a:endParaRPr lang="ko-KR" sz="1200"/>
          </a:p>
        </p:txBody>
      </p:sp>
      <p:sp>
        <p:nvSpPr>
          <p:cNvPr id="32" name="Row m 3"/>
          <p:cNvSpPr txBox="1"/>
          <p:nvPr/>
        </p:nvSpPr>
        <p:spPr>
          <a:xfrm>
            <a:off x="9326880" y="4930445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CEDF1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성인 2도 화상 비교임상</a:t>
            </a:r>
            <a:endParaRPr lang="ko-KR" sz="1000"/>
          </a:p>
        </p:txBody>
      </p:sp>
      <p:sp>
        <p:nvSpPr>
          <p:cNvPr id="33" name="Order label"/>
          <p:cNvSpPr txBox="1"/>
          <p:nvPr/>
        </p:nvSpPr>
        <p:spPr>
          <a:xfrm>
            <a:off x="502920" y="5807172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주장 순서</a:t>
            </a:r>
            <a:endParaRPr lang="ko-KR" sz="1200"/>
          </a:p>
        </p:txBody>
      </p:sp>
      <p:sp>
        <p:nvSpPr>
          <p:cNvPr id="34" name="Order 0"/>
          <p:cNvSpPr txBox="1"/>
          <p:nvPr/>
        </p:nvSpPr>
        <p:spPr>
          <a:xfrm>
            <a:off x="1783080" y="5807172"/>
            <a:ext cx="2542032" cy="429768"/>
          </a:xfrm>
          <a:prstGeom prst="homePlate">
            <a:avLst>
              <a:gd name="adj" fmla="val 30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보호 · 습윤</a:t>
            </a:r>
            <a:endParaRPr lang="ko-KR" sz="1200"/>
          </a:p>
        </p:txBody>
      </p:sp>
      <p:sp>
        <p:nvSpPr>
          <p:cNvPr id="35" name="Order 1"/>
          <p:cNvSpPr txBox="1"/>
          <p:nvPr/>
        </p:nvSpPr>
        <p:spPr>
          <a:xfrm>
            <a:off x="4233672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200"/>
          </a:p>
        </p:txBody>
      </p:sp>
      <p:sp>
        <p:nvSpPr>
          <p:cNvPr id="36" name="Order 2"/>
          <p:cNvSpPr txBox="1"/>
          <p:nvPr/>
        </p:nvSpPr>
        <p:spPr>
          <a:xfrm>
            <a:off x="6684264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 성능</a:t>
            </a:r>
            <a:endParaRPr lang="ko-KR" sz="1200"/>
          </a:p>
        </p:txBody>
      </p:sp>
      <p:sp>
        <p:nvSpPr>
          <p:cNvPr id="37" name="Order 3"/>
          <p:cNvSpPr txBox="1"/>
          <p:nvPr/>
        </p:nvSpPr>
        <p:spPr>
          <a:xfrm>
            <a:off x="9134856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200"/>
          </a:p>
        </p:txBody>
      </p:sp>
      <p:sp>
        <p:nvSpPr>
          <p:cNvPr id="38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Keratin Macrophage Study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BioFriends KheAl 제품자료</a:t>
            </a:r>
            <a:endParaRPr lang="ko-KR" sz="75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인허가 로드맵 — 6단계, 3개 축을 동시에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 승인 전에 품질·비임상 자료를 병렬로 끝내야 전체 일정이 줄어듦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24</a:t>
            </a:r>
            <a:endParaRPr lang="ko-KR" sz="800"/>
          </a:p>
        </p:txBody>
      </p:sp>
      <p:sp>
        <p:nvSpPr>
          <p:cNvPr id="8" name="Step 0"/>
          <p:cNvSpPr txBox="1"/>
          <p:nvPr/>
        </p:nvSpPr>
        <p:spPr>
          <a:xfrm>
            <a:off x="502920" y="1707185"/>
            <a:ext cx="1938528" cy="532912"/>
          </a:xfrm>
          <a:prstGeom prst="homePlate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  품목·사용목적 확정</a:t>
            </a:r>
            <a:endParaRPr lang="ko-KR" sz="1150"/>
          </a:p>
        </p:txBody>
      </p:sp>
      <p:sp>
        <p:nvSpPr>
          <p:cNvPr id="9" name="Step sub 0"/>
          <p:cNvSpPr txBox="1"/>
          <p:nvPr/>
        </p:nvSpPr>
        <p:spPr>
          <a:xfrm>
            <a:off x="594360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흡수·분해·사용기간</a:t>
            </a:r>
            <a:endParaRPr lang="ko-KR" sz="1050"/>
          </a:p>
        </p:txBody>
      </p:sp>
      <p:sp>
        <p:nvSpPr>
          <p:cNvPr id="10" name="Step 1"/>
          <p:cNvSpPr txBox="1"/>
          <p:nvPr/>
        </p:nvSpPr>
        <p:spPr>
          <a:xfrm>
            <a:off x="2350008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  부족한 자료 점검</a:t>
            </a:r>
            <a:endParaRPr lang="ko-KR" sz="1150"/>
          </a:p>
        </p:txBody>
      </p:sp>
      <p:sp>
        <p:nvSpPr>
          <p:cNvPr id="11" name="Step sub 1"/>
          <p:cNvSpPr txBox="1"/>
          <p:nvPr/>
        </p:nvSpPr>
        <p:spPr>
          <a:xfrm>
            <a:off x="2441448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성능·안전성·멸균·안정성</a:t>
            </a:r>
            <a:endParaRPr lang="ko-KR" sz="1050"/>
          </a:p>
        </p:txBody>
      </p:sp>
      <p:sp>
        <p:nvSpPr>
          <p:cNvPr id="12" name="Step 2"/>
          <p:cNvSpPr txBox="1"/>
          <p:nvPr/>
        </p:nvSpPr>
        <p:spPr>
          <a:xfrm>
            <a:off x="4197096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  임상 계획</a:t>
            </a:r>
            <a:endParaRPr lang="ko-KR" sz="1150"/>
          </a:p>
        </p:txBody>
      </p:sp>
      <p:sp>
        <p:nvSpPr>
          <p:cNvPr id="13" name="Step sub 2"/>
          <p:cNvSpPr txBox="1"/>
          <p:nvPr/>
        </p:nvSpPr>
        <p:spPr>
          <a:xfrm>
            <a:off x="4288536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비교군·평가·환자 수·예산</a:t>
            </a:r>
            <a:endParaRPr lang="ko-KR" sz="1050"/>
          </a:p>
        </p:txBody>
      </p:sp>
      <p:sp>
        <p:nvSpPr>
          <p:cNvPr id="14" name="Step 3"/>
          <p:cNvSpPr txBox="1"/>
          <p:nvPr/>
        </p:nvSpPr>
        <p:spPr>
          <a:xfrm>
            <a:off x="6044184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  식약처·IRB 승인</a:t>
            </a:r>
            <a:endParaRPr lang="ko-KR" sz="1150"/>
          </a:p>
        </p:txBody>
      </p:sp>
      <p:sp>
        <p:nvSpPr>
          <p:cNvPr id="15" name="Step sub 3"/>
          <p:cNvSpPr txBox="1"/>
          <p:nvPr/>
        </p:nvSpPr>
        <p:spPr>
          <a:xfrm>
            <a:off x="6135624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계획 승인·보험·계약</a:t>
            </a:r>
            <a:endParaRPr lang="ko-KR" sz="1050"/>
          </a:p>
        </p:txBody>
      </p:sp>
      <p:sp>
        <p:nvSpPr>
          <p:cNvPr id="16" name="Step 4"/>
          <p:cNvSpPr txBox="1"/>
          <p:nvPr/>
        </p:nvSpPr>
        <p:spPr>
          <a:xfrm>
            <a:off x="7891272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  임상 수행·분석</a:t>
            </a:r>
            <a:endParaRPr lang="ko-KR" sz="1150"/>
          </a:p>
        </p:txBody>
      </p:sp>
      <p:sp>
        <p:nvSpPr>
          <p:cNvPr id="17" name="Step sub 4"/>
          <p:cNvSpPr txBox="1"/>
          <p:nvPr/>
        </p:nvSpPr>
        <p:spPr>
          <a:xfrm>
            <a:off x="7982712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등록·추적·통계·보고서</a:t>
            </a:r>
            <a:endParaRPr lang="ko-KR" sz="1050"/>
          </a:p>
        </p:txBody>
      </p:sp>
      <p:sp>
        <p:nvSpPr>
          <p:cNvPr id="18" name="Step 5"/>
          <p:cNvSpPr txBox="1"/>
          <p:nvPr/>
        </p:nvSpPr>
        <p:spPr>
          <a:xfrm>
            <a:off x="9738360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6  품목허가</a:t>
            </a:r>
            <a:endParaRPr lang="ko-KR" sz="1150"/>
          </a:p>
        </p:txBody>
      </p:sp>
      <p:sp>
        <p:nvSpPr>
          <p:cNvPr id="19" name="Step sub 5"/>
          <p:cNvSpPr txBox="1"/>
          <p:nvPr/>
        </p:nvSpPr>
        <p:spPr>
          <a:xfrm>
            <a:off x="9829800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기술문서 · GMP</a:t>
            </a:r>
            <a:endParaRPr lang="ko-KR" sz="1050"/>
          </a:p>
        </p:txBody>
      </p:sp>
      <p:sp>
        <p:nvSpPr>
          <p:cNvPr id="20" name="Lane title"/>
          <p:cNvSpPr txBox="1"/>
          <p:nvPr/>
        </p:nvSpPr>
        <p:spPr>
          <a:xfrm>
            <a:off x="502920" y="2824582"/>
            <a:ext cx="54864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병렬로 준비할 3개 축</a:t>
            </a:r>
            <a:endParaRPr lang="ko-KR" sz="1200"/>
          </a:p>
        </p:txBody>
      </p:sp>
      <p:sp>
        <p:nvSpPr>
          <p:cNvPr id="21" name="Lane l 0"/>
          <p:cNvSpPr txBox="1"/>
          <p:nvPr/>
        </p:nvSpPr>
        <p:spPr>
          <a:xfrm>
            <a:off x="502920" y="3168396"/>
            <a:ext cx="1234440" cy="618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품질 · GMP</a:t>
            </a:r>
            <a:endParaRPr lang="ko-KR" sz="1100"/>
          </a:p>
        </p:txBody>
      </p:sp>
      <p:sp>
        <p:nvSpPr>
          <p:cNvPr id="22" name="Lane bg 0"/>
          <p:cNvSpPr/>
          <p:nvPr/>
        </p:nvSpPr>
        <p:spPr>
          <a:xfrm>
            <a:off x="1783080" y="3237159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3" name="Lane bar 0"/>
          <p:cNvSpPr txBox="1"/>
          <p:nvPr/>
        </p:nvSpPr>
        <p:spPr>
          <a:xfrm>
            <a:off x="1783080" y="3237159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제조공정 · 원료관리 · 멸균 · 포장 · 안정성</a:t>
            </a:r>
            <a:endParaRPr lang="ko-KR" sz="1100"/>
          </a:p>
        </p:txBody>
      </p:sp>
      <p:sp>
        <p:nvSpPr>
          <p:cNvPr id="24" name="Lane l 1"/>
          <p:cNvSpPr txBox="1"/>
          <p:nvPr/>
        </p:nvSpPr>
        <p:spPr>
          <a:xfrm>
            <a:off x="502920" y="3959169"/>
            <a:ext cx="1234440" cy="618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비임상 · 성능</a:t>
            </a:r>
            <a:endParaRPr lang="ko-KR" sz="1100"/>
          </a:p>
        </p:txBody>
      </p:sp>
      <p:sp>
        <p:nvSpPr>
          <p:cNvPr id="25" name="Lane bg 1"/>
          <p:cNvSpPr/>
          <p:nvPr/>
        </p:nvSpPr>
        <p:spPr>
          <a:xfrm>
            <a:off x="1783080" y="4027932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6" name="Lane bar 1"/>
          <p:cNvSpPr txBox="1"/>
          <p:nvPr/>
        </p:nvSpPr>
        <p:spPr>
          <a:xfrm>
            <a:off x="1783080" y="4027932"/>
            <a:ext cx="6601968" cy="481340"/>
          </a:xfrm>
          <a:prstGeom prst="roundRect">
            <a:avLst>
              <a:gd name="adj" fmla="val 50000"/>
            </a:avLst>
          </a:prstGeom>
          <a:solidFill>
            <a:srgbClr val="F1E8F7"/>
          </a:solidFill>
          <a:ln w="9525">
            <a:solidFill>
              <a:srgbClr val="7030A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생물학적 안전성 · 흡수 · 보습 · 바르기 · 사용적합성</a:t>
            </a:r>
            <a:endParaRPr lang="ko-KR" sz="1100"/>
          </a:p>
        </p:txBody>
      </p:sp>
      <p:sp>
        <p:nvSpPr>
          <p:cNvPr id="27" name="Lane l 2"/>
          <p:cNvSpPr txBox="1"/>
          <p:nvPr/>
        </p:nvSpPr>
        <p:spPr>
          <a:xfrm>
            <a:off x="502920" y="4749942"/>
            <a:ext cx="1234440" cy="618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임상 · 규제</a:t>
            </a:r>
            <a:endParaRPr lang="ko-KR" sz="1100"/>
          </a:p>
        </p:txBody>
      </p:sp>
      <p:sp>
        <p:nvSpPr>
          <p:cNvPr id="28" name="Lane bg 2"/>
          <p:cNvSpPr/>
          <p:nvPr/>
        </p:nvSpPr>
        <p:spPr>
          <a:xfrm>
            <a:off x="1783080" y="4818705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9" name="Lane bar 2"/>
          <p:cNvSpPr txBox="1"/>
          <p:nvPr/>
        </p:nvSpPr>
        <p:spPr>
          <a:xfrm>
            <a:off x="5084064" y="4818705"/>
            <a:ext cx="6601968" cy="48134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9525">
            <a:solidFill>
              <a:srgbClr val="437D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식약처 계획승인 · IRB · 병원 · 비교군 · 통계</a:t>
            </a:r>
            <a:endParaRPr lang="ko-KR" sz="1100"/>
          </a:p>
        </p:txBody>
      </p:sp>
      <p:sp>
        <p:nvSpPr>
          <p:cNvPr id="30" name="Road note"/>
          <p:cNvSpPr txBox="1"/>
          <p:nvPr/>
        </p:nvSpPr>
        <p:spPr>
          <a:xfrm>
            <a:off x="502920" y="5532120"/>
            <a:ext cx="1115568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구간은 준비 순서 예시 — 확정 일정 아님</a:t>
            </a:r>
            <a:endParaRPr lang="ko-KR" sz="950"/>
          </a:p>
        </p:txBody>
      </p:sp>
      <p:sp>
        <p:nvSpPr>
          <p:cNvPr id="31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2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3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목표: 4등급 생체유래 창상피복재. 최종 등급·임상자료 수준은 흡수성·신규성·동등성 자료로 확정</a:t>
            </a:r>
            <a:endParaRPr lang="ko-KR" sz="1250"/>
          </a:p>
        </p:txBody>
      </p:sp>
      <p:sp>
        <p:nvSpPr>
          <p:cNvPr id="3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의료기기 품목 및 품목별 등급 규정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의료기기법 시행규칙</a:t>
            </a:r>
            <a:endParaRPr lang="ko-KR" sz="75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임상시험 설계안 — 성인 2도 화상 60명, 기존 드레싱과 비교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60명은 예산 기준 가정 · 실제 환자 수는 프로토콜 확정 후 통계로 산출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25</a:t>
            </a:r>
            <a:endParaRPr lang="ko-KR" sz="800"/>
          </a:p>
        </p:txBody>
      </p:sp>
      <p:sp>
        <p:nvSpPr>
          <p:cNvPr id="8" name="Pico 0"/>
          <p:cNvSpPr/>
          <p:nvPr/>
        </p:nvSpPr>
        <p:spPr>
          <a:xfrm>
            <a:off x="502920" y="1664208"/>
            <a:ext cx="2468880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Pico h 0"/>
          <p:cNvSpPr txBox="1"/>
          <p:nvPr/>
        </p:nvSpPr>
        <p:spPr>
          <a:xfrm>
            <a:off x="502920" y="1664208"/>
            <a:ext cx="2468880" cy="412577"/>
          </a:xfrm>
          <a:prstGeom prst="round2Same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대상</a:t>
            </a:r>
            <a:endParaRPr lang="ko-KR" sz="1300"/>
          </a:p>
        </p:txBody>
      </p:sp>
      <p:sp>
        <p:nvSpPr>
          <p:cNvPr id="10" name="Pico l 0"/>
          <p:cNvSpPr txBox="1"/>
          <p:nvPr/>
        </p:nvSpPr>
        <p:spPr>
          <a:xfrm>
            <a:off x="640080" y="2179930"/>
            <a:ext cx="2194560" cy="141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성인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감염이 조절된 2도 화상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3도 · 활동성 감염 제외</a:t>
            </a:r>
            <a:endParaRPr lang="ko-KR" sz="1100"/>
          </a:p>
        </p:txBody>
      </p:sp>
      <p:sp>
        <p:nvSpPr>
          <p:cNvPr id="11" name="Pico 1"/>
          <p:cNvSpPr/>
          <p:nvPr/>
        </p:nvSpPr>
        <p:spPr>
          <a:xfrm>
            <a:off x="3072384" y="1664208"/>
            <a:ext cx="2651760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2" name="Pico h 1"/>
          <p:cNvSpPr txBox="1"/>
          <p:nvPr/>
        </p:nvSpPr>
        <p:spPr>
          <a:xfrm>
            <a:off x="3072384" y="1664208"/>
            <a:ext cx="2651760" cy="412577"/>
          </a:xfrm>
          <a:prstGeom prst="round2Same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비교</a:t>
            </a:r>
            <a:endParaRPr lang="ko-KR" sz="1300"/>
          </a:p>
        </p:txBody>
      </p:sp>
      <p:sp>
        <p:nvSpPr>
          <p:cNvPr id="13" name="Pico l 1"/>
          <p:cNvSpPr txBox="1"/>
          <p:nvPr/>
        </p:nvSpPr>
        <p:spPr>
          <a:xfrm>
            <a:off x="3209544" y="2179930"/>
            <a:ext cx="2377440" cy="141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vs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기존 습윤 드레싱 또는 병원 표준처치</a:t>
            </a:r>
            <a:endParaRPr lang="ko-KR" sz="1100"/>
          </a:p>
        </p:txBody>
      </p:sp>
      <p:sp>
        <p:nvSpPr>
          <p:cNvPr id="14" name="Pico 2"/>
          <p:cNvSpPr/>
          <p:nvPr/>
        </p:nvSpPr>
        <p:spPr>
          <a:xfrm>
            <a:off x="5824728" y="1664208"/>
            <a:ext cx="2286000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5" name="Pico h 2"/>
          <p:cNvSpPr txBox="1"/>
          <p:nvPr/>
        </p:nvSpPr>
        <p:spPr>
          <a:xfrm>
            <a:off x="5824728" y="1664208"/>
            <a:ext cx="2286000" cy="412577"/>
          </a:xfrm>
          <a:prstGeom prst="round2Same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규모</a:t>
            </a:r>
            <a:endParaRPr lang="ko-KR" sz="1300"/>
          </a:p>
        </p:txBody>
      </p:sp>
      <p:sp>
        <p:nvSpPr>
          <p:cNvPr id="16" name="Big60"/>
          <p:cNvSpPr txBox="1"/>
          <p:nvPr/>
        </p:nvSpPr>
        <p:spPr>
          <a:xfrm>
            <a:off x="5824728" y="2136953"/>
            <a:ext cx="228600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3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60명</a:t>
            </a:r>
            <a:endParaRPr lang="ko-KR" sz="3000"/>
          </a:p>
        </p:txBody>
      </p:sp>
      <p:sp>
        <p:nvSpPr>
          <p:cNvPr id="17" name="Pico l 2"/>
          <p:cNvSpPr txBox="1"/>
          <p:nvPr/>
        </p:nvSpPr>
        <p:spPr>
          <a:xfrm>
            <a:off x="5961888" y="2824582"/>
            <a:ext cx="2011680" cy="773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2개 병원</a:t>
            </a:r>
            <a:endParaRPr lang="ko-KR" sz="1150"/>
          </a:p>
          <a:p>
            <a:pPr marL="0" indent="0" algn="ctr">
              <a:spcAft>
                <a:spcPts val="2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무작위 배정</a:t>
            </a:r>
            <a:endParaRPr lang="ko-KR" sz="1150"/>
          </a:p>
        </p:txBody>
      </p:sp>
      <p:sp>
        <p:nvSpPr>
          <p:cNvPr id="18" name="Pico 3"/>
          <p:cNvSpPr/>
          <p:nvPr/>
        </p:nvSpPr>
        <p:spPr>
          <a:xfrm>
            <a:off x="8211312" y="1664208"/>
            <a:ext cx="3410712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Pico h 3"/>
          <p:cNvSpPr txBox="1"/>
          <p:nvPr/>
        </p:nvSpPr>
        <p:spPr>
          <a:xfrm>
            <a:off x="8211312" y="1664208"/>
            <a:ext cx="3410712" cy="412577"/>
          </a:xfrm>
          <a:prstGeom prst="round2Same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평가</a:t>
            </a:r>
            <a:endParaRPr lang="ko-KR" sz="1300"/>
          </a:p>
        </p:txBody>
      </p:sp>
      <p:sp>
        <p:nvSpPr>
          <p:cNvPr id="20" name="Pico l 3"/>
          <p:cNvSpPr txBox="1"/>
          <p:nvPr/>
        </p:nvSpPr>
        <p:spPr>
          <a:xfrm>
            <a:off x="8348472" y="2179930"/>
            <a:ext cx="3136392" cy="141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1차  상처가 완전히 덮이는 시간</a:t>
            </a:r>
            <a:endParaRPr lang="ko-KR" sz="110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  통증 · 교체 횟수 · 처치 시간</a:t>
            </a:r>
            <a:endParaRPr lang="ko-KR" sz="110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안전성 · 환자당 총 처치비</a:t>
            </a:r>
            <a:endParaRPr lang="ko-KR" sz="1100"/>
          </a:p>
        </p:txBody>
      </p:sp>
      <p:sp>
        <p:nvSpPr>
          <p:cNvPr id="21" name="Timeline card"/>
          <p:cNvSpPr/>
          <p:nvPr/>
        </p:nvSpPr>
        <p:spPr>
          <a:xfrm>
            <a:off x="502920" y="3830239"/>
            <a:ext cx="11183112" cy="10744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TL title"/>
          <p:cNvSpPr txBox="1"/>
          <p:nvPr/>
        </p:nvSpPr>
        <p:spPr>
          <a:xfrm>
            <a:off x="685800" y="3899002"/>
            <a:ext cx="27432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방문 일정 (1인당 5회)</a:t>
            </a:r>
            <a:endParaRPr lang="ko-KR" sz="1150"/>
          </a:p>
        </p:txBody>
      </p:sp>
      <p:sp>
        <p:nvSpPr>
          <p:cNvPr id="23" name="TL line"/>
          <p:cNvSpPr/>
          <p:nvPr/>
        </p:nvSpPr>
        <p:spPr>
          <a:xfrm>
            <a:off x="1188720" y="4328770"/>
            <a:ext cx="9966960" cy="42977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24" name="TL dot 0"/>
          <p:cNvSpPr/>
          <p:nvPr/>
        </p:nvSpPr>
        <p:spPr>
          <a:xfrm>
            <a:off x="106984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5" name="TL lab 0"/>
          <p:cNvSpPr txBox="1"/>
          <p:nvPr/>
        </p:nvSpPr>
        <p:spPr>
          <a:xfrm>
            <a:off x="36576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선별</a:t>
            </a:r>
            <a:endParaRPr lang="ko-KR" sz="1100"/>
          </a:p>
        </p:txBody>
      </p:sp>
      <p:sp>
        <p:nvSpPr>
          <p:cNvPr id="26" name="TL dot 1"/>
          <p:cNvSpPr/>
          <p:nvPr/>
        </p:nvSpPr>
        <p:spPr>
          <a:xfrm>
            <a:off x="356158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7" name="TL lab 1"/>
          <p:cNvSpPr txBox="1"/>
          <p:nvPr/>
        </p:nvSpPr>
        <p:spPr>
          <a:xfrm>
            <a:off x="285750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1</a:t>
            </a:r>
            <a:endParaRPr lang="ko-KR" sz="1100"/>
          </a:p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첫 적용</a:t>
            </a:r>
            <a:endParaRPr lang="ko-KR" sz="1100"/>
          </a:p>
        </p:txBody>
      </p:sp>
      <p:sp>
        <p:nvSpPr>
          <p:cNvPr id="28" name="TL dot 2"/>
          <p:cNvSpPr/>
          <p:nvPr/>
        </p:nvSpPr>
        <p:spPr>
          <a:xfrm>
            <a:off x="605332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9" name="TL lab 2"/>
          <p:cNvSpPr txBox="1"/>
          <p:nvPr/>
        </p:nvSpPr>
        <p:spPr>
          <a:xfrm>
            <a:off x="534924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7</a:t>
            </a:r>
            <a:endParaRPr lang="ko-KR" sz="1100"/>
          </a:p>
        </p:txBody>
      </p:sp>
      <p:sp>
        <p:nvSpPr>
          <p:cNvPr id="30" name="TL dot 3"/>
          <p:cNvSpPr/>
          <p:nvPr/>
        </p:nvSpPr>
        <p:spPr>
          <a:xfrm>
            <a:off x="854506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31" name="TL lab 3"/>
          <p:cNvSpPr txBox="1"/>
          <p:nvPr/>
        </p:nvSpPr>
        <p:spPr>
          <a:xfrm>
            <a:off x="784098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14</a:t>
            </a:r>
            <a:endParaRPr lang="ko-KR" sz="1100"/>
          </a:p>
        </p:txBody>
      </p:sp>
      <p:sp>
        <p:nvSpPr>
          <p:cNvPr id="32" name="TL dot 4"/>
          <p:cNvSpPr/>
          <p:nvPr/>
        </p:nvSpPr>
        <p:spPr>
          <a:xfrm>
            <a:off x="1103680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33" name="TL lab 4"/>
          <p:cNvSpPr txBox="1"/>
          <p:nvPr/>
        </p:nvSpPr>
        <p:spPr>
          <a:xfrm>
            <a:off x="1033272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21</a:t>
            </a:r>
            <a:endParaRPr lang="ko-KR" sz="1100"/>
          </a:p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또는 완치</a:t>
            </a:r>
            <a:endParaRPr lang="ko-KR" sz="1100"/>
          </a:p>
        </p:txBody>
      </p:sp>
      <p:sp>
        <p:nvSpPr>
          <p:cNvPr id="34" name="TL note"/>
          <p:cNvSpPr txBox="1"/>
          <p:nvPr/>
        </p:nvSpPr>
        <p:spPr>
          <a:xfrm>
            <a:off x="6949440" y="3899002"/>
            <a:ext cx="45720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ko-KR" sz="10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장기 흉터 추적을 넣으면 비용·기간 별도 증가</a:t>
            </a:r>
            <a:endParaRPr lang="ko-KR" sz="1000"/>
          </a:p>
        </p:txBody>
      </p:sp>
      <p:sp>
        <p:nvSpPr>
          <p:cNvPr id="35" name="Lesson"/>
          <p:cNvSpPr txBox="1"/>
          <p:nvPr/>
        </p:nvSpPr>
        <p:spPr>
          <a:xfrm>
            <a:off x="502920" y="5059375"/>
            <a:ext cx="11183112" cy="601675"/>
          </a:xfrm>
          <a:prstGeom prst="roundRect">
            <a:avLst>
              <a:gd name="adj" fmla="val 12000"/>
            </a:avLst>
          </a:prstGeom>
          <a:solidFill>
            <a:srgbClr val="FBE6E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교훈 — KeraStat 화상 시험은 30명 계획 중 14명만 모집돼 조기 종료 → 계약 전 병원별 모집 가능성 조사 필수</a:t>
            </a:r>
            <a:endParaRPr lang="ko-KR" sz="1200"/>
          </a:p>
        </p:txBody>
      </p:sp>
      <p:sp>
        <p:nvSpPr>
          <p:cNvPr id="36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7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8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작게 좁혀 확실하게: 적응증을 성인 2도 화상으로 한정해 모집·평가 변동을 줄인다</a:t>
            </a:r>
            <a:endParaRPr lang="ko-KR" sz="1250"/>
          </a:p>
        </p:txBody>
      </p:sp>
      <p:sp>
        <p:nvSpPr>
          <p:cNvPr id="3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ClinicalTrials.gov 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KeraStat Burn Protocol</a:t>
            </a:r>
            <a:endParaRPr lang="ko-KR" sz="75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FDA 경로 — KeraStat과 같은 510(k)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 Gel(K162759)을 비교 대상 제품으로 삼아 ‘실질적 동등성’을 입증하는 길 — 신규 허가(De Novo·PMA)보다 비용·기간이 작음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26</a:t>
            </a:r>
            <a:endParaRPr lang="ko-KR" sz="800"/>
          </a:p>
        </p:txBody>
      </p:sp>
      <p:sp>
        <p:nvSpPr>
          <p:cNvPr id="8" name="KS bar back"/>
          <p:cNvSpPr/>
          <p:nvPr/>
        </p:nvSpPr>
        <p:spPr>
          <a:xfrm>
            <a:off x="502920" y="1664208"/>
            <a:ext cx="329184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KS bar"/>
          <p:cNvSpPr txBox="1"/>
          <p:nvPr/>
        </p:nvSpPr>
        <p:spPr>
          <a:xfrm>
            <a:off x="566928" y="1664208"/>
            <a:ext cx="316382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KeraStat이 간 길</a:t>
            </a:r>
            <a:endParaRPr lang="ko-KR" sz="1200"/>
          </a:p>
        </p:txBody>
      </p:sp>
      <p:sp>
        <p:nvSpPr>
          <p:cNvPr id="10" name="KS card"/>
          <p:cNvSpPr/>
          <p:nvPr/>
        </p:nvSpPr>
        <p:spPr>
          <a:xfrm>
            <a:off x="502920" y="2050999"/>
            <a:ext cx="3291840" cy="32232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1" name="KS l 0"/>
          <p:cNvSpPr txBox="1"/>
          <p:nvPr/>
        </p:nvSpPr>
        <p:spPr>
          <a:xfrm>
            <a:off x="658368" y="2162739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510(k) 번호</a:t>
            </a:r>
            <a:endParaRPr lang="ko-KR" sz="1000"/>
          </a:p>
        </p:txBody>
      </p:sp>
      <p:sp>
        <p:nvSpPr>
          <p:cNvPr id="12" name="KS v 0"/>
          <p:cNvSpPr txBox="1"/>
          <p:nvPr/>
        </p:nvSpPr>
        <p:spPr>
          <a:xfrm>
            <a:off x="1737360" y="2162739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K162759</a:t>
            </a:r>
            <a:endParaRPr lang="ko-KR" sz="1100"/>
          </a:p>
        </p:txBody>
      </p:sp>
      <p:sp>
        <p:nvSpPr>
          <p:cNvPr id="13" name="KS l 1"/>
          <p:cNvSpPr txBox="1"/>
          <p:nvPr/>
        </p:nvSpPr>
        <p:spPr>
          <a:xfrm>
            <a:off x="658368" y="2661270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허가일</a:t>
            </a:r>
            <a:endParaRPr lang="ko-KR" sz="1000"/>
          </a:p>
        </p:txBody>
      </p:sp>
      <p:sp>
        <p:nvSpPr>
          <p:cNvPr id="14" name="KS v 1"/>
          <p:cNvSpPr txBox="1"/>
          <p:nvPr/>
        </p:nvSpPr>
        <p:spPr>
          <a:xfrm>
            <a:off x="1737360" y="2661270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2017.06.02 (실질적 동등)</a:t>
            </a:r>
            <a:endParaRPr lang="ko-KR" sz="1100"/>
          </a:p>
        </p:txBody>
      </p:sp>
      <p:sp>
        <p:nvSpPr>
          <p:cNvPr id="15" name="KS l 2"/>
          <p:cNvSpPr txBox="1"/>
          <p:nvPr/>
        </p:nvSpPr>
        <p:spPr>
          <a:xfrm>
            <a:off x="658368" y="3159801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제품코드</a:t>
            </a:r>
            <a:endParaRPr lang="ko-KR" sz="1000"/>
          </a:p>
        </p:txBody>
      </p:sp>
      <p:sp>
        <p:nvSpPr>
          <p:cNvPr id="16" name="KS v 2"/>
          <p:cNvSpPr txBox="1"/>
          <p:nvPr/>
        </p:nvSpPr>
        <p:spPr>
          <a:xfrm>
            <a:off x="1737360" y="3159801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KGN</a:t>
            </a:r>
            <a:endParaRPr lang="ko-KR" sz="1100"/>
          </a:p>
        </p:txBody>
      </p:sp>
      <p:sp>
        <p:nvSpPr>
          <p:cNvPr id="17" name="KS l 3"/>
          <p:cNvSpPr txBox="1"/>
          <p:nvPr/>
        </p:nvSpPr>
        <p:spPr>
          <a:xfrm>
            <a:off x="658368" y="3658332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판매 구분</a:t>
            </a:r>
            <a:endParaRPr lang="ko-KR" sz="1000"/>
          </a:p>
        </p:txBody>
      </p:sp>
      <p:sp>
        <p:nvSpPr>
          <p:cNvPr id="18" name="KS v 3"/>
          <p:cNvSpPr txBox="1"/>
          <p:nvPr/>
        </p:nvSpPr>
        <p:spPr>
          <a:xfrm>
            <a:off x="1737360" y="3658332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처방용 (Rx)</a:t>
            </a:r>
            <a:endParaRPr lang="ko-KR" sz="1100"/>
          </a:p>
        </p:txBody>
      </p:sp>
      <p:sp>
        <p:nvSpPr>
          <p:cNvPr id="19" name="KS l 4"/>
          <p:cNvSpPr txBox="1"/>
          <p:nvPr/>
        </p:nvSpPr>
        <p:spPr>
          <a:xfrm>
            <a:off x="658368" y="4156862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비교 대상</a:t>
            </a:r>
            <a:endParaRPr lang="ko-KR" sz="1000"/>
          </a:p>
        </p:txBody>
      </p:sp>
      <p:sp>
        <p:nvSpPr>
          <p:cNvPr id="20" name="KS v 4"/>
          <p:cNvSpPr txBox="1"/>
          <p:nvPr/>
        </p:nvSpPr>
        <p:spPr>
          <a:xfrm>
            <a:off x="1737360" y="4156862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Keratec Wound Dressings</a:t>
            </a:r>
            <a:endParaRPr lang="ko-KR" sz="1100"/>
          </a:p>
        </p:txBody>
      </p:sp>
      <p:sp>
        <p:nvSpPr>
          <p:cNvPr id="21" name="KS l 5"/>
          <p:cNvSpPr txBox="1"/>
          <p:nvPr/>
        </p:nvSpPr>
        <p:spPr>
          <a:xfrm>
            <a:off x="658368" y="4655393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인체 자료</a:t>
            </a:r>
            <a:endParaRPr lang="ko-KR" sz="1000"/>
          </a:p>
        </p:txBody>
      </p:sp>
      <p:sp>
        <p:nvSpPr>
          <p:cNvPr id="22" name="KS v 5"/>
          <p:cNvSpPr txBox="1"/>
          <p:nvPr/>
        </p:nvSpPr>
        <p:spPr>
          <a:xfrm>
            <a:off x="1737360" y="4655393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피부 반복첩포 시험 등 — 요약서 원문 확인</a:t>
            </a:r>
            <a:endParaRPr lang="ko-KR" sz="1100"/>
          </a:p>
        </p:txBody>
      </p:sp>
      <p:sp>
        <p:nvSpPr>
          <p:cNvPr id="23" name="Pkg bar back"/>
          <p:cNvSpPr/>
          <p:nvPr/>
        </p:nvSpPr>
        <p:spPr>
          <a:xfrm>
            <a:off x="3977640" y="1664208"/>
            <a:ext cx="429768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4" name="Pkg bar"/>
          <p:cNvSpPr txBox="1"/>
          <p:nvPr/>
        </p:nvSpPr>
        <p:spPr>
          <a:xfrm>
            <a:off x="4041648" y="1664208"/>
            <a:ext cx="416966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KheAl이 준비할 자료</a:t>
            </a:r>
            <a:endParaRPr lang="ko-KR" sz="1200"/>
          </a:p>
        </p:txBody>
      </p:sp>
      <p:sp>
        <p:nvSpPr>
          <p:cNvPr id="25" name="Pkg card"/>
          <p:cNvSpPr/>
          <p:nvPr/>
        </p:nvSpPr>
        <p:spPr>
          <a:xfrm>
            <a:off x="3977640" y="2050999"/>
            <a:ext cx="4297680" cy="32232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6" name="Pk a 0"/>
          <p:cNvSpPr txBox="1"/>
          <p:nvPr/>
        </p:nvSpPr>
        <p:spPr>
          <a:xfrm>
            <a:off x="4114800" y="2145548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동등성 비교표</a:t>
            </a:r>
            <a:endParaRPr lang="ko-KR" sz="1100"/>
          </a:p>
        </p:txBody>
      </p:sp>
      <p:sp>
        <p:nvSpPr>
          <p:cNvPr id="27" name="Pk b 0"/>
          <p:cNvSpPr txBox="1"/>
          <p:nvPr/>
        </p:nvSpPr>
        <p:spPr>
          <a:xfrm>
            <a:off x="4114800" y="2377623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KeraStat Gel 대비 성분 · 용도 · 성능</a:t>
            </a:r>
            <a:endParaRPr lang="ko-KR" sz="950"/>
          </a:p>
        </p:txBody>
      </p:sp>
      <p:sp>
        <p:nvSpPr>
          <p:cNvPr id="28" name="Pk st 0"/>
          <p:cNvSpPr txBox="1"/>
          <p:nvPr/>
        </p:nvSpPr>
        <p:spPr>
          <a:xfrm>
            <a:off x="6693408" y="2214311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신규 작성</a:t>
            </a:r>
            <a:endParaRPr lang="ko-KR" sz="950"/>
          </a:p>
        </p:txBody>
      </p:sp>
      <p:sp>
        <p:nvSpPr>
          <p:cNvPr id="29" name="Pk a 1"/>
          <p:cNvSpPr txBox="1"/>
          <p:nvPr/>
        </p:nvSpPr>
        <p:spPr>
          <a:xfrm>
            <a:off x="4114800" y="2661270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생체적합성 (ISO 10993)</a:t>
            </a:r>
            <a:endParaRPr lang="ko-KR" sz="1100"/>
          </a:p>
        </p:txBody>
      </p:sp>
      <p:sp>
        <p:nvSpPr>
          <p:cNvPr id="30" name="Pk b 1"/>
          <p:cNvSpPr txBox="1"/>
          <p:nvPr/>
        </p:nvSpPr>
        <p:spPr>
          <a:xfrm>
            <a:off x="4114800" y="2893344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세포독성 · 감작 · 자극 등</a:t>
            </a:r>
            <a:endParaRPr lang="ko-KR" sz="950"/>
          </a:p>
        </p:txBody>
      </p:sp>
      <p:sp>
        <p:nvSpPr>
          <p:cNvPr id="31" name="Pk st 1"/>
          <p:cNvSpPr txBox="1"/>
          <p:nvPr/>
        </p:nvSpPr>
        <p:spPr>
          <a:xfrm>
            <a:off x="6693408" y="2730033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KTR 결과 활용 검토</a:t>
            </a:r>
            <a:endParaRPr lang="ko-KR" sz="950"/>
          </a:p>
        </p:txBody>
      </p:sp>
      <p:sp>
        <p:nvSpPr>
          <p:cNvPr id="32" name="Pk a 2"/>
          <p:cNvSpPr txBox="1"/>
          <p:nvPr/>
        </p:nvSpPr>
        <p:spPr>
          <a:xfrm>
            <a:off x="4114800" y="3176991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유래 원료 안전성</a:t>
            </a:r>
            <a:endParaRPr lang="ko-KR" sz="1100"/>
          </a:p>
        </p:txBody>
      </p:sp>
      <p:sp>
        <p:nvSpPr>
          <p:cNvPr id="33" name="Pk b 2"/>
          <p:cNvSpPr txBox="1"/>
          <p:nvPr/>
        </p:nvSpPr>
        <p:spPr>
          <a:xfrm>
            <a:off x="4114800" y="3409066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모발 원료 출처 · 바이러스 안전성</a:t>
            </a:r>
            <a:endParaRPr lang="ko-KR" sz="950"/>
          </a:p>
        </p:txBody>
      </p:sp>
      <p:sp>
        <p:nvSpPr>
          <p:cNvPr id="34" name="Pk st 2"/>
          <p:cNvSpPr txBox="1"/>
          <p:nvPr/>
        </p:nvSpPr>
        <p:spPr>
          <a:xfrm>
            <a:off x="6693408" y="3245754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확인 필요</a:t>
            </a:r>
            <a:endParaRPr lang="ko-KR" sz="950"/>
          </a:p>
        </p:txBody>
      </p:sp>
      <p:sp>
        <p:nvSpPr>
          <p:cNvPr id="35" name="Pk a 3"/>
          <p:cNvSpPr txBox="1"/>
          <p:nvPr/>
        </p:nvSpPr>
        <p:spPr>
          <a:xfrm>
            <a:off x="4114800" y="3692713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멸균 · 포장 · 유효기간</a:t>
            </a:r>
            <a:endParaRPr lang="ko-KR" sz="1100"/>
          </a:p>
        </p:txBody>
      </p:sp>
      <p:sp>
        <p:nvSpPr>
          <p:cNvPr id="36" name="Pk b 3"/>
          <p:cNvSpPr txBox="1"/>
          <p:nvPr/>
        </p:nvSpPr>
        <p:spPr>
          <a:xfrm>
            <a:off x="4114800" y="3924788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멸균 밸리데이션 · 가속/장기 안정성</a:t>
            </a:r>
            <a:endParaRPr lang="ko-KR" sz="950"/>
          </a:p>
        </p:txBody>
      </p:sp>
      <p:sp>
        <p:nvSpPr>
          <p:cNvPr id="37" name="Pk st 3"/>
          <p:cNvSpPr txBox="1"/>
          <p:nvPr/>
        </p:nvSpPr>
        <p:spPr>
          <a:xfrm>
            <a:off x="6693408" y="3761476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국내 진행분 활용</a:t>
            </a:r>
            <a:endParaRPr lang="ko-KR" sz="950"/>
          </a:p>
        </p:txBody>
      </p:sp>
      <p:sp>
        <p:nvSpPr>
          <p:cNvPr id="38" name="Pk a 4"/>
          <p:cNvSpPr txBox="1"/>
          <p:nvPr/>
        </p:nvSpPr>
        <p:spPr>
          <a:xfrm>
            <a:off x="4114800" y="4208435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벤치 성능</a:t>
            </a:r>
            <a:endParaRPr lang="ko-KR" sz="1100"/>
          </a:p>
        </p:txBody>
      </p:sp>
      <p:sp>
        <p:nvSpPr>
          <p:cNvPr id="39" name="Pk b 4"/>
          <p:cNvSpPr txBox="1"/>
          <p:nvPr/>
        </p:nvSpPr>
        <p:spPr>
          <a:xfrm>
            <a:off x="4114800" y="4440509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점도 · pH · 수분 · 흡수</a:t>
            </a:r>
            <a:endParaRPr lang="ko-KR" sz="950"/>
          </a:p>
        </p:txBody>
      </p:sp>
      <p:sp>
        <p:nvSpPr>
          <p:cNvPr id="40" name="Pk st 4"/>
          <p:cNvSpPr txBox="1"/>
          <p:nvPr/>
        </p:nvSpPr>
        <p:spPr>
          <a:xfrm>
            <a:off x="6693408" y="4277197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국내 시험 완료분</a:t>
            </a:r>
            <a:endParaRPr lang="ko-KR" sz="950"/>
          </a:p>
        </p:txBody>
      </p:sp>
      <p:sp>
        <p:nvSpPr>
          <p:cNvPr id="41" name="Pk a 5"/>
          <p:cNvSpPr txBox="1"/>
          <p:nvPr/>
        </p:nvSpPr>
        <p:spPr>
          <a:xfrm>
            <a:off x="4114800" y="4724156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동물 · 인체 자료 범위</a:t>
            </a:r>
            <a:endParaRPr lang="ko-KR" sz="1100"/>
          </a:p>
        </p:txBody>
      </p:sp>
      <p:sp>
        <p:nvSpPr>
          <p:cNvPr id="42" name="Pk b 5"/>
          <p:cNvSpPr txBox="1"/>
          <p:nvPr/>
        </p:nvSpPr>
        <p:spPr>
          <a:xfrm>
            <a:off x="4114800" y="4956231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필요 여부는 사전상담으로 확정</a:t>
            </a:r>
            <a:endParaRPr lang="ko-KR" sz="950"/>
          </a:p>
        </p:txBody>
      </p:sp>
      <p:sp>
        <p:nvSpPr>
          <p:cNvPr id="43" name="Pk st 5"/>
          <p:cNvSpPr txBox="1"/>
          <p:nvPr/>
        </p:nvSpPr>
        <p:spPr>
          <a:xfrm>
            <a:off x="6693408" y="4792919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F1E8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Pre-Sub</a:t>
            </a:r>
            <a:endParaRPr lang="ko-KR" sz="950"/>
          </a:p>
        </p:txBody>
      </p:sp>
      <p:sp>
        <p:nvSpPr>
          <p:cNvPr id="44" name="Risk bar back"/>
          <p:cNvSpPr/>
          <p:nvPr/>
        </p:nvSpPr>
        <p:spPr>
          <a:xfrm>
            <a:off x="8458200" y="1664208"/>
            <a:ext cx="322783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45" name="Risk bar"/>
          <p:cNvSpPr txBox="1"/>
          <p:nvPr/>
        </p:nvSpPr>
        <p:spPr>
          <a:xfrm>
            <a:off x="8522208" y="1664208"/>
            <a:ext cx="309981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주의할 차이</a:t>
            </a:r>
            <a:endParaRPr lang="ko-KR" sz="1200"/>
          </a:p>
        </p:txBody>
      </p:sp>
      <p:sp>
        <p:nvSpPr>
          <p:cNvPr id="46" name="Risk card"/>
          <p:cNvSpPr/>
          <p:nvPr/>
        </p:nvSpPr>
        <p:spPr>
          <a:xfrm>
            <a:off x="8458200" y="2050999"/>
            <a:ext cx="3227832" cy="32232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7" name="Risk text"/>
          <p:cNvSpPr txBox="1"/>
          <p:nvPr/>
        </p:nvSpPr>
        <p:spPr>
          <a:xfrm>
            <a:off x="8613648" y="2162739"/>
            <a:ext cx="2926080" cy="3008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ko-KR" sz="11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성분이 다름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KheAl은 알지네이트 · HA 추가 → 차이에 대한 추가 자료 요구 가능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→ 알지네이트 겔(예: Purilon)을 보조 비교 제품으로 함께 제시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멕시코 임상의 역할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510(k) 필수는 아님 → FDA가 추가 근거를 요구할 때 쓰는 보조 자료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미국 외 데이터는 GCP · 윤리위 승인 · 실사 가능성 충족 필요 (21 CFR 812.28)</a:t>
            </a:r>
            <a:endParaRPr lang="ko-KR" sz="1050"/>
          </a:p>
        </p:txBody>
      </p:sp>
      <p:sp>
        <p:nvSpPr>
          <p:cNvPr id="48" name="Flow 0"/>
          <p:cNvSpPr txBox="1"/>
          <p:nvPr/>
        </p:nvSpPr>
        <p:spPr>
          <a:xfrm>
            <a:off x="502920" y="5377404"/>
            <a:ext cx="2286000" cy="361005"/>
          </a:xfrm>
          <a:prstGeom prst="homePlate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사전상담 Pre-Sub (무료)</a:t>
            </a:r>
            <a:endParaRPr lang="ko-KR" sz="1050"/>
          </a:p>
        </p:txBody>
      </p:sp>
      <p:sp>
        <p:nvSpPr>
          <p:cNvPr id="49" name="Flow 1"/>
          <p:cNvSpPr txBox="1"/>
          <p:nvPr/>
        </p:nvSpPr>
        <p:spPr>
          <a:xfrm>
            <a:off x="2724912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시험 자료 보완</a:t>
            </a:r>
            <a:endParaRPr lang="ko-KR" sz="1050"/>
          </a:p>
        </p:txBody>
      </p:sp>
      <p:sp>
        <p:nvSpPr>
          <p:cNvPr id="50" name="Flow 2"/>
          <p:cNvSpPr txBox="1"/>
          <p:nvPr/>
        </p:nvSpPr>
        <p:spPr>
          <a:xfrm>
            <a:off x="4946904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510(k) 제출</a:t>
            </a:r>
            <a:endParaRPr lang="ko-KR" sz="1050"/>
          </a:p>
        </p:txBody>
      </p:sp>
      <p:sp>
        <p:nvSpPr>
          <p:cNvPr id="51" name="Flow 3"/>
          <p:cNvSpPr txBox="1"/>
          <p:nvPr/>
        </p:nvSpPr>
        <p:spPr>
          <a:xfrm>
            <a:off x="7168896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FDA 심사 (목표 90일)</a:t>
            </a:r>
            <a:endParaRPr lang="ko-KR" sz="1050"/>
          </a:p>
        </p:txBody>
      </p:sp>
      <p:sp>
        <p:nvSpPr>
          <p:cNvPr id="52" name="Flow 4"/>
          <p:cNvSpPr txBox="1"/>
          <p:nvPr/>
        </p:nvSpPr>
        <p:spPr>
          <a:xfrm>
            <a:off x="9390888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허가 · 등록 · 미국 대리인</a:t>
            </a:r>
            <a:endParaRPr lang="ko-KR" sz="1050"/>
          </a:p>
        </p:txBody>
      </p:sp>
      <p:sp>
        <p:nvSpPr>
          <p:cNvPr id="53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4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5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 임상 없이 510(k)가 가능할 수 있음 → 먼저 Pre-Sub로 ‘추가 자료 범위’를 확정하면 FDA 비용이 확정된다</a:t>
            </a:r>
            <a:endParaRPr lang="ko-KR" sz="1250"/>
          </a:p>
        </p:txBody>
      </p:sp>
      <p:sp>
        <p:nvSpPr>
          <p:cNvPr id="56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FDA 510(k) DB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21 CFR 812.28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FDA Q-Submission Program</a:t>
            </a:r>
            <a:endParaRPr lang="ko-KR" sz="75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멕시코 견적서 원본 검토 — 2.31억은 ‘최소’ 금액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COR-COT-25-013 (2025.07.23)은 임상 결과가 아닌 CRO 견적서 · 40명 · 1기관 (멕시코시티) · VAT 별도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27</a:t>
            </a:r>
            <a:endParaRPr lang="ko-KR" sz="800"/>
          </a:p>
        </p:txBody>
      </p:sp>
      <p:graphicFrame>
        <p:nvGraphicFramePr>
          <p:cNvPr id="8" name="Mexico check"/>
          <p:cNvGraphicFramePr>
            <a:graphicFrameLocks noGrp="1"/>
          </p:cNvGraphicFramePr>
          <p:nvPr/>
        </p:nvGraphicFramePr>
        <p:xfrm>
          <a:off x="502920" y="1664208"/>
          <a:ext cx="9372600" cy="2853660"/>
        </p:xfrm>
        <a:graphic>
          <a:graphicData uri="http://schemas.openxmlformats.org/drawingml/2006/table">
            <a:tbl>
              <a:tblPr firstRow="1"/>
              <a:tblGrid>
                <a:gridCol w="2514600"/>
                <a:gridCol w="1417320"/>
                <a:gridCol w="1600200"/>
                <a:gridCol w="3840480"/>
              </a:tblGrid>
              <a:tr h="343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견적서 소계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항목 합계 (검산)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확인 사항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A–G  규제 · 프로젝트 관리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$52,118.88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$53,328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합계 불일치 $1,209 (C항 ‘$333,333’ 오기 등)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H–K  모니터링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$19,333.30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$5,839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중간 모니터링 ‘1회’ 표기 → 12회로 보면 소계와 일치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L–O  DB · 보고 · 종료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$27,172.22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$27,117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차이 $56 · O항 멕시코 제품등록 $7,222 포함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기관 연구비 (40명)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$73,920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$78,720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1차 평가인 ‘창상 치유 평가’(1인 $100)가 소계에서 빠짐 → +$4,800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5157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합계 (제품등록 제외)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$165,322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2.31억원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VAT 16% 포함 $191,774 = 2.68억원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</a:tr>
            </a:tbl>
          </a:graphicData>
        </a:graphic>
      </p:graphicFrame>
      <p:sp>
        <p:nvSpPr>
          <p:cNvPr id="9" name="Issue bar back"/>
          <p:cNvSpPr/>
          <p:nvPr/>
        </p:nvSpPr>
        <p:spPr>
          <a:xfrm>
            <a:off x="10012680" y="1664208"/>
            <a:ext cx="167335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0" name="Issue bar"/>
          <p:cNvSpPr txBox="1"/>
          <p:nvPr/>
        </p:nvSpPr>
        <p:spPr>
          <a:xfrm>
            <a:off x="10076688" y="1664208"/>
            <a:ext cx="154533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재견적 필요</a:t>
            </a:r>
            <a:endParaRPr lang="ko-KR" sz="1100"/>
          </a:p>
        </p:txBody>
      </p:sp>
      <p:sp>
        <p:nvSpPr>
          <p:cNvPr id="11" name="Iss 0"/>
          <p:cNvSpPr/>
          <p:nvPr/>
        </p:nvSpPr>
        <p:spPr>
          <a:xfrm>
            <a:off x="10012680" y="2076785"/>
            <a:ext cx="1673352" cy="1057229"/>
          </a:xfrm>
          <a:prstGeom prst="roundRect">
            <a:avLst>
              <a:gd name="adj" fmla="val 4000"/>
            </a:avLst>
          </a:prstGeom>
          <a:solidFill>
            <a:srgbClr val="FBE6EB"/>
          </a:solidFill>
          <a:ln>
            <a:noFill/>
          </a:ln>
        </p:spPr>
      </p:sp>
      <p:sp>
        <p:nvSpPr>
          <p:cNvPr id="12" name="Iss t 0"/>
          <p:cNvSpPr txBox="1"/>
          <p:nvPr/>
        </p:nvSpPr>
        <p:spPr>
          <a:xfrm>
            <a:off x="10085832" y="2128357"/>
            <a:ext cx="1536192" cy="96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10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방문 일정이 다름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견적: Day −14 · 1 · 12 · 24 · 48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국내안: Day 1 · 7 · 14 · 21</a:t>
            </a:r>
            <a:endParaRPr lang="ko-KR" sz="1100"/>
          </a:p>
        </p:txBody>
      </p:sp>
      <p:sp>
        <p:nvSpPr>
          <p:cNvPr id="13" name="Iss 1"/>
          <p:cNvSpPr/>
          <p:nvPr/>
        </p:nvSpPr>
        <p:spPr>
          <a:xfrm>
            <a:off x="10012680" y="3219968"/>
            <a:ext cx="1673352" cy="1057229"/>
          </a:xfrm>
          <a:prstGeom prst="roundRect">
            <a:avLst>
              <a:gd name="adj" fmla="val 4000"/>
            </a:avLst>
          </a:prstGeom>
          <a:solidFill>
            <a:srgbClr val="FBE6EB"/>
          </a:solidFill>
          <a:ln>
            <a:noFill/>
          </a:ln>
        </p:spPr>
      </p:sp>
      <p:sp>
        <p:nvSpPr>
          <p:cNvPr id="14" name="Iss t 1"/>
          <p:cNvSpPr txBox="1"/>
          <p:nvPr/>
        </p:nvSpPr>
        <p:spPr>
          <a:xfrm>
            <a:off x="10085832" y="3271540"/>
            <a:ext cx="1536192" cy="96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10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의약품용 항목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Run-in · 이중맹검 투약 등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화상 겔 프로토콜로 수정</a:t>
            </a:r>
            <a:endParaRPr lang="ko-KR" sz="1100"/>
          </a:p>
        </p:txBody>
      </p:sp>
      <p:sp>
        <p:nvSpPr>
          <p:cNvPr id="15" name="Iss 2"/>
          <p:cNvSpPr/>
          <p:nvPr/>
        </p:nvSpPr>
        <p:spPr>
          <a:xfrm>
            <a:off x="10012680" y="4363151"/>
            <a:ext cx="1673352" cy="1057229"/>
          </a:xfrm>
          <a:prstGeom prst="roundRect">
            <a:avLst>
              <a:gd name="adj" fmla="val 4000"/>
            </a:avLst>
          </a:prstGeom>
          <a:solidFill>
            <a:srgbClr val="E8EFFF"/>
          </a:solidFill>
          <a:ln>
            <a:noFill/>
          </a:ln>
        </p:spPr>
      </p:sp>
      <p:sp>
        <p:nvSpPr>
          <p:cNvPr id="16" name="Iss t 2"/>
          <p:cNvSpPr txBox="1"/>
          <p:nvPr/>
        </p:nvSpPr>
        <p:spPr>
          <a:xfrm>
            <a:off x="10085832" y="4414723"/>
            <a:ext cx="1536192" cy="96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견적 제외 항목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VAT · COFEPRIS 수수료 · 윤리위원회비 · 모니터 출장비 · 제품 공급 · 보험</a:t>
            </a:r>
            <a:endParaRPr lang="ko-KR" sz="1100"/>
          </a:p>
        </p:txBody>
      </p:sp>
      <p:sp>
        <p:nvSpPr>
          <p:cNvPr id="17" name="Mx note"/>
          <p:cNvSpPr txBox="1"/>
          <p:nvPr/>
        </p:nvSpPr>
        <p:spPr>
          <a:xfrm>
            <a:off x="502920" y="4629607"/>
            <a:ext cx="932688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검산 기준: 견적서에 적힌 단가 × 수량을 그대로 합산. 환율 1달러 = 1,400원. ‘O항 멕시코 제품등록’은 임상비와 성격이 달라 합계에서 제외 (기존 장표와 동일)</a:t>
            </a:r>
            <a:endParaRPr lang="ko-KR" sz="950"/>
          </a:p>
        </p:txBody>
      </p:sp>
      <p:sp>
        <p:nvSpPr>
          <p:cNvPr id="18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19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20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재견적 요청: 방문 일정 · 평가 항목을 KheAl 프로토콜에 맞추고, 제외 항목까지 넣은 ‘총액’으로 다시 받기</a:t>
            </a:r>
            <a:endParaRPr lang="ko-KR" sz="1250"/>
          </a:p>
        </p:txBody>
      </p:sp>
      <p:sp>
        <p:nvSpPr>
          <p:cNvPr id="21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CORVIA COR-COT-25-013 (BioFriends 제공 원본)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멕시코 부가가치세 16% (SAT)</a:t>
            </a:r>
            <a:endParaRPr lang="ko-KR" sz="75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FDA 510(k) 추가 비용 — 확정 고정비 0.29억 + 시나리오별 추가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FY2027 FDA 수수료 (2026.10.1~) · 환율 1달러=1,400원 · 시험 보완 · 컨설팅 · 미국 대리인은 견적 전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28</a:t>
            </a:r>
            <a:endParaRPr lang="ko-KR" sz="800"/>
          </a:p>
        </p:txBody>
      </p:sp>
      <p:sp>
        <p:nvSpPr>
          <p:cNvPr id="8" name="Scen card"/>
          <p:cNvSpPr/>
          <p:nvPr/>
        </p:nvSpPr>
        <p:spPr>
          <a:xfrm>
            <a:off x="502920" y="1664208"/>
            <a:ext cx="603504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S val 0"/>
          <p:cNvSpPr txBox="1"/>
          <p:nvPr/>
        </p:nvSpPr>
        <p:spPr>
          <a:xfrm>
            <a:off x="548640" y="3735672"/>
            <a:ext cx="1783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9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0.29억</a:t>
            </a:r>
            <a:endParaRPr lang="ko-KR" sz="1900"/>
          </a:p>
        </p:txBody>
      </p:sp>
      <p:sp>
        <p:nvSpPr>
          <p:cNvPr id="10" name="S bar 0"/>
          <p:cNvSpPr/>
          <p:nvPr/>
        </p:nvSpPr>
        <p:spPr>
          <a:xfrm>
            <a:off x="1005840" y="4208417"/>
            <a:ext cx="868680" cy="77376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S lab 0"/>
          <p:cNvSpPr txBox="1"/>
          <p:nvPr/>
        </p:nvSpPr>
        <p:spPr>
          <a:xfrm>
            <a:off x="1097280" y="4354556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A</a:t>
            </a:r>
            <a:endParaRPr lang="ko-KR" sz="1000"/>
          </a:p>
        </p:txBody>
      </p:sp>
      <p:sp>
        <p:nvSpPr>
          <p:cNvPr id="12" name="S nm 0"/>
          <p:cNvSpPr txBox="1"/>
          <p:nvPr/>
        </p:nvSpPr>
        <p:spPr>
          <a:xfrm>
            <a:off x="502920" y="4646798"/>
            <a:ext cx="187452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동일 510(k)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임상 없이 시험 자료로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510(k) 수수료 $7,163 (중소기업)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시설 등록 $13,785 / 년</a:t>
            </a:r>
            <a:endParaRPr lang="ko-KR" sz="1100"/>
          </a:p>
        </p:txBody>
      </p:sp>
      <p:sp>
        <p:nvSpPr>
          <p:cNvPr id="13" name="S val 1"/>
          <p:cNvSpPr txBox="1"/>
          <p:nvPr/>
        </p:nvSpPr>
        <p:spPr>
          <a:xfrm>
            <a:off x="2468880" y="3027310"/>
            <a:ext cx="1783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2.98억</a:t>
            </a:r>
            <a:endParaRPr lang="ko-KR" sz="1900"/>
          </a:p>
        </p:txBody>
      </p:sp>
      <p:sp>
        <p:nvSpPr>
          <p:cNvPr id="14" name="S bar 1"/>
          <p:cNvSpPr/>
          <p:nvPr/>
        </p:nvSpPr>
        <p:spPr>
          <a:xfrm>
            <a:off x="2926080" y="3500055"/>
            <a:ext cx="868680" cy="785738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5" name="S usd 1"/>
          <p:cNvSpPr txBox="1"/>
          <p:nvPr/>
        </p:nvSpPr>
        <p:spPr>
          <a:xfrm>
            <a:off x="2468880" y="3328148"/>
            <a:ext cx="1783080" cy="1890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$212,722</a:t>
            </a:r>
            <a:endParaRPr lang="ko-KR" sz="900"/>
          </a:p>
        </p:txBody>
      </p:sp>
      <p:sp>
        <p:nvSpPr>
          <p:cNvPr id="16" name="S lab 1"/>
          <p:cNvSpPr txBox="1"/>
          <p:nvPr/>
        </p:nvSpPr>
        <p:spPr>
          <a:xfrm>
            <a:off x="3017520" y="4354556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B</a:t>
            </a:r>
            <a:endParaRPr lang="ko-KR" sz="1000"/>
          </a:p>
        </p:txBody>
      </p:sp>
      <p:sp>
        <p:nvSpPr>
          <p:cNvPr id="17" name="S nm 1"/>
          <p:cNvSpPr txBox="1"/>
          <p:nvPr/>
        </p:nvSpPr>
        <p:spPr>
          <a:xfrm>
            <a:off x="2423160" y="4646798"/>
            <a:ext cx="187452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 + 멕시코 임상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보조 근거로 제출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+ 멕시코 VAT 포함 $191,774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+ 견적 제외 항목</a:t>
            </a:r>
            <a:endParaRPr lang="ko-KR" sz="1100"/>
          </a:p>
        </p:txBody>
      </p:sp>
      <p:sp>
        <p:nvSpPr>
          <p:cNvPr id="18" name="S val 2"/>
          <p:cNvSpPr txBox="1"/>
          <p:nvPr/>
        </p:nvSpPr>
        <p:spPr>
          <a:xfrm>
            <a:off x="4389120" y="1793138"/>
            <a:ext cx="1783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9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7.66억</a:t>
            </a:r>
            <a:endParaRPr lang="ko-KR" sz="1900"/>
          </a:p>
        </p:txBody>
      </p:sp>
      <p:sp>
        <p:nvSpPr>
          <p:cNvPr id="19" name="S bar 2"/>
          <p:cNvSpPr/>
          <p:nvPr/>
        </p:nvSpPr>
        <p:spPr>
          <a:xfrm>
            <a:off x="4846320" y="2265883"/>
            <a:ext cx="868680" cy="2019910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0" name="S usd 2"/>
          <p:cNvSpPr txBox="1"/>
          <p:nvPr/>
        </p:nvSpPr>
        <p:spPr>
          <a:xfrm>
            <a:off x="4389120" y="2093976"/>
            <a:ext cx="1783080" cy="1890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$546,848</a:t>
            </a:r>
            <a:endParaRPr lang="ko-KR" sz="900"/>
          </a:p>
        </p:txBody>
      </p:sp>
      <p:sp>
        <p:nvSpPr>
          <p:cNvPr id="21" name="S lab 2"/>
          <p:cNvSpPr txBox="1"/>
          <p:nvPr/>
        </p:nvSpPr>
        <p:spPr>
          <a:xfrm>
            <a:off x="4937760" y="4354556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C</a:t>
            </a:r>
            <a:endParaRPr lang="ko-KR" sz="1000"/>
          </a:p>
        </p:txBody>
      </p:sp>
      <p:sp>
        <p:nvSpPr>
          <p:cNvPr id="22" name="S nm 2"/>
          <p:cNvSpPr txBox="1"/>
          <p:nvPr/>
        </p:nvSpPr>
        <p:spPr>
          <a:xfrm>
            <a:off x="4343400" y="4646798"/>
            <a:ext cx="187452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 + 미국 임상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FDA가 미국 임상 요구 시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+ 미국 공개단가 모델 $525,900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(예비비 15% 포함)</a:t>
            </a:r>
            <a:endParaRPr lang="ko-KR" sz="1100"/>
          </a:p>
        </p:txBody>
      </p:sp>
      <p:sp>
        <p:nvSpPr>
          <p:cNvPr id="23" name="S base"/>
          <p:cNvSpPr/>
          <p:nvPr/>
        </p:nvSpPr>
        <p:spPr>
          <a:xfrm>
            <a:off x="731520" y="4285793"/>
            <a:ext cx="5577840" cy="25786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graphicFrame>
        <p:nvGraphicFramePr>
          <p:cNvPr id="24" name="FDA fee table"/>
          <p:cNvGraphicFramePr>
            <a:graphicFrameLocks noGrp="1"/>
          </p:cNvGraphicFramePr>
          <p:nvPr/>
        </p:nvGraphicFramePr>
        <p:xfrm>
          <a:off x="6720840" y="1664208"/>
          <a:ext cx="4965192" cy="2905232"/>
        </p:xfrm>
        <a:graphic>
          <a:graphicData uri="http://schemas.openxmlformats.org/drawingml/2006/table">
            <a:tbl>
              <a:tblPr firstRow="1"/>
              <a:tblGrid>
                <a:gridCol w="2148840"/>
                <a:gridCol w="1325880"/>
                <a:gridCol w="1490472"/>
              </a:tblGrid>
              <a:tr h="326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비용 항목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금액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근거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510(k) 심사 수수료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$7,163 / $28,653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중소기업 / 일반 · FY2027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시설 등록 (매년)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$13,785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FY2027 · 첫해 감면 없음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중소기업 인정 (SBD)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· 매년 신청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매출 1억 달러 이하 · 국세청 확인서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사전상담 Pre-Sub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제출 전 자료 범위 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시험 보완 · 컨설팅 · 미국 대리인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견적 필요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Pre-Sub 결과에 따라 확정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멕시코 임상 (B안)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$191,774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CORVIA 견적 + VAT 16%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26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27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가장 싼 길은 A안: 중소기업 인정으로 수수료를 $28,653 → $7,163로 낮추고, Pre-Sub로 임상 필요 여부부터 확정</a:t>
            </a:r>
            <a:endParaRPr lang="ko-KR" sz="1250"/>
          </a:p>
        </p:txBody>
      </p:sp>
      <p:sp>
        <p:nvSpPr>
          <p:cNvPr id="28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 FY2027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RAPS FY2027 수수료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FDA Small Business Program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CORVIA 견적서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UVA Clinical Research Fees</a:t>
            </a:r>
            <a:endParaRPr lang="ko-KR" sz="75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임상 예산 5억원 — 조건이 지켜지면 완료 가능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계획 모델: 성인 60명 · 2기관 · 1인 5회 방문 · 12개월 (병원·CRO 확정 견적 전)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29</a:t>
            </a:r>
            <a:endParaRPr lang="ko-KR" sz="800"/>
          </a:p>
        </p:txBody>
      </p:sp>
      <p:sp>
        <p:nvSpPr>
          <p:cNvPr id="8" name="Total lbl"/>
          <p:cNvSpPr txBox="1"/>
          <p:nvPr/>
        </p:nvSpPr>
        <p:spPr>
          <a:xfrm>
            <a:off x="502920" y="1664208"/>
            <a:ext cx="201168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총 임상예산</a:t>
            </a:r>
            <a:endParaRPr lang="ko-KR" sz="1100"/>
          </a:p>
        </p:txBody>
      </p:sp>
      <p:sp>
        <p:nvSpPr>
          <p:cNvPr id="9" name="Total"/>
          <p:cNvSpPr txBox="1"/>
          <p:nvPr/>
        </p:nvSpPr>
        <p:spPr>
          <a:xfrm>
            <a:off x="502920" y="1904878"/>
            <a:ext cx="219456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3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5.00억</a:t>
            </a:r>
            <a:endParaRPr lang="ko-KR" sz="3400"/>
          </a:p>
        </p:txBody>
      </p:sp>
      <p:sp>
        <p:nvSpPr>
          <p:cNvPr id="10" name="Stack 0"/>
          <p:cNvSpPr/>
          <p:nvPr/>
        </p:nvSpPr>
        <p:spPr>
          <a:xfrm>
            <a:off x="2788920" y="1818924"/>
            <a:ext cx="7117690" cy="532912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Stack lab 0"/>
          <p:cNvSpPr txBox="1"/>
          <p:nvPr/>
        </p:nvSpPr>
        <p:spPr>
          <a:xfrm>
            <a:off x="2788920" y="1818924"/>
            <a:ext cx="7117690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수행비 4.00억</a:t>
            </a:r>
            <a:endParaRPr lang="ko-KR" sz="1300"/>
          </a:p>
        </p:txBody>
      </p:sp>
      <p:sp>
        <p:nvSpPr>
          <p:cNvPr id="12" name="Stack 1"/>
          <p:cNvSpPr/>
          <p:nvPr/>
        </p:nvSpPr>
        <p:spPr>
          <a:xfrm>
            <a:off x="9906610" y="1818924"/>
            <a:ext cx="427061" cy="532912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3" name="Stack 2"/>
          <p:cNvSpPr/>
          <p:nvPr/>
        </p:nvSpPr>
        <p:spPr>
          <a:xfrm>
            <a:off x="10333671" y="1818924"/>
            <a:ext cx="373679" cy="532912"/>
          </a:xfrm>
          <a:prstGeom prst="rect">
            <a:avLst/>
          </a:prstGeom>
          <a:solidFill>
            <a:srgbClr val="3B3F57"/>
          </a:solidFill>
          <a:ln>
            <a:noFill/>
          </a:ln>
        </p:spPr>
      </p:sp>
      <p:sp>
        <p:nvSpPr>
          <p:cNvPr id="14" name="Stack 3"/>
          <p:cNvSpPr/>
          <p:nvPr/>
        </p:nvSpPr>
        <p:spPr>
          <a:xfrm>
            <a:off x="10707350" y="1818924"/>
            <a:ext cx="978682" cy="532912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5" name="Leg sw 0"/>
          <p:cNvSpPr/>
          <p:nvPr/>
        </p:nvSpPr>
        <p:spPr>
          <a:xfrm>
            <a:off x="6949440" y="2454981"/>
            <a:ext cx="146304" cy="137526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6" name="Leg 0"/>
          <p:cNvSpPr txBox="1"/>
          <p:nvPr/>
        </p:nvSpPr>
        <p:spPr>
          <a:xfrm>
            <a:off x="7132320" y="2394814"/>
            <a:ext cx="1463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간접비 0.24억</a:t>
            </a:r>
            <a:endParaRPr lang="ko-KR" sz="950"/>
          </a:p>
        </p:txBody>
      </p:sp>
      <p:sp>
        <p:nvSpPr>
          <p:cNvPr id="17" name="Leg sw 1"/>
          <p:cNvSpPr/>
          <p:nvPr/>
        </p:nvSpPr>
        <p:spPr>
          <a:xfrm>
            <a:off x="8549640" y="2454981"/>
            <a:ext cx="146304" cy="137526"/>
          </a:xfrm>
          <a:prstGeom prst="rect">
            <a:avLst/>
          </a:prstGeom>
          <a:solidFill>
            <a:srgbClr val="3B3F57"/>
          </a:solidFill>
          <a:ln>
            <a:noFill/>
          </a:ln>
        </p:spPr>
      </p:sp>
      <p:sp>
        <p:nvSpPr>
          <p:cNvPr id="18" name="Leg 1"/>
          <p:cNvSpPr txBox="1"/>
          <p:nvPr/>
        </p:nvSpPr>
        <p:spPr>
          <a:xfrm>
            <a:off x="8732520" y="2394814"/>
            <a:ext cx="1463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계약·VAT 완충 0.21억</a:t>
            </a:r>
            <a:endParaRPr lang="ko-KR" sz="950"/>
          </a:p>
        </p:txBody>
      </p:sp>
      <p:sp>
        <p:nvSpPr>
          <p:cNvPr id="19" name="Leg sw 2"/>
          <p:cNvSpPr/>
          <p:nvPr/>
        </p:nvSpPr>
        <p:spPr>
          <a:xfrm>
            <a:off x="10149840" y="2454981"/>
            <a:ext cx="146304" cy="137526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0" name="Leg 2"/>
          <p:cNvSpPr txBox="1"/>
          <p:nvPr/>
        </p:nvSpPr>
        <p:spPr>
          <a:xfrm>
            <a:off x="10332720" y="2394814"/>
            <a:ext cx="1463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예비비 0.55억</a:t>
            </a:r>
            <a:endParaRPr lang="ko-KR" sz="950"/>
          </a:p>
        </p:txBody>
      </p:sp>
      <p:sp>
        <p:nvSpPr>
          <p:cNvPr id="21" name="Steps card"/>
          <p:cNvSpPr/>
          <p:nvPr/>
        </p:nvSpPr>
        <p:spPr>
          <a:xfrm>
            <a:off x="502920" y="2781605"/>
            <a:ext cx="6766560" cy="2905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Steps title"/>
          <p:cNvSpPr txBox="1"/>
          <p:nvPr/>
        </p:nvSpPr>
        <p:spPr>
          <a:xfrm>
            <a:off x="685800" y="2850368"/>
            <a:ext cx="54864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수행비 8단계 (백만원)</a:t>
            </a:r>
            <a:endParaRPr lang="ko-KR" sz="1150"/>
          </a:p>
        </p:txBody>
      </p:sp>
      <p:sp>
        <p:nvSpPr>
          <p:cNvPr id="23" name="St n 0"/>
          <p:cNvSpPr txBox="1"/>
          <p:nvPr/>
        </p:nvSpPr>
        <p:spPr>
          <a:xfrm>
            <a:off x="685800" y="3168396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1  설계·통계</a:t>
            </a:r>
            <a:endParaRPr lang="ko-KR" sz="1050"/>
          </a:p>
        </p:txBody>
      </p:sp>
      <p:sp>
        <p:nvSpPr>
          <p:cNvPr id="24" name="St bar 0"/>
          <p:cNvSpPr/>
          <p:nvPr/>
        </p:nvSpPr>
        <p:spPr>
          <a:xfrm>
            <a:off x="2697480" y="3219968"/>
            <a:ext cx="604684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25" name="St v 0"/>
          <p:cNvSpPr txBox="1"/>
          <p:nvPr/>
        </p:nvSpPr>
        <p:spPr>
          <a:xfrm>
            <a:off x="3375316" y="3168396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25</a:t>
            </a:r>
            <a:endParaRPr lang="ko-KR" sz="1050"/>
          </a:p>
        </p:txBody>
      </p:sp>
      <p:sp>
        <p:nvSpPr>
          <p:cNvPr id="26" name="St n 1"/>
          <p:cNvSpPr txBox="1"/>
          <p:nvPr/>
        </p:nvSpPr>
        <p:spPr>
          <a:xfrm>
            <a:off x="685800" y="3469234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  병원 선정·예산</a:t>
            </a:r>
            <a:endParaRPr lang="ko-KR" sz="1050"/>
          </a:p>
        </p:txBody>
      </p:sp>
      <p:sp>
        <p:nvSpPr>
          <p:cNvPr id="27" name="St bar 1"/>
          <p:cNvSpPr/>
          <p:nvPr/>
        </p:nvSpPr>
        <p:spPr>
          <a:xfrm>
            <a:off x="2697480" y="3520806"/>
            <a:ext cx="193499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28" name="St v 1"/>
          <p:cNvSpPr txBox="1"/>
          <p:nvPr/>
        </p:nvSpPr>
        <p:spPr>
          <a:xfrm>
            <a:off x="2964131" y="3469234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8</a:t>
            </a:r>
            <a:endParaRPr lang="ko-KR" sz="1050"/>
          </a:p>
        </p:txBody>
      </p:sp>
      <p:sp>
        <p:nvSpPr>
          <p:cNvPr id="29" name="St n 2"/>
          <p:cNvSpPr txBox="1"/>
          <p:nvPr/>
        </p:nvSpPr>
        <p:spPr>
          <a:xfrm>
            <a:off x="685800" y="3770071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3  식약처·IRB·계약</a:t>
            </a:r>
            <a:endParaRPr lang="ko-KR" sz="1050"/>
          </a:p>
        </p:txBody>
      </p:sp>
      <p:sp>
        <p:nvSpPr>
          <p:cNvPr id="30" name="St bar 2"/>
          <p:cNvSpPr/>
          <p:nvPr/>
        </p:nvSpPr>
        <p:spPr>
          <a:xfrm>
            <a:off x="2697480" y="3821643"/>
            <a:ext cx="290248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31" name="St v 2"/>
          <p:cNvSpPr txBox="1"/>
          <p:nvPr/>
        </p:nvSpPr>
        <p:spPr>
          <a:xfrm>
            <a:off x="3060880" y="3770071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12</a:t>
            </a:r>
            <a:endParaRPr lang="ko-KR" sz="1050"/>
          </a:p>
        </p:txBody>
      </p:sp>
      <p:sp>
        <p:nvSpPr>
          <p:cNvPr id="32" name="St n 3"/>
          <p:cNvSpPr txBox="1"/>
          <p:nvPr/>
        </p:nvSpPr>
        <p:spPr>
          <a:xfrm>
            <a:off x="685800" y="4070909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4  시험 개시</a:t>
            </a:r>
            <a:endParaRPr lang="ko-KR" sz="1050"/>
          </a:p>
        </p:txBody>
      </p:sp>
      <p:sp>
        <p:nvSpPr>
          <p:cNvPr id="33" name="St bar 3"/>
          <p:cNvSpPr/>
          <p:nvPr/>
        </p:nvSpPr>
        <p:spPr>
          <a:xfrm>
            <a:off x="2697480" y="4122481"/>
            <a:ext cx="483747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34" name="St v 3"/>
          <p:cNvSpPr txBox="1"/>
          <p:nvPr/>
        </p:nvSpPr>
        <p:spPr>
          <a:xfrm>
            <a:off x="3254379" y="4070909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20</a:t>
            </a:r>
            <a:endParaRPr lang="ko-KR" sz="1050"/>
          </a:p>
        </p:txBody>
      </p:sp>
      <p:sp>
        <p:nvSpPr>
          <p:cNvPr id="35" name="St n 4"/>
          <p:cNvSpPr txBox="1"/>
          <p:nvPr/>
        </p:nvSpPr>
        <p:spPr>
          <a:xfrm>
            <a:off x="685800" y="4371746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  선별·등록 (60명)</a:t>
            </a:r>
            <a:endParaRPr lang="ko-KR" sz="1050"/>
          </a:p>
        </p:txBody>
      </p:sp>
      <p:sp>
        <p:nvSpPr>
          <p:cNvPr id="36" name="St bar 4"/>
          <p:cNvSpPr/>
          <p:nvPr/>
        </p:nvSpPr>
        <p:spPr>
          <a:xfrm>
            <a:off x="2697480" y="4423319"/>
            <a:ext cx="1088431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37" name="St v 4"/>
          <p:cNvSpPr txBox="1"/>
          <p:nvPr/>
        </p:nvSpPr>
        <p:spPr>
          <a:xfrm>
            <a:off x="3859063" y="4371746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45</a:t>
            </a:r>
            <a:endParaRPr lang="ko-KR" sz="1050"/>
          </a:p>
        </p:txBody>
      </p:sp>
      <p:sp>
        <p:nvSpPr>
          <p:cNvPr id="38" name="St n 5"/>
          <p:cNvSpPr txBox="1"/>
          <p:nvPr/>
        </p:nvSpPr>
        <p:spPr>
          <a:xfrm>
            <a:off x="685800" y="4672584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  치료·추적 (300회 방문)</a:t>
            </a:r>
            <a:endParaRPr lang="ko-KR" sz="1050"/>
          </a:p>
        </p:txBody>
      </p:sp>
      <p:sp>
        <p:nvSpPr>
          <p:cNvPr id="39" name="St bar 5"/>
          <p:cNvSpPr/>
          <p:nvPr/>
        </p:nvSpPr>
        <p:spPr>
          <a:xfrm>
            <a:off x="2697480" y="4724156"/>
            <a:ext cx="3749040" cy="171907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40" name="St v 5"/>
          <p:cNvSpPr txBox="1"/>
          <p:nvPr/>
        </p:nvSpPr>
        <p:spPr>
          <a:xfrm>
            <a:off x="6519672" y="4672584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155</a:t>
            </a:r>
            <a:endParaRPr lang="ko-KR" sz="1050"/>
          </a:p>
        </p:txBody>
      </p:sp>
      <p:sp>
        <p:nvSpPr>
          <p:cNvPr id="41" name="St n 6"/>
          <p:cNvSpPr txBox="1"/>
          <p:nvPr/>
        </p:nvSpPr>
        <p:spPr>
          <a:xfrm>
            <a:off x="685800" y="4973422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7  모니터링·안전성</a:t>
            </a:r>
            <a:endParaRPr lang="ko-KR" sz="1050"/>
          </a:p>
        </p:txBody>
      </p:sp>
      <p:sp>
        <p:nvSpPr>
          <p:cNvPr id="42" name="St bar 6"/>
          <p:cNvSpPr/>
          <p:nvPr/>
        </p:nvSpPr>
        <p:spPr>
          <a:xfrm>
            <a:off x="2697480" y="5024994"/>
            <a:ext cx="1934988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43" name="St v 6"/>
          <p:cNvSpPr txBox="1"/>
          <p:nvPr/>
        </p:nvSpPr>
        <p:spPr>
          <a:xfrm>
            <a:off x="4705620" y="4973422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80</a:t>
            </a:r>
            <a:endParaRPr lang="ko-KR" sz="1050"/>
          </a:p>
        </p:txBody>
      </p:sp>
      <p:sp>
        <p:nvSpPr>
          <p:cNvPr id="44" name="St n 7"/>
          <p:cNvSpPr txBox="1"/>
          <p:nvPr/>
        </p:nvSpPr>
        <p:spPr>
          <a:xfrm>
            <a:off x="685800" y="5274259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8  분석·보고·종료</a:t>
            </a:r>
            <a:endParaRPr lang="ko-KR" sz="1050"/>
          </a:p>
        </p:txBody>
      </p:sp>
      <p:sp>
        <p:nvSpPr>
          <p:cNvPr id="45" name="St bar 7"/>
          <p:cNvSpPr/>
          <p:nvPr/>
        </p:nvSpPr>
        <p:spPr>
          <a:xfrm>
            <a:off x="2697480" y="5325831"/>
            <a:ext cx="1330305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46" name="St v 7"/>
          <p:cNvSpPr txBox="1"/>
          <p:nvPr/>
        </p:nvSpPr>
        <p:spPr>
          <a:xfrm>
            <a:off x="4100937" y="5274259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55</a:t>
            </a:r>
            <a:endParaRPr lang="ko-KR" sz="1050"/>
          </a:p>
        </p:txBody>
      </p:sp>
      <p:sp>
        <p:nvSpPr>
          <p:cNvPr id="47" name="Cond card"/>
          <p:cNvSpPr/>
          <p:nvPr/>
        </p:nvSpPr>
        <p:spPr>
          <a:xfrm>
            <a:off x="7434072" y="2781605"/>
            <a:ext cx="4251960" cy="1392448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8" name="Cond"/>
          <p:cNvSpPr txBox="1"/>
          <p:nvPr/>
        </p:nvSpPr>
        <p:spPr>
          <a:xfrm>
            <a:off x="7589520" y="2850368"/>
            <a:ext cx="4023360" cy="1289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✓ 이 조건이면 완료 가능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임상용 제품 · 비임상 · GMP 준비 완료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60명 · 2기관 · 5회 방문 유지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장기 흉터 추적 제외 · 큰 변경 없음</a:t>
            </a:r>
            <a:endParaRPr lang="ko-KR" sz="1050"/>
          </a:p>
        </p:txBody>
      </p:sp>
      <p:sp>
        <p:nvSpPr>
          <p:cNvPr id="49" name="Risk card"/>
          <p:cNvSpPr/>
          <p:nvPr/>
        </p:nvSpPr>
        <p:spPr>
          <a:xfrm>
            <a:off x="7434072" y="4294388"/>
            <a:ext cx="4251960" cy="1392448"/>
          </a:xfrm>
          <a:prstGeom prst="roundRect">
            <a:avLst>
              <a:gd name="adj" fmla="val 4000"/>
            </a:avLst>
          </a:prstGeom>
          <a:solidFill>
            <a:srgbClr val="FBE6EB"/>
          </a:solidFill>
          <a:ln>
            <a:noFill/>
          </a:ln>
        </p:spPr>
      </p:sp>
      <p:sp>
        <p:nvSpPr>
          <p:cNvPr id="50" name="Risk"/>
          <p:cNvSpPr txBox="1"/>
          <p:nvPr/>
        </p:nvSpPr>
        <p:spPr>
          <a:xfrm>
            <a:off x="7589520" y="4363151"/>
            <a:ext cx="4023360" cy="1289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! 이러면 예산 초과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모집 지연 · 선별 탈락 증가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6~12개월 흉터 추적 추가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비교 제품·드레싱·사진판독 증가 · 중대한 이상사례</a:t>
            </a:r>
            <a:endParaRPr lang="ko-KR" sz="1050"/>
          </a:p>
        </p:txBody>
      </p:sp>
      <p:sp>
        <p:nvSpPr>
          <p:cNvPr id="51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2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3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가장 큰 비용은 ‘치료·추적 1.55억’ → 모집 속도와 방문 횟수가 예산을 좌우한다</a:t>
            </a:r>
            <a:endParaRPr lang="ko-KR" sz="1250"/>
          </a:p>
        </p:txBody>
      </p:sp>
      <p:sp>
        <p:nvSpPr>
          <p:cNvPr id="5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한강성심병원 IRB 심의비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한강성심병원 연구비·간접비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서울대병원 HRPP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세브란스 IRB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C&amp;R Research 공시</a:t>
            </a:r>
            <a:endParaRPr lang="ko-KR" sz="75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국가별 임상비용 — 조건이 달라 순위 비교는 불가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멕시코는 실제 견적(40명·1기관), 한국·미국은 계획 모델(60명·2기관) — 예산 계획 참고용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30</a:t>
            </a:r>
            <a:endParaRPr lang="ko-KR" sz="800"/>
          </a:p>
        </p:txBody>
      </p:sp>
      <p:sp>
        <p:nvSpPr>
          <p:cNvPr id="8" name="Chart card"/>
          <p:cNvSpPr/>
          <p:nvPr/>
        </p:nvSpPr>
        <p:spPr>
          <a:xfrm>
            <a:off x="502920" y="1664208"/>
            <a:ext cx="6675120" cy="40226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C val 0"/>
          <p:cNvSpPr txBox="1"/>
          <p:nvPr/>
        </p:nvSpPr>
        <p:spPr>
          <a:xfrm>
            <a:off x="594360" y="3235547"/>
            <a:ext cx="192024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2.31억</a:t>
            </a:r>
            <a:endParaRPr lang="ko-KR" sz="2000"/>
          </a:p>
        </p:txBody>
      </p:sp>
      <p:sp>
        <p:nvSpPr>
          <p:cNvPr id="10" name="C bar 0"/>
          <p:cNvSpPr/>
          <p:nvPr/>
        </p:nvSpPr>
        <p:spPr>
          <a:xfrm>
            <a:off x="1097280" y="3665315"/>
            <a:ext cx="914400" cy="620478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C nm 0"/>
          <p:cNvSpPr txBox="1"/>
          <p:nvPr/>
        </p:nvSpPr>
        <p:spPr>
          <a:xfrm>
            <a:off x="594360" y="4328770"/>
            <a:ext cx="192024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멕시코</a:t>
            </a:r>
            <a:endParaRPr lang="ko-KR" sz="1300"/>
          </a:p>
        </p:txBody>
      </p:sp>
      <p:sp>
        <p:nvSpPr>
          <p:cNvPr id="12" name="C kind 0"/>
          <p:cNvSpPr txBox="1"/>
          <p:nvPr/>
        </p:nvSpPr>
        <p:spPr>
          <a:xfrm>
            <a:off x="960120" y="4629607"/>
            <a:ext cx="118872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실제 견적</a:t>
            </a:r>
            <a:endParaRPr lang="ko-KR" sz="950"/>
          </a:p>
        </p:txBody>
      </p:sp>
      <p:sp>
        <p:nvSpPr>
          <p:cNvPr id="13" name="C cond 0"/>
          <p:cNvSpPr txBox="1"/>
          <p:nvPr/>
        </p:nvSpPr>
        <p:spPr>
          <a:xfrm>
            <a:off x="548640" y="4930445"/>
            <a:ext cx="2011680" cy="730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40명 · 1기관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등록비 제외 · VAT·위원회비·출장비 별도</a:t>
            </a:r>
            <a:endParaRPr lang="ko-KR" sz="1100"/>
          </a:p>
        </p:txBody>
      </p:sp>
      <p:sp>
        <p:nvSpPr>
          <p:cNvPr id="14" name="C val 1"/>
          <p:cNvSpPr txBox="1"/>
          <p:nvPr/>
        </p:nvSpPr>
        <p:spPr>
          <a:xfrm>
            <a:off x="2743200" y="2513000"/>
            <a:ext cx="192024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5.00억</a:t>
            </a:r>
            <a:endParaRPr lang="ko-KR" sz="2000"/>
          </a:p>
        </p:txBody>
      </p:sp>
      <p:sp>
        <p:nvSpPr>
          <p:cNvPr id="15" name="C bar 1"/>
          <p:cNvSpPr/>
          <p:nvPr/>
        </p:nvSpPr>
        <p:spPr>
          <a:xfrm>
            <a:off x="3246120" y="2942768"/>
            <a:ext cx="914400" cy="1343025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6" name="C nm 1"/>
          <p:cNvSpPr txBox="1"/>
          <p:nvPr/>
        </p:nvSpPr>
        <p:spPr>
          <a:xfrm>
            <a:off x="2743200" y="4328770"/>
            <a:ext cx="192024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한국</a:t>
            </a:r>
            <a:endParaRPr lang="ko-KR" sz="1300"/>
          </a:p>
        </p:txBody>
      </p:sp>
      <p:sp>
        <p:nvSpPr>
          <p:cNvPr id="17" name="C kind 1"/>
          <p:cNvSpPr txBox="1"/>
          <p:nvPr/>
        </p:nvSpPr>
        <p:spPr>
          <a:xfrm>
            <a:off x="3108960" y="4629607"/>
            <a:ext cx="1188720" cy="257861"/>
          </a:xfrm>
          <a:prstGeom prst="roundRect">
            <a:avLst>
              <a:gd name="adj" fmla="val 16000"/>
            </a:avLst>
          </a:prstGeom>
          <a:solidFill>
            <a:srgbClr val="6B6E7A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계획 모델</a:t>
            </a:r>
            <a:endParaRPr lang="ko-KR" sz="950"/>
          </a:p>
        </p:txBody>
      </p:sp>
      <p:sp>
        <p:nvSpPr>
          <p:cNvPr id="18" name="C cond 1"/>
          <p:cNvSpPr txBox="1"/>
          <p:nvPr/>
        </p:nvSpPr>
        <p:spPr>
          <a:xfrm>
            <a:off x="2697480" y="4930445"/>
            <a:ext cx="2011680" cy="730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IRB·간접비 포함</a:t>
            </a:r>
            <a:endParaRPr lang="ko-KR" sz="1100"/>
          </a:p>
        </p:txBody>
      </p:sp>
      <p:sp>
        <p:nvSpPr>
          <p:cNvPr id="19" name="C val 2"/>
          <p:cNvSpPr txBox="1"/>
          <p:nvPr/>
        </p:nvSpPr>
        <p:spPr>
          <a:xfrm>
            <a:off x="4892040" y="1879092"/>
            <a:ext cx="192024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7.36억</a:t>
            </a:r>
            <a:endParaRPr lang="ko-KR" sz="2000"/>
          </a:p>
        </p:txBody>
      </p:sp>
      <p:sp>
        <p:nvSpPr>
          <p:cNvPr id="20" name="C bar 2"/>
          <p:cNvSpPr/>
          <p:nvPr/>
        </p:nvSpPr>
        <p:spPr>
          <a:xfrm>
            <a:off x="5394960" y="2308860"/>
            <a:ext cx="914400" cy="1976933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1" name="C nm 2"/>
          <p:cNvSpPr txBox="1"/>
          <p:nvPr/>
        </p:nvSpPr>
        <p:spPr>
          <a:xfrm>
            <a:off x="4892040" y="4328770"/>
            <a:ext cx="192024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</a:t>
            </a:r>
            <a:endParaRPr lang="ko-KR" sz="1300"/>
          </a:p>
        </p:txBody>
      </p:sp>
      <p:sp>
        <p:nvSpPr>
          <p:cNvPr id="22" name="C kind 2"/>
          <p:cNvSpPr txBox="1"/>
          <p:nvPr/>
        </p:nvSpPr>
        <p:spPr>
          <a:xfrm>
            <a:off x="5257800" y="4629607"/>
            <a:ext cx="1188720" cy="257861"/>
          </a:xfrm>
          <a:prstGeom prst="roundRect">
            <a:avLst>
              <a:gd name="adj" fmla="val 16000"/>
            </a:avLst>
          </a:prstGeom>
          <a:solidFill>
            <a:srgbClr val="6B6E7A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계획 모델</a:t>
            </a:r>
            <a:endParaRPr lang="ko-KR" sz="950"/>
          </a:p>
        </p:txBody>
      </p:sp>
      <p:sp>
        <p:nvSpPr>
          <p:cNvPr id="23" name="C cond 2"/>
          <p:cNvSpPr txBox="1"/>
          <p:nvPr/>
        </p:nvSpPr>
        <p:spPr>
          <a:xfrm>
            <a:off x="4846320" y="4930445"/>
            <a:ext cx="2011680" cy="730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예비비 15% 포함 · FDA 비용 제외</a:t>
            </a:r>
            <a:endParaRPr lang="ko-KR" sz="1100"/>
          </a:p>
        </p:txBody>
      </p:sp>
      <p:sp>
        <p:nvSpPr>
          <p:cNvPr id="24" name="Baseline"/>
          <p:cNvSpPr/>
          <p:nvPr/>
        </p:nvSpPr>
        <p:spPr>
          <a:xfrm>
            <a:off x="777240" y="4285793"/>
            <a:ext cx="6126480" cy="25786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25" name="Detail card"/>
          <p:cNvSpPr/>
          <p:nvPr/>
        </p:nvSpPr>
        <p:spPr>
          <a:xfrm>
            <a:off x="7342632" y="1664208"/>
            <a:ext cx="4343400" cy="40226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6" name="D title"/>
          <p:cNvSpPr txBox="1"/>
          <p:nvPr/>
        </p:nvSpPr>
        <p:spPr>
          <a:xfrm>
            <a:off x="7543800" y="1750162"/>
            <a:ext cx="393192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견적 · 모델 구성</a:t>
            </a:r>
            <a:endParaRPr lang="ko-KR" sz="1200"/>
          </a:p>
        </p:txBody>
      </p:sp>
      <p:sp>
        <p:nvSpPr>
          <p:cNvPr id="27" name="D mex"/>
          <p:cNvSpPr txBox="1"/>
          <p:nvPr/>
        </p:nvSpPr>
        <p:spPr>
          <a:xfrm>
            <a:off x="7543800" y="2093976"/>
            <a:ext cx="3977640" cy="1289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 CORVIA 견적  $165.3k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기관 연구비 1.03억 · 규제·PM 0.73억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DB·보고·종료 0.28억 · 모니터링 0.27억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VAT 16% 포함 시 2.68억 (견적 검토 별도 장)</a:t>
            </a:r>
            <a:endParaRPr lang="ko-KR" sz="1050"/>
          </a:p>
        </p:txBody>
      </p:sp>
      <p:sp>
        <p:nvSpPr>
          <p:cNvPr id="28" name="D us"/>
          <p:cNvSpPr txBox="1"/>
          <p:nvPr/>
        </p:nvSpPr>
        <p:spPr>
          <a:xfrm>
            <a:off x="7543800" y="3211373"/>
            <a:ext cx="3977640" cy="1547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미국 공개단가 모델  $525.9k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대상자 방문·처치 2.87억 (최대 항목)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기관 간접비 0.81억 · 모니터링 0.79억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그 외 5개 항목 1.94억 + 예비비 15% 0.96억</a:t>
            </a:r>
            <a:endParaRPr lang="ko-KR" sz="1050"/>
          </a:p>
        </p:txBody>
      </p:sp>
      <p:sp>
        <p:nvSpPr>
          <p:cNvPr id="29" name="D kr"/>
          <p:cNvSpPr txBox="1"/>
          <p:nvPr/>
        </p:nvSpPr>
        <p:spPr>
          <a:xfrm>
            <a:off x="7543800" y="4414723"/>
            <a:ext cx="3977640" cy="1031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한국 계획 모델  5.00억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상세 구성은 29쪽</a:t>
            </a:r>
            <a:endParaRPr lang="ko-KR" sz="1050"/>
          </a:p>
        </p:txBody>
      </p:sp>
      <p:sp>
        <p:nvSpPr>
          <p:cNvPr id="3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조건(인원·기관·포함 범위)의 비교 견적을 받아야 국가 선택을 판단할 수 있다</a:t>
            </a:r>
            <a:endParaRPr lang="ko-KR" sz="1250"/>
          </a:p>
        </p:txBody>
      </p:sp>
      <p:sp>
        <p:nvSpPr>
          <p:cNvPr id="33" name="FX"/>
          <p:cNvSpPr txBox="1"/>
          <p:nvPr/>
        </p:nvSpPr>
        <p:spPr>
          <a:xfrm>
            <a:off x="685800" y="5428976"/>
            <a:ext cx="6400800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환율 1달러 = 1,400원 계획값</a:t>
            </a:r>
            <a:endParaRPr lang="ko-KR" sz="900"/>
          </a:p>
        </p:txBody>
      </p:sp>
      <p:sp>
        <p:nvSpPr>
          <p:cNvPr id="3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CORVIA COR-COT-25-013 (회사 제공견적)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Colorado Anschutz 연구지원 단가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UVA Clinical Research Fees</a:t>
            </a:r>
            <a:endParaRPr lang="ko-KR" sz="75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5억원 사용 계획 — 3가지 안 비교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병원·CRO 견적 · 판매가 확정 전 공개자료 기준 · 각 안의 비용은 앞 장 산출값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31</a:t>
            </a:r>
            <a:endParaRPr lang="ko-KR" sz="800"/>
          </a:p>
        </p:txBody>
      </p:sp>
      <p:sp>
        <p:nvSpPr>
          <p:cNvPr id="8" name="Opt 0"/>
          <p:cNvSpPr/>
          <p:nvPr/>
        </p:nvSpPr>
        <p:spPr>
          <a:xfrm>
            <a:off x="502920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Opt h 0"/>
          <p:cNvSpPr txBox="1"/>
          <p:nvPr/>
        </p:nvSpPr>
        <p:spPr>
          <a:xfrm>
            <a:off x="502920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A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임상 우선</a:t>
            </a:r>
            <a:endParaRPr lang="ko-KR" sz="1300"/>
          </a:p>
        </p:txBody>
      </p:sp>
      <p:sp>
        <p:nvSpPr>
          <p:cNvPr id="10" name="Opt l 00"/>
          <p:cNvSpPr txBox="1"/>
          <p:nvPr/>
        </p:nvSpPr>
        <p:spPr>
          <a:xfrm>
            <a:off x="640080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11" name="Opt v 00"/>
          <p:cNvSpPr txBox="1"/>
          <p:nvPr/>
        </p:nvSpPr>
        <p:spPr>
          <a:xfrm>
            <a:off x="640080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국내 임상 5.00억 전액</a:t>
            </a:r>
            <a:endParaRPr lang="ko-KR" sz="1050"/>
          </a:p>
        </p:txBody>
      </p:sp>
      <p:sp>
        <p:nvSpPr>
          <p:cNvPr id="12" name="Opt l 01"/>
          <p:cNvSpPr txBox="1"/>
          <p:nvPr/>
        </p:nvSpPr>
        <p:spPr>
          <a:xfrm>
            <a:off x="640080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13" name="Opt v 01"/>
          <p:cNvSpPr txBox="1"/>
          <p:nvPr/>
        </p:nvSpPr>
        <p:spPr>
          <a:xfrm>
            <a:off x="640080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식약처 허가용 임상 완료</a:t>
            </a:r>
            <a:endParaRPr lang="ko-KR" sz="1050"/>
          </a:p>
        </p:txBody>
      </p:sp>
      <p:sp>
        <p:nvSpPr>
          <p:cNvPr id="14" name="Opt l 02"/>
          <p:cNvSpPr txBox="1"/>
          <p:nvPr/>
        </p:nvSpPr>
        <p:spPr>
          <a:xfrm>
            <a:off x="640080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15" name="Opt v 02"/>
          <p:cNvSpPr txBox="1"/>
          <p:nvPr/>
        </p:nvSpPr>
        <p:spPr>
          <a:xfrm>
            <a:off x="640080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0 → 허가 수수료 · GMP · 급여 등재 비용 별도</a:t>
            </a:r>
            <a:endParaRPr lang="ko-KR" sz="1050"/>
          </a:p>
        </p:txBody>
      </p:sp>
      <p:sp>
        <p:nvSpPr>
          <p:cNvPr id="16" name="Opt l 03"/>
          <p:cNvSpPr txBox="1"/>
          <p:nvPr/>
        </p:nvSpPr>
        <p:spPr>
          <a:xfrm>
            <a:off x="640080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17" name="Opt v 03"/>
          <p:cNvSpPr txBox="1"/>
          <p:nvPr/>
        </p:nvSpPr>
        <p:spPr>
          <a:xfrm>
            <a:off x="640080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예비비 0.55억뿐 · 미국 진출은 그다음</a:t>
            </a:r>
            <a:endParaRPr lang="ko-KR" sz="1050"/>
          </a:p>
        </p:txBody>
      </p:sp>
      <p:sp>
        <p:nvSpPr>
          <p:cNvPr id="18" name="Opt 1"/>
          <p:cNvSpPr/>
          <p:nvPr/>
        </p:nvSpPr>
        <p:spPr>
          <a:xfrm>
            <a:off x="4270248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19" name="Opt h 1"/>
          <p:cNvSpPr txBox="1"/>
          <p:nvPr/>
        </p:nvSpPr>
        <p:spPr>
          <a:xfrm>
            <a:off x="4270248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B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510(k) 우선</a:t>
            </a:r>
            <a:r>
              <a:rPr lang="ko-KR" sz="1100" b="1">
                <a:solidFill>
                  <a:srgbClr val="FFE08A"/>
                </a:solidFill>
                <a:latin typeface="210 옴니고딕 050"/>
                <a:ea typeface="210 옴니고딕 050"/>
                <a:cs typeface="210 옴니고딕 050"/>
              </a:rPr>
              <a:t>  ★ 제안</a:t>
            </a:r>
            <a:endParaRPr lang="ko-KR" sz="1300"/>
          </a:p>
        </p:txBody>
      </p:sp>
      <p:sp>
        <p:nvSpPr>
          <p:cNvPr id="20" name="Opt l 10"/>
          <p:cNvSpPr txBox="1"/>
          <p:nvPr/>
        </p:nvSpPr>
        <p:spPr>
          <a:xfrm>
            <a:off x="4407408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21" name="Opt v 10"/>
          <p:cNvSpPr txBox="1"/>
          <p:nvPr/>
        </p:nvSpPr>
        <p:spPr>
          <a:xfrm>
            <a:off x="4407408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 고정비 0.29억 + 국내 임상 준비 0.45억 (설계 · 기관 선정 · IRB)</a:t>
            </a:r>
            <a:endParaRPr lang="ko-KR" sz="1050"/>
          </a:p>
        </p:txBody>
      </p:sp>
      <p:sp>
        <p:nvSpPr>
          <p:cNvPr id="22" name="Opt l 11"/>
          <p:cNvSpPr txBox="1"/>
          <p:nvPr/>
        </p:nvSpPr>
        <p:spPr>
          <a:xfrm>
            <a:off x="4407408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23" name="Opt v 11"/>
          <p:cNvSpPr txBox="1"/>
          <p:nvPr/>
        </p:nvSpPr>
        <p:spPr>
          <a:xfrm>
            <a:off x="4407408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경로로 미국 판매 허가 가능성 조기 확인</a:t>
            </a:r>
            <a:endParaRPr lang="ko-KR" sz="1050"/>
          </a:p>
        </p:txBody>
      </p:sp>
      <p:sp>
        <p:nvSpPr>
          <p:cNvPr id="24" name="Opt l 12"/>
          <p:cNvSpPr txBox="1"/>
          <p:nvPr/>
        </p:nvSpPr>
        <p:spPr>
          <a:xfrm>
            <a:off x="4407408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25" name="Opt v 12"/>
          <p:cNvSpPr txBox="1"/>
          <p:nvPr/>
        </p:nvSpPr>
        <p:spPr>
          <a:xfrm>
            <a:off x="4407408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약 4.3억 → 시험 보완 · 컨설팅 후 국내 임상 매칭 재원</a:t>
            </a:r>
            <a:endParaRPr lang="ko-KR" sz="1050"/>
          </a:p>
        </p:txBody>
      </p:sp>
      <p:sp>
        <p:nvSpPr>
          <p:cNvPr id="26" name="Opt l 13"/>
          <p:cNvSpPr txBox="1"/>
          <p:nvPr/>
        </p:nvSpPr>
        <p:spPr>
          <a:xfrm>
            <a:off x="4407408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27" name="Opt v 13"/>
          <p:cNvSpPr txBox="1"/>
          <p:nvPr/>
        </p:nvSpPr>
        <p:spPr>
          <a:xfrm>
            <a:off x="4407408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FDA가 임상 요구 시 비용 증가 (C안 7.66억)</a:t>
            </a:r>
            <a:endParaRPr lang="ko-KR" sz="1050"/>
          </a:p>
        </p:txBody>
      </p:sp>
      <p:sp>
        <p:nvSpPr>
          <p:cNvPr id="28" name="Opt 2"/>
          <p:cNvSpPr/>
          <p:nvPr/>
        </p:nvSpPr>
        <p:spPr>
          <a:xfrm>
            <a:off x="8037576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Opt h 2"/>
          <p:cNvSpPr txBox="1"/>
          <p:nvPr/>
        </p:nvSpPr>
        <p:spPr>
          <a:xfrm>
            <a:off x="8037576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C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정부과제 매칭</a:t>
            </a:r>
            <a:endParaRPr lang="ko-KR" sz="1300"/>
          </a:p>
        </p:txBody>
      </p:sp>
      <p:sp>
        <p:nvSpPr>
          <p:cNvPr id="30" name="Opt l 20"/>
          <p:cNvSpPr txBox="1"/>
          <p:nvPr/>
        </p:nvSpPr>
        <p:spPr>
          <a:xfrm>
            <a:off x="8174736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31" name="Opt v 20"/>
          <p:cNvSpPr txBox="1"/>
          <p:nvPr/>
        </p:nvSpPr>
        <p:spPr>
          <a:xfrm>
            <a:off x="8174736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5억을 KMDF 임상 과제의 기업부담금으로</a:t>
            </a:r>
            <a:endParaRPr lang="ko-KR" sz="1050"/>
          </a:p>
        </p:txBody>
      </p:sp>
      <p:sp>
        <p:nvSpPr>
          <p:cNvPr id="32" name="Opt l 21"/>
          <p:cNvSpPr txBox="1"/>
          <p:nvPr/>
        </p:nvSpPr>
        <p:spPr>
          <a:xfrm>
            <a:off x="8174736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33" name="Opt v 21"/>
          <p:cNvSpPr txBox="1"/>
          <p:nvPr/>
        </p:nvSpPr>
        <p:spPr>
          <a:xfrm>
            <a:off x="8174736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예시: 정부지원 75% 한도면 총사업비 최대 20억</a:t>
            </a:r>
            <a:endParaRPr lang="ko-KR" sz="1050"/>
          </a:p>
        </p:txBody>
      </p:sp>
      <p:sp>
        <p:nvSpPr>
          <p:cNvPr id="34" name="Opt l 22"/>
          <p:cNvSpPr txBox="1"/>
          <p:nvPr/>
        </p:nvSpPr>
        <p:spPr>
          <a:xfrm>
            <a:off x="8174736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35" name="Opt v 22"/>
          <p:cNvSpPr txBox="1"/>
          <p:nvPr/>
        </p:nvSpPr>
        <p:spPr>
          <a:xfrm>
            <a:off x="8174736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과제 기간 동안 분할 집행</a:t>
            </a:r>
            <a:endParaRPr lang="ko-KR" sz="1050"/>
          </a:p>
        </p:txBody>
      </p:sp>
      <p:sp>
        <p:nvSpPr>
          <p:cNvPr id="36" name="Opt l 23"/>
          <p:cNvSpPr txBox="1"/>
          <p:nvPr/>
        </p:nvSpPr>
        <p:spPr>
          <a:xfrm>
            <a:off x="8174736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37" name="Opt v 23"/>
          <p:cNvSpPr txBox="1"/>
          <p:nvPr/>
        </p:nvSpPr>
        <p:spPr>
          <a:xfrm>
            <a:off x="8174736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선정 불확실 · 2027 공고 시기 의존</a:t>
            </a:r>
            <a:endParaRPr lang="ko-KR" sz="1050"/>
          </a:p>
        </p:txBody>
      </p:sp>
      <p:sp>
        <p:nvSpPr>
          <p:cNvPr id="38" name="Plan rec"/>
          <p:cNvSpPr txBox="1"/>
          <p:nvPr/>
        </p:nvSpPr>
        <p:spPr>
          <a:xfrm>
            <a:off x="502920" y="5059375"/>
            <a:ext cx="11183112" cy="644652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  <p:txBody>
          <a:bodyPr wrap="square" lIns="137160" tIns="36576" rIns="137160" bIns="36576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제안 (B + C): 지금은 FDA 510(k)를 KeraStat 경로로 소액 준비하고, 남은 재원은 2027 KMDF 임상 과제의 기업부담금으로 써서 국내 임상을 정부 지원과 함께 수행</a:t>
            </a:r>
            <a:endParaRPr lang="ko-KR" sz="1200"/>
          </a:p>
        </p:txBody>
      </p:sp>
      <p:sp>
        <p:nvSpPr>
          <p:cNvPr id="39" name="Plan note"/>
          <p:cNvSpPr txBox="1"/>
          <p:nvPr/>
        </p:nvSpPr>
        <p:spPr>
          <a:xfrm>
            <a:off x="502920" y="5747004"/>
            <a:ext cx="1118311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참고: 국내 4등급 허가 수수료 (임상자료 포함, 전자민원) 약 150만원 — 신개발의료기기 해당 시 수수료 대폭 인상 보도 → 해당 여부 확인 · ‘75%’는 국가연구개발 일반 기준 예시, 공고별 확인</a:t>
            </a:r>
            <a:endParaRPr lang="ko-KR" sz="950"/>
          </a:p>
        </p:txBody>
      </p:sp>
      <p:sp>
        <p:nvSpPr>
          <p:cNvPr id="4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의료기기 허가 수수료 정리 (CLARE Partners)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신개발의료기기 수수료 보도 (서울경제)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KMDF 공고</a:t>
            </a:r>
            <a:endParaRPr lang="ko-KR" sz="75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신청 가능 과제 로드맵 — KheAl 임상 · 인허가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2026.10.26 기준 · 2027년 금액 · 접수일은 공고 전 미확정 → ‘예상’으로 표시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32</a:t>
            </a:r>
            <a:endParaRPr lang="ko-KR" sz="800"/>
          </a:p>
        </p:txBody>
      </p:sp>
      <p:graphicFrame>
        <p:nvGraphicFramePr>
          <p:cNvPr id="8" name="Grant roadmap"/>
          <p:cNvGraphicFramePr>
            <a:graphicFrameLocks noGrp="1"/>
          </p:cNvGraphicFramePr>
          <p:nvPr/>
        </p:nvGraphicFramePr>
        <p:xfrm>
          <a:off x="502920" y="1664208"/>
          <a:ext cx="11183112" cy="3137306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3520440"/>
                <a:gridCol w="2743200"/>
                <a:gridCol w="1691640"/>
                <a:gridCol w="1261872"/>
                <a:gridCol w="1005840"/>
              </a:tblGrid>
              <a:tr h="309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단계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과제 · 주관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지원 내용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규모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시기 · 상태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0398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1100"/>
                    </a:p>
                    <a:p>
                      <a:pPr marL="0" indent="0" algn="ctr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 하반기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해외규격인증획득 지원사업 (3차)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중소벤처기업부 · 해외규격인증획득지원센터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해외 인증 · 시험 · 컨설팅 비용 50~70% (환자 임상비 제외)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최대 1억 · 의료기기 1.5억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10.14~11.13 접수 중 (마감일 원문 확인)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 신청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Small Business Determination (SBD)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수수료 감면 $28,653 → $7,163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약 $2.1만 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매년 신청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제도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Q-Submission (Pre-Sub)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제출 자료 범위 사전 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제도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40398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임상 준비 · 수행</a:t>
                      </a:r>
                      <a:endParaRPr lang="ko-KR" sz="1100"/>
                    </a:p>
                    <a:p>
                      <a:pPr marL="0" indent="0" algn="ctr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2027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범부처 첨단 의료기기 연구개발사업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KMDF · 내역: 의료현장 진입 역량 강화 (임상 · 규제과학)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허가용 국내 · 국외 임상 (임상계획 승인 등 RFP 조건)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RFP별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1차 2.19~3.9 · 2차 6.9~6.29 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 예상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글로벌 규제 대응 비용 지원 사업 (의료기기)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KHIDI · K-VIP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· EMA 등 해외 인허가 · 유지 · 갱신 비용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공고별 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3차 9.28 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 예상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혁신의료기기 지정 제도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식약처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우선심사 · 단계별 심사 + 기술지원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비용 지원 아님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상시 신청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제도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4039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 후</a:t>
                      </a:r>
                      <a:endParaRPr lang="ko-KR" sz="1100"/>
                    </a:p>
                    <a:p>
                      <a:pPr marL="0" indent="0" algn="ctr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판매 초기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국산의료기기 사용자(의료기관) 임상평가 지원 사업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KHIDI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허가 후 의료기관 비교평가 · 성능검증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단년 0.75억 · 단일기관 다년 1.2억 · 다기관 다년 2억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~2.6 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 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sp>
        <p:nvSpPr>
          <p:cNvPr id="9" name="Grant note"/>
          <p:cNvSpPr txBox="1"/>
          <p:nvPr/>
        </p:nvSpPr>
        <p:spPr>
          <a:xfrm>
            <a:off x="502920" y="5360213"/>
            <a:ext cx="11183112" cy="3953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과거 과제 검색: NTIS(ntis.go.kr)에서 사업명 ‘범부처전주기의료기기연구개발사업’(2020–2025, 1기) + ‘창상피복재 · 화상 · 케라틴’ 또는 수행기관 ‘바이오프렌즈’ · 이전 버전의 ‘시장진입 단계별 규제 극복’은 공고명이 확인되지 않아 제외</a:t>
            </a:r>
            <a:endParaRPr lang="ko-KR" sz="950"/>
          </a:p>
        </p:txBody>
      </p:sp>
      <p:sp>
        <p:nvSpPr>
          <p:cNvPr id="1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1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1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지금 할 일: 해외규격인증획득 지원사업 3차(~11.13) 신청 검토 + FDA 중소기업 인정 → 2027 KMDF 공고 전 임상계획 · 견적 준비</a:t>
            </a:r>
            <a:endParaRPr lang="ko-KR" sz="1250"/>
          </a:p>
        </p:txBody>
      </p:sp>
      <p:sp>
        <p:nvSpPr>
          <p:cNvPr id="1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해외규격인증획득 지원사업 3차 (KDI)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KMDF 2026 제1차 공고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KHIDI 의료기기산업 종합지원센터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KHIDI 사용자 임상평가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FDA Small Business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혁신의료기기 지정 (보안뉴스)</a:t>
            </a:r>
            <a:endParaRPr lang="ko-KR" sz="75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허가 후 예상 매출처 — 국내(식약처) · 미국(FDA)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허가만으로는 매출이 생기지 않음: 국내는 ‘급여 등재’, 미국은 ‘병원 구매조직 · 유통 계약’이 관문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33</a:t>
            </a:r>
            <a:endParaRPr lang="ko-KR" sz="800"/>
          </a:p>
        </p:txBody>
      </p:sp>
      <p:sp>
        <p:nvSpPr>
          <p:cNvPr id="8" name="K bar back"/>
          <p:cNvSpPr/>
          <p:nvPr/>
        </p:nvSpPr>
        <p:spPr>
          <a:xfrm>
            <a:off x="502920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K bar"/>
          <p:cNvSpPr txBox="1"/>
          <p:nvPr/>
        </p:nvSpPr>
        <p:spPr>
          <a:xfrm>
            <a:off x="566928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— 식약처 허가 후</a:t>
            </a:r>
            <a:endParaRPr lang="ko-KR" sz="1200"/>
          </a:p>
        </p:txBody>
      </p:sp>
      <p:sp>
        <p:nvSpPr>
          <p:cNvPr id="10" name="K gate"/>
          <p:cNvSpPr txBox="1"/>
          <p:nvPr/>
        </p:nvSpPr>
        <p:spPr>
          <a:xfrm>
            <a:off x="502920" y="2050999"/>
            <a:ext cx="5486400" cy="472745"/>
          </a:xfrm>
          <a:prstGeom prst="roundRect">
            <a:avLst>
              <a:gd name="adj" fmla="val 12000"/>
            </a:avLst>
          </a:prstGeom>
          <a:solidFill>
            <a:srgbClr val="E8EFFF"/>
          </a:solidFill>
          <a:ln>
            <a:noFill/>
          </a:ln>
        </p:spPr>
        <p:txBody>
          <a:bodyPr wrap="square" lIns="109728" tIns="27432" rIns="91440" bIns="27432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관문  품목허가 → 치료재료 급여 결정 신청 (심평원) → 상한금액 결정 → 병원 재료위원회</a:t>
            </a:r>
            <a:endParaRPr lang="ko-KR" sz="1000"/>
          </a:p>
        </p:txBody>
      </p:sp>
      <p:sp>
        <p:nvSpPr>
          <p:cNvPr id="11" name="K row 0"/>
          <p:cNvSpPr/>
          <p:nvPr/>
        </p:nvSpPr>
        <p:spPr>
          <a:xfrm>
            <a:off x="502920" y="2626888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2" name="K ch 0"/>
          <p:cNvSpPr txBox="1"/>
          <p:nvPr/>
        </p:nvSpPr>
        <p:spPr>
          <a:xfrm>
            <a:off x="612648" y="2815986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화상전문병원</a:t>
            </a:r>
            <a:endParaRPr lang="ko-KR" sz="1000"/>
          </a:p>
        </p:txBody>
      </p:sp>
      <p:sp>
        <p:nvSpPr>
          <p:cNvPr id="13" name="K who 0"/>
          <p:cNvSpPr txBox="1"/>
          <p:nvPr/>
        </p:nvSpPr>
        <p:spPr>
          <a:xfrm>
            <a:off x="2167128" y="2695651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한림대 한강성심병원 · 베스티안 (서울 · 오송 · 부산)</a:t>
            </a:r>
            <a:endParaRPr lang="ko-KR" sz="1100"/>
          </a:p>
        </p:txBody>
      </p:sp>
      <p:sp>
        <p:nvSpPr>
          <p:cNvPr id="14" name="K note 0"/>
          <p:cNvSpPr txBox="1"/>
          <p:nvPr/>
        </p:nvSpPr>
        <p:spPr>
          <a:xfrm>
            <a:off x="2167128" y="302227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현재 사용: Mepilex Ag · AQUACEL Ag+ · Suprasorb A · 하이드로겔</a:t>
            </a:r>
            <a:endParaRPr lang="ko-KR" sz="950"/>
          </a:p>
        </p:txBody>
      </p:sp>
      <p:sp>
        <p:nvSpPr>
          <p:cNvPr id="15" name="K row 1"/>
          <p:cNvSpPr/>
          <p:nvPr/>
        </p:nvSpPr>
        <p:spPr>
          <a:xfrm>
            <a:off x="502920" y="3469234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6" name="K ch 1"/>
          <p:cNvSpPr txBox="1"/>
          <p:nvPr/>
        </p:nvSpPr>
        <p:spPr>
          <a:xfrm>
            <a:off x="612648" y="3658332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상급종합병원</a:t>
            </a:r>
            <a:endParaRPr lang="ko-KR" sz="1000"/>
          </a:p>
        </p:txBody>
      </p:sp>
      <p:sp>
        <p:nvSpPr>
          <p:cNvPr id="17" name="K who 1"/>
          <p:cNvSpPr txBox="1"/>
          <p:nvPr/>
        </p:nvSpPr>
        <p:spPr>
          <a:xfrm>
            <a:off x="2167128" y="3537996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서울대병원 · 서울아산병원 · 세브란스 · 삼성서울병원</a:t>
            </a:r>
            <a:endParaRPr lang="ko-KR" sz="1100"/>
          </a:p>
        </p:txBody>
      </p:sp>
      <p:sp>
        <p:nvSpPr>
          <p:cNvPr id="18" name="K note 1"/>
          <p:cNvSpPr txBox="1"/>
          <p:nvPr/>
        </p:nvSpPr>
        <p:spPr>
          <a:xfrm>
            <a:off x="2167128" y="3864620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화상 · 성형외과 · 창상 클리닉</a:t>
            </a:r>
            <a:endParaRPr lang="ko-KR" sz="950"/>
          </a:p>
        </p:txBody>
      </p:sp>
      <p:sp>
        <p:nvSpPr>
          <p:cNvPr id="19" name="K row 2"/>
          <p:cNvSpPr/>
          <p:nvPr/>
        </p:nvSpPr>
        <p:spPr>
          <a:xfrm>
            <a:off x="502920" y="4311579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0" name="K ch 2"/>
          <p:cNvSpPr txBox="1"/>
          <p:nvPr/>
        </p:nvSpPr>
        <p:spPr>
          <a:xfrm>
            <a:off x="612648" y="4500677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창상 전문 유통</a:t>
            </a:r>
            <a:endParaRPr lang="ko-KR" sz="1000"/>
          </a:p>
        </p:txBody>
      </p:sp>
      <p:sp>
        <p:nvSpPr>
          <p:cNvPr id="21" name="K who 2"/>
          <p:cNvSpPr txBox="1"/>
          <p:nvPr/>
        </p:nvSpPr>
        <p:spPr>
          <a:xfrm>
            <a:off x="2167128" y="4380342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CareCamp · 원메디슨 등</a:t>
            </a:r>
            <a:endParaRPr lang="ko-KR" sz="1100"/>
          </a:p>
        </p:txBody>
      </p:sp>
      <p:sp>
        <p:nvSpPr>
          <p:cNvPr id="22" name="K note 2"/>
          <p:cNvSpPr txBox="1"/>
          <p:nvPr/>
        </p:nvSpPr>
        <p:spPr>
          <a:xfrm>
            <a:off x="2167128" y="470696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병원 공급 · 재고 · 교육</a:t>
            </a:r>
            <a:endParaRPr lang="ko-KR" sz="950"/>
          </a:p>
        </p:txBody>
      </p:sp>
      <p:sp>
        <p:nvSpPr>
          <p:cNvPr id="23" name="U bar back"/>
          <p:cNvSpPr/>
          <p:nvPr/>
        </p:nvSpPr>
        <p:spPr>
          <a:xfrm>
            <a:off x="6199632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4" name="U bar"/>
          <p:cNvSpPr txBox="1"/>
          <p:nvPr/>
        </p:nvSpPr>
        <p:spPr>
          <a:xfrm>
            <a:off x="6263640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— FDA 510(k) 후</a:t>
            </a:r>
            <a:endParaRPr lang="ko-KR" sz="1200"/>
          </a:p>
        </p:txBody>
      </p:sp>
      <p:sp>
        <p:nvSpPr>
          <p:cNvPr id="25" name="U gate"/>
          <p:cNvSpPr txBox="1"/>
          <p:nvPr/>
        </p:nvSpPr>
        <p:spPr>
          <a:xfrm>
            <a:off x="6199632" y="2050999"/>
            <a:ext cx="5486400" cy="472745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  <p:txBody>
          <a:bodyPr wrap="square" lIns="109728" tIns="27432" rIns="91440" bIns="27432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관문  510(k) → 병원 formulary 심의 · GPO 계약 → 유통사 공급자 등록</a:t>
            </a:r>
            <a:endParaRPr lang="ko-KR" sz="1000"/>
          </a:p>
        </p:txBody>
      </p:sp>
      <p:sp>
        <p:nvSpPr>
          <p:cNvPr id="26" name="U row 0"/>
          <p:cNvSpPr/>
          <p:nvPr/>
        </p:nvSpPr>
        <p:spPr>
          <a:xfrm>
            <a:off x="6199632" y="2626888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7" name="U ch 0"/>
          <p:cNvSpPr txBox="1"/>
          <p:nvPr/>
        </p:nvSpPr>
        <p:spPr>
          <a:xfrm>
            <a:off x="6309360" y="2815986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ABA 인증 화상센터</a:t>
            </a:r>
            <a:endParaRPr lang="ko-KR" sz="1000"/>
          </a:p>
        </p:txBody>
      </p:sp>
      <p:sp>
        <p:nvSpPr>
          <p:cNvPr id="28" name="U who 0"/>
          <p:cNvSpPr txBox="1"/>
          <p:nvPr/>
        </p:nvSpPr>
        <p:spPr>
          <a:xfrm>
            <a:off x="7863840" y="2695651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MedStar Washington · UNC Jaycee · Harborview · Vanderbilt</a:t>
            </a:r>
            <a:endParaRPr lang="ko-KR" sz="1100"/>
          </a:p>
        </p:txBody>
      </p:sp>
      <p:sp>
        <p:nvSpPr>
          <p:cNvPr id="29" name="U note 0"/>
          <p:cNvSpPr txBox="1"/>
          <p:nvPr/>
        </p:nvSpPr>
        <p:spPr>
          <a:xfrm>
            <a:off x="7863840" y="302227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임상 근거 · 처치 표준 심의</a:t>
            </a:r>
            <a:endParaRPr lang="ko-KR" sz="950"/>
          </a:p>
        </p:txBody>
      </p:sp>
      <p:sp>
        <p:nvSpPr>
          <p:cNvPr id="30" name="U row 1"/>
          <p:cNvSpPr/>
          <p:nvPr/>
        </p:nvSpPr>
        <p:spPr>
          <a:xfrm>
            <a:off x="6199632" y="3469234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1" name="U ch 1"/>
          <p:cNvSpPr txBox="1"/>
          <p:nvPr/>
        </p:nvSpPr>
        <p:spPr>
          <a:xfrm>
            <a:off x="6309360" y="3658332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병원 구매조직 (GPO)</a:t>
            </a:r>
            <a:endParaRPr lang="ko-KR" sz="1000"/>
          </a:p>
        </p:txBody>
      </p:sp>
      <p:sp>
        <p:nvSpPr>
          <p:cNvPr id="32" name="U who 1"/>
          <p:cNvSpPr txBox="1"/>
          <p:nvPr/>
        </p:nvSpPr>
        <p:spPr>
          <a:xfrm>
            <a:off x="7863840" y="3537996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병원 · 외래 구매조직 · 성형외과 · 창상 클리닉</a:t>
            </a:r>
            <a:endParaRPr lang="ko-KR" sz="1100"/>
          </a:p>
        </p:txBody>
      </p:sp>
      <p:sp>
        <p:nvSpPr>
          <p:cNvPr id="33" name="U note 1"/>
          <p:cNvSpPr txBox="1"/>
          <p:nvPr/>
        </p:nvSpPr>
        <p:spPr>
          <a:xfrm>
            <a:off x="7863840" y="3864620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계약 단가 · 공급 안정</a:t>
            </a:r>
            <a:endParaRPr lang="ko-KR" sz="950"/>
          </a:p>
        </p:txBody>
      </p:sp>
      <p:sp>
        <p:nvSpPr>
          <p:cNvPr id="34" name="U row 2"/>
          <p:cNvSpPr/>
          <p:nvPr/>
        </p:nvSpPr>
        <p:spPr>
          <a:xfrm>
            <a:off x="6199632" y="4311579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U ch 2"/>
          <p:cNvSpPr txBox="1"/>
          <p:nvPr/>
        </p:nvSpPr>
        <p:spPr>
          <a:xfrm>
            <a:off x="6309360" y="4500677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전국 유통</a:t>
            </a:r>
            <a:endParaRPr lang="ko-KR" sz="1000"/>
          </a:p>
        </p:txBody>
      </p:sp>
      <p:sp>
        <p:nvSpPr>
          <p:cNvPr id="36" name="U who 2"/>
          <p:cNvSpPr txBox="1"/>
          <p:nvPr/>
        </p:nvSpPr>
        <p:spPr>
          <a:xfrm>
            <a:off x="7863840" y="4380342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Medline · Cardinal Health · McKesson</a:t>
            </a:r>
            <a:endParaRPr lang="ko-KR" sz="1100"/>
          </a:p>
        </p:txBody>
      </p:sp>
      <p:sp>
        <p:nvSpPr>
          <p:cNvPr id="37" name="U note 2"/>
          <p:cNvSpPr txBox="1"/>
          <p:nvPr/>
        </p:nvSpPr>
        <p:spPr>
          <a:xfrm>
            <a:off x="7863840" y="470696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선례: KeraStat Gel → Combat Medical · Cream → ASPN 약국</a:t>
            </a:r>
            <a:endParaRPr lang="ko-KR" sz="950"/>
          </a:p>
        </p:txBody>
      </p:sp>
      <p:sp>
        <p:nvSpPr>
          <p:cNvPr id="38" name="Ord l"/>
          <p:cNvSpPr txBox="1"/>
          <p:nvPr/>
        </p:nvSpPr>
        <p:spPr>
          <a:xfrm>
            <a:off x="502920" y="5188306"/>
            <a:ext cx="128016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진입 순서</a:t>
            </a:r>
            <a:endParaRPr lang="ko-KR" sz="1150"/>
          </a:p>
        </p:txBody>
      </p:sp>
      <p:sp>
        <p:nvSpPr>
          <p:cNvPr id="39" name="Ord 0"/>
          <p:cNvSpPr txBox="1"/>
          <p:nvPr/>
        </p:nvSpPr>
        <p:spPr>
          <a:xfrm>
            <a:off x="1783080" y="5188306"/>
            <a:ext cx="2542032" cy="386791"/>
          </a:xfrm>
          <a:prstGeom prst="homePlate">
            <a:avLst>
              <a:gd name="adj" fmla="val 30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연구자 임상</a:t>
            </a:r>
            <a:endParaRPr lang="ko-KR" sz="1150"/>
          </a:p>
        </p:txBody>
      </p:sp>
      <p:sp>
        <p:nvSpPr>
          <p:cNvPr id="40" name="Ord 1"/>
          <p:cNvSpPr txBox="1"/>
          <p:nvPr/>
        </p:nvSpPr>
        <p:spPr>
          <a:xfrm>
            <a:off x="4251960" y="5188306"/>
            <a:ext cx="2542032" cy="386791"/>
          </a:xfrm>
          <a:prstGeom prst="chevron">
            <a:avLst>
              <a:gd name="adj" fmla="val 30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병원 채택</a:t>
            </a:r>
            <a:endParaRPr lang="ko-KR" sz="1150"/>
          </a:p>
        </p:txBody>
      </p:sp>
      <p:sp>
        <p:nvSpPr>
          <p:cNvPr id="41" name="Ord 2"/>
          <p:cNvSpPr txBox="1"/>
          <p:nvPr/>
        </p:nvSpPr>
        <p:spPr>
          <a:xfrm>
            <a:off x="6720840" y="5188306"/>
            <a:ext cx="2542032" cy="386791"/>
          </a:xfrm>
          <a:prstGeom prst="chevron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유통 · GPO</a:t>
            </a:r>
            <a:endParaRPr lang="ko-KR" sz="1150"/>
          </a:p>
        </p:txBody>
      </p:sp>
      <p:sp>
        <p:nvSpPr>
          <p:cNvPr id="42" name="Ord 3"/>
          <p:cNvSpPr txBox="1"/>
          <p:nvPr/>
        </p:nvSpPr>
        <p:spPr>
          <a:xfrm>
            <a:off x="9189720" y="5188306"/>
            <a:ext cx="2542032" cy="386791"/>
          </a:xfrm>
          <a:prstGeom prst="chevron">
            <a:avLst>
              <a:gd name="adj" fmla="val 30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처방 · 배송</a:t>
            </a:r>
            <a:endParaRPr lang="ko-KR" sz="1150"/>
          </a:p>
        </p:txBody>
      </p:sp>
      <p:sp>
        <p:nvSpPr>
          <p:cNvPr id="43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4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5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첫 매출처 = 화상전문병원 연구자 임상 → 그 근거로 상급종합병원 · 유통 · 미국 GPO로 확장</a:t>
            </a:r>
            <a:endParaRPr lang="ko-KR" sz="1250"/>
          </a:p>
        </p:txBody>
      </p:sp>
      <p:sp>
        <p:nvSpPr>
          <p:cNvPr id="46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한림대 한강성심병원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베스티안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MedStar Burn Center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Vanderbilt Burn Center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KeraNetics ASPN</a:t>
            </a:r>
            <a:endParaRPr lang="ko-KR" sz="75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가격 경쟁력 = 개당 가격이 아니라 환자당 총 처치비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‘KeraStat보다 개당 저렴’만으로는 경쟁력 주장 불가 — 사용량 · 교체 · 덧대는 드레싱까지 합산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34</a:t>
            </a:r>
            <a:endParaRPr lang="ko-KR" sz="800"/>
          </a:p>
        </p:txBody>
      </p:sp>
      <p:sp>
        <p:nvSpPr>
          <p:cNvPr id="8" name="Formula card"/>
          <p:cNvSpPr/>
          <p:nvPr/>
        </p:nvSpPr>
        <p:spPr>
          <a:xfrm>
            <a:off x="502920" y="1664208"/>
            <a:ext cx="11183112" cy="1332281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9" name="F 0"/>
          <p:cNvSpPr txBox="1"/>
          <p:nvPr/>
        </p:nvSpPr>
        <p:spPr>
          <a:xfrm>
            <a:off x="786384" y="1853306"/>
            <a:ext cx="1828800" cy="945490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환자당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총 처치비</a:t>
            </a:r>
            <a:endParaRPr lang="ko-KR" sz="1100"/>
          </a:p>
        </p:txBody>
      </p:sp>
      <p:sp>
        <p:nvSpPr>
          <p:cNvPr id="10" name="F op 1"/>
          <p:cNvSpPr txBox="1"/>
          <p:nvPr/>
        </p:nvSpPr>
        <p:spPr>
          <a:xfrm>
            <a:off x="270662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=</a:t>
            </a:r>
            <a:endParaRPr lang="ko-KR" sz="2600"/>
          </a:p>
        </p:txBody>
      </p:sp>
      <p:sp>
        <p:nvSpPr>
          <p:cNvPr id="11" name="F 2"/>
          <p:cNvSpPr txBox="1"/>
          <p:nvPr/>
        </p:nvSpPr>
        <p:spPr>
          <a:xfrm>
            <a:off x="316382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사용량</a:t>
            </a:r>
            <a:endParaRPr lang="ko-KR" sz="1100"/>
          </a:p>
        </p:txBody>
      </p:sp>
      <p:sp>
        <p:nvSpPr>
          <p:cNvPr id="12" name="F op 3"/>
          <p:cNvSpPr txBox="1"/>
          <p:nvPr/>
        </p:nvSpPr>
        <p:spPr>
          <a:xfrm>
            <a:off x="485546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+</a:t>
            </a:r>
            <a:endParaRPr lang="ko-KR" sz="2600"/>
          </a:p>
        </p:txBody>
      </p:sp>
      <p:sp>
        <p:nvSpPr>
          <p:cNvPr id="13" name="F 4"/>
          <p:cNvSpPr txBox="1"/>
          <p:nvPr/>
        </p:nvSpPr>
        <p:spPr>
          <a:xfrm>
            <a:off x="531266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덧대는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드레싱</a:t>
            </a:r>
            <a:endParaRPr lang="ko-KR" sz="1100"/>
          </a:p>
        </p:txBody>
      </p:sp>
      <p:sp>
        <p:nvSpPr>
          <p:cNvPr id="14" name="F op 5"/>
          <p:cNvSpPr txBox="1"/>
          <p:nvPr/>
        </p:nvSpPr>
        <p:spPr>
          <a:xfrm>
            <a:off x="700430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+</a:t>
            </a:r>
            <a:endParaRPr lang="ko-KR" sz="2600"/>
          </a:p>
        </p:txBody>
      </p:sp>
      <p:sp>
        <p:nvSpPr>
          <p:cNvPr id="15" name="F 6"/>
          <p:cNvSpPr txBox="1"/>
          <p:nvPr/>
        </p:nvSpPr>
        <p:spPr>
          <a:xfrm>
            <a:off x="746150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교체 ·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인력</a:t>
            </a:r>
            <a:endParaRPr lang="ko-KR" sz="1100"/>
          </a:p>
        </p:txBody>
      </p:sp>
      <p:sp>
        <p:nvSpPr>
          <p:cNvPr id="16" name="F op 7"/>
          <p:cNvSpPr txBox="1"/>
          <p:nvPr/>
        </p:nvSpPr>
        <p:spPr>
          <a:xfrm>
            <a:off x="915314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+</a:t>
            </a:r>
            <a:endParaRPr lang="ko-KR" sz="2600"/>
          </a:p>
        </p:txBody>
      </p:sp>
      <p:sp>
        <p:nvSpPr>
          <p:cNvPr id="17" name="F 8"/>
          <p:cNvSpPr txBox="1"/>
          <p:nvPr/>
        </p:nvSpPr>
        <p:spPr>
          <a:xfrm>
            <a:off x="961034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폐기량</a:t>
            </a:r>
            <a:endParaRPr lang="ko-KR" sz="1100"/>
          </a:p>
        </p:txBody>
      </p:sp>
      <p:sp>
        <p:nvSpPr>
          <p:cNvPr id="18" name="Ref card"/>
          <p:cNvSpPr/>
          <p:nvPr/>
        </p:nvSpPr>
        <p:spPr>
          <a:xfrm>
            <a:off x="502920" y="3168396"/>
            <a:ext cx="3291840" cy="25098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Ref l"/>
          <p:cNvSpPr txBox="1"/>
          <p:nvPr/>
        </p:nvSpPr>
        <p:spPr>
          <a:xfrm>
            <a:off x="685800" y="3254350"/>
            <a:ext cx="292608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기준점 · KeraStat Gel 5 mL</a:t>
            </a:r>
            <a:endParaRPr lang="ko-KR" sz="1100"/>
          </a:p>
        </p:txBody>
      </p:sp>
      <p:sp>
        <p:nvSpPr>
          <p:cNvPr id="20" name="Ref big"/>
          <p:cNvSpPr txBox="1"/>
          <p:nvPr/>
        </p:nvSpPr>
        <p:spPr>
          <a:xfrm>
            <a:off x="685800" y="3555187"/>
            <a:ext cx="2926080" cy="644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3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$73</a:t>
            </a:r>
            <a:endParaRPr lang="ko-KR" sz="3600"/>
          </a:p>
        </p:txBody>
      </p:sp>
      <p:sp>
        <p:nvSpPr>
          <p:cNvPr id="21" name="Ref ml"/>
          <p:cNvSpPr txBox="1"/>
          <p:nvPr/>
        </p:nvSpPr>
        <p:spPr>
          <a:xfrm>
            <a:off x="685800" y="4199839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mL당 $14.60</a:t>
            </a:r>
            <a:endParaRPr lang="ko-KR" sz="1500"/>
          </a:p>
        </p:txBody>
      </p:sp>
      <p:sp>
        <p:nvSpPr>
          <p:cNvPr id="22" name="Ref c"/>
          <p:cNvSpPr txBox="1"/>
          <p:nvPr/>
        </p:nvSpPr>
        <p:spPr>
          <a:xfrm>
            <a:off x="640080" y="4672584"/>
            <a:ext cx="3017520" cy="859536"/>
          </a:xfrm>
          <a:prstGeom prst="roundRect">
            <a:avLst>
              <a:gd name="adj" fmla="val 12000"/>
            </a:avLst>
          </a:prstGeom>
          <a:solidFill>
            <a:srgbClr val="FBE6EB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00">
                <a:solidFill>
                  <a:srgbClr val="C00A3E"/>
                </a:solidFill>
                <a:latin typeface="210 옴니고딕 040"/>
                <a:ea typeface="210 옴니고딕 040"/>
                <a:cs typeface="210 옴니고딕 040"/>
              </a:rPr>
              <a:t>2024 공개 조달가 — 병원 실구매가 · 보험지급액과 다를 수 있음</a:t>
            </a:r>
            <a:endParaRPr lang="ko-KR" sz="1000"/>
          </a:p>
        </p:txBody>
      </p:sp>
      <p:sp>
        <p:nvSpPr>
          <p:cNvPr id="23" name="Cond t"/>
          <p:cNvSpPr txBox="1"/>
          <p:nvPr/>
        </p:nvSpPr>
        <p:spPr>
          <a:xfrm>
            <a:off x="3977640" y="3194182"/>
            <a:ext cx="54864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KheAl에 가격 우위가 생기는 4가지 조건</a:t>
            </a:r>
            <a:endParaRPr lang="ko-KR" sz="1200"/>
          </a:p>
        </p:txBody>
      </p:sp>
      <p:sp>
        <p:nvSpPr>
          <p:cNvPr id="24" name="Cond 0"/>
          <p:cNvSpPr/>
          <p:nvPr/>
        </p:nvSpPr>
        <p:spPr>
          <a:xfrm>
            <a:off x="3977640" y="355518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5" name="C num 0"/>
          <p:cNvSpPr txBox="1"/>
          <p:nvPr/>
        </p:nvSpPr>
        <p:spPr>
          <a:xfrm>
            <a:off x="4142232" y="383023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248"/>
          </a:p>
        </p:txBody>
      </p:sp>
      <p:sp>
        <p:nvSpPr>
          <p:cNvPr id="26" name="C h 0"/>
          <p:cNvSpPr txBox="1"/>
          <p:nvPr/>
        </p:nvSpPr>
        <p:spPr>
          <a:xfrm>
            <a:off x="4709160" y="367552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소용량 포장</a:t>
            </a:r>
            <a:endParaRPr lang="ko-KR" sz="1350"/>
          </a:p>
        </p:txBody>
      </p:sp>
      <p:sp>
        <p:nvSpPr>
          <p:cNvPr id="27" name="C b 0"/>
          <p:cNvSpPr txBox="1"/>
          <p:nvPr/>
        </p:nvSpPr>
        <p:spPr>
          <a:xfrm>
            <a:off x="4709160" y="402793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작은 상처에서 잔량 · 폐기 감소</a:t>
            </a:r>
            <a:endParaRPr lang="ko-KR" sz="1150"/>
          </a:p>
        </p:txBody>
      </p:sp>
      <p:sp>
        <p:nvSpPr>
          <p:cNvPr id="28" name="Cond 1"/>
          <p:cNvSpPr/>
          <p:nvPr/>
        </p:nvSpPr>
        <p:spPr>
          <a:xfrm>
            <a:off x="7854696" y="355518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C num 1"/>
          <p:cNvSpPr txBox="1"/>
          <p:nvPr/>
        </p:nvSpPr>
        <p:spPr>
          <a:xfrm>
            <a:off x="8019288" y="383023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248"/>
          </a:p>
        </p:txBody>
      </p:sp>
      <p:sp>
        <p:nvSpPr>
          <p:cNvPr id="30" name="C h 1"/>
          <p:cNvSpPr txBox="1"/>
          <p:nvPr/>
        </p:nvSpPr>
        <p:spPr>
          <a:xfrm>
            <a:off x="8586216" y="367552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잘 붙고 덜 흘러내림</a:t>
            </a:r>
            <a:endParaRPr lang="ko-KR" sz="1350"/>
          </a:p>
        </p:txBody>
      </p:sp>
      <p:sp>
        <p:nvSpPr>
          <p:cNvPr id="31" name="C b 1"/>
          <p:cNvSpPr txBox="1"/>
          <p:nvPr/>
        </p:nvSpPr>
        <p:spPr>
          <a:xfrm>
            <a:off x="8586216" y="402793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필요 사용량 감소</a:t>
            </a:r>
            <a:endParaRPr lang="ko-KR" sz="1150"/>
          </a:p>
        </p:txBody>
      </p:sp>
      <p:sp>
        <p:nvSpPr>
          <p:cNvPr id="32" name="Cond 2"/>
          <p:cNvSpPr/>
          <p:nvPr/>
        </p:nvSpPr>
        <p:spPr>
          <a:xfrm>
            <a:off x="3977640" y="462960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3" name="C num 2"/>
          <p:cNvSpPr txBox="1"/>
          <p:nvPr/>
        </p:nvSpPr>
        <p:spPr>
          <a:xfrm>
            <a:off x="4142232" y="490465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248"/>
          </a:p>
        </p:txBody>
      </p:sp>
      <p:sp>
        <p:nvSpPr>
          <p:cNvPr id="34" name="C h 2"/>
          <p:cNvSpPr txBox="1"/>
          <p:nvPr/>
        </p:nvSpPr>
        <p:spPr>
          <a:xfrm>
            <a:off x="4709160" y="474994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교체가 쉬움</a:t>
            </a:r>
            <a:endParaRPr lang="ko-KR" sz="1350"/>
          </a:p>
        </p:txBody>
      </p:sp>
      <p:sp>
        <p:nvSpPr>
          <p:cNvPr id="35" name="C b 2"/>
          <p:cNvSpPr txBox="1"/>
          <p:nvPr/>
        </p:nvSpPr>
        <p:spPr>
          <a:xfrm>
            <a:off x="4709160" y="510235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교체 횟수 · 처치 시간 감소</a:t>
            </a:r>
            <a:endParaRPr lang="ko-KR" sz="1150"/>
          </a:p>
        </p:txBody>
      </p:sp>
      <p:sp>
        <p:nvSpPr>
          <p:cNvPr id="36" name="Cond 3"/>
          <p:cNvSpPr/>
          <p:nvPr/>
        </p:nvSpPr>
        <p:spPr>
          <a:xfrm>
            <a:off x="7854696" y="462960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7" name="C num 3"/>
          <p:cNvSpPr txBox="1"/>
          <p:nvPr/>
        </p:nvSpPr>
        <p:spPr>
          <a:xfrm>
            <a:off x="8019288" y="490465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</a:t>
            </a:r>
            <a:endParaRPr lang="ko-KR" sz="1248"/>
          </a:p>
        </p:txBody>
      </p:sp>
      <p:sp>
        <p:nvSpPr>
          <p:cNvPr id="38" name="C h 3"/>
          <p:cNvSpPr txBox="1"/>
          <p:nvPr/>
        </p:nvSpPr>
        <p:spPr>
          <a:xfrm>
            <a:off x="8586216" y="474994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덧대는 드레싱 최소화</a:t>
            </a:r>
            <a:endParaRPr lang="ko-KR" sz="1350"/>
          </a:p>
        </p:txBody>
      </p:sp>
      <p:sp>
        <p:nvSpPr>
          <p:cNvPr id="39" name="C b 3"/>
          <p:cNvSpPr txBox="1"/>
          <p:nvPr/>
        </p:nvSpPr>
        <p:spPr>
          <a:xfrm>
            <a:off x="8586216" y="510235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필요 여부 · 종류 · 사용량 감소</a:t>
            </a:r>
            <a:endParaRPr lang="ko-KR" sz="1150"/>
          </a:p>
        </p:txBody>
      </p:sp>
      <p:sp>
        <p:nvSpPr>
          <p:cNvPr id="4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목표 가격은 원가 · 유통마진 · 보험 · 도포면적 자료를 확보한 뒤 ‘환자당 총비용’으로 설정</a:t>
            </a:r>
            <a:endParaRPr lang="ko-KR" sz="1250"/>
          </a:p>
        </p:txBody>
      </p:sp>
      <p:sp>
        <p:nvSpPr>
          <p:cNvPr id="4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2024 Combat/Safeguard Medical Price List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KeraNetics KeraStat Gel</a:t>
            </a:r>
            <a:endParaRPr lang="ko-KR" sz="75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301</ep:Words>
  <ep:PresentationFormat>와이드스크린</ep:PresentationFormat>
  <ep:Paragraphs>27</ep:Paragraphs>
  <ep:Slides>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2020-06-15T03:45:15.000</dcterms:created>
  <dc:creator>디오</dc:creator>
  <cp:lastModifiedBy>Andrew</cp:lastModifiedBy>
  <dcterms:modified xsi:type="dcterms:W3CDTF">2026-10-26T00:02:13.528</dcterms:modified>
  <cp:revision>355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